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iSans" panose="02010600030101010101" charset="-122"/>
      <p:regular r:id="rId15"/>
    </p:embeddedFont>
    <p:embeddedFont>
      <p:font typeface="Noto Sans SC" panose="02010600030101010101" charset="-122"/>
      <p:regular r:id="rId16"/>
    </p:embeddedFont>
    <p:embeddedFont>
      <p:font typeface="等线" panose="02010600030101010101" pitchFamily="2" charset="-122"/>
      <p:regular r:id="rId17"/>
      <p:bold r:id="rId18"/>
    </p:embeddedFont>
    <p:embeddedFont>
      <p:font typeface="微软雅黑" panose="020B0503020204020204" pitchFamily="34" charset="-122"/>
      <p:regular r:id="rId19"/>
      <p:bold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095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7163" y="766763"/>
            <a:ext cx="3648075" cy="3648075"/>
          </a:xfrm>
          <a:custGeom>
            <a:avLst/>
            <a:gdLst/>
            <a:ahLst/>
            <a:cxnLst/>
            <a:rect l="l" t="t" r="r" b="b"/>
            <a:pathLst>
              <a:path w="3648075" h="3648075">
                <a:moveTo>
                  <a:pt x="1824038" y="0"/>
                </a:moveTo>
                <a:lnTo>
                  <a:pt x="1824038" y="0"/>
                </a:lnTo>
                <a:cubicBezTo>
                  <a:pt x="2830751" y="0"/>
                  <a:pt x="3648075" y="817324"/>
                  <a:pt x="3648075" y="1824038"/>
                </a:cubicBezTo>
                <a:lnTo>
                  <a:pt x="3648075" y="1824038"/>
                </a:lnTo>
                <a:cubicBezTo>
                  <a:pt x="3648075" y="2830751"/>
                  <a:pt x="2830751" y="3648075"/>
                  <a:pt x="1824038" y="3648075"/>
                </a:cubicBezTo>
                <a:lnTo>
                  <a:pt x="1824038" y="3648075"/>
                </a:lnTo>
                <a:cubicBezTo>
                  <a:pt x="817324" y="3648075"/>
                  <a:pt x="0" y="2830751"/>
                  <a:pt x="0" y="1824038"/>
                </a:cubicBezTo>
                <a:lnTo>
                  <a:pt x="0" y="1824038"/>
                </a:lnTo>
                <a:cubicBezTo>
                  <a:pt x="0" y="817324"/>
                  <a:pt x="817324" y="0"/>
                  <a:pt x="182403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6763" y="3357563"/>
            <a:ext cx="2733675" cy="2733675"/>
          </a:xfrm>
          <a:custGeom>
            <a:avLst/>
            <a:gdLst/>
            <a:ahLst/>
            <a:cxnLst/>
            <a:rect l="l" t="t" r="r" b="b"/>
            <a:pathLst>
              <a:path w="2733675" h="2733675">
                <a:moveTo>
                  <a:pt x="1366838" y="0"/>
                </a:moveTo>
                <a:lnTo>
                  <a:pt x="1366838" y="0"/>
                </a:lnTo>
                <a:cubicBezTo>
                  <a:pt x="2121216" y="0"/>
                  <a:pt x="2733675" y="612459"/>
                  <a:pt x="2733675" y="1366838"/>
                </a:cubicBezTo>
                <a:lnTo>
                  <a:pt x="2733675" y="1366838"/>
                </a:lnTo>
                <a:cubicBezTo>
                  <a:pt x="2733675" y="2121216"/>
                  <a:pt x="2121216" y="2733675"/>
                  <a:pt x="1366838" y="2733675"/>
                </a:cubicBezTo>
                <a:lnTo>
                  <a:pt x="1366838" y="2733675"/>
                </a:lnTo>
                <a:cubicBezTo>
                  <a:pt x="612459" y="2733675"/>
                  <a:pt x="0" y="2121216"/>
                  <a:pt x="0" y="1366838"/>
                </a:cubicBezTo>
                <a:lnTo>
                  <a:pt x="0" y="1366838"/>
                </a:lnTo>
                <a:cubicBezTo>
                  <a:pt x="0" y="612459"/>
                  <a:pt x="612459" y="0"/>
                  <a:pt x="136683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8663" y="3433763"/>
            <a:ext cx="1819275" cy="1819275"/>
          </a:xfrm>
          <a:custGeom>
            <a:avLst/>
            <a:gdLst/>
            <a:ahLst/>
            <a:cxnLst/>
            <a:rect l="l" t="t" r="r" b="b"/>
            <a:pathLst>
              <a:path w="1819275" h="1819275">
                <a:moveTo>
                  <a:pt x="909638" y="0"/>
                </a:moveTo>
                <a:lnTo>
                  <a:pt x="909638" y="0"/>
                </a:lnTo>
                <a:cubicBezTo>
                  <a:pt x="1411680" y="0"/>
                  <a:pt x="1819275" y="407595"/>
                  <a:pt x="1819275" y="909638"/>
                </a:cubicBezTo>
                <a:lnTo>
                  <a:pt x="1819275" y="909638"/>
                </a:lnTo>
                <a:cubicBezTo>
                  <a:pt x="1819275" y="1411680"/>
                  <a:pt x="1411680" y="1819275"/>
                  <a:pt x="909638" y="1819275"/>
                </a:cubicBezTo>
                <a:lnTo>
                  <a:pt x="909638" y="1819275"/>
                </a:lnTo>
                <a:cubicBezTo>
                  <a:pt x="407595" y="1819275"/>
                  <a:pt x="0" y="1411680"/>
                  <a:pt x="0" y="909638"/>
                </a:cubicBezTo>
                <a:lnTo>
                  <a:pt x="0" y="909638"/>
                </a:lnTo>
                <a:cubicBezTo>
                  <a:pt x="0" y="407595"/>
                  <a:pt x="407595" y="0"/>
                  <a:pt x="90963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004" y="2662238"/>
            <a:ext cx="107918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MBTI性格微调对情绪分析任务的影响研究</a:t>
            </a:r>
            <a:endParaRPr lang="en-US" sz="16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0" y="36052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0" name="Shape 8"/>
          <p:cNvSpPr/>
          <p:nvPr/>
        </p:nvSpPr>
        <p:spPr>
          <a:xfrm>
            <a:off x="3293269" y="49006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579019" y="4862513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CF0F1">
                    <a:alpha val="70000"/>
                  </a:srgbClr>
                </a:solidFill>
                <a:latin typeface="+mn-ea"/>
                <a:cs typeface="Noto Sans SC" pitchFamily="34" charset="-120"/>
              </a:rPr>
              <a:t>MBTI四维性格建模</a:t>
            </a:r>
            <a:endParaRPr lang="en-US" sz="16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555456" y="49006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841206" y="4862513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CF0F1">
                    <a:alpha val="70000"/>
                  </a:srgbClr>
                </a:solidFill>
                <a:latin typeface="+mn-ea"/>
                <a:cs typeface="Noto Sans SC" pitchFamily="34" charset="-120"/>
              </a:rPr>
              <a:t>系统性偏移验证</a:t>
            </a:r>
            <a:endParaRPr lang="en-US" sz="16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65231" y="49006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0"/>
                </a:moveTo>
                <a:cubicBezTo>
                  <a:pt x="55625" y="0"/>
                  <a:pt x="47625" y="8000"/>
                  <a:pt x="47625" y="17859"/>
                </a:cubicBezTo>
                <a:lnTo>
                  <a:pt x="47625" y="95250"/>
                </a:lnTo>
                <a:cubicBezTo>
                  <a:pt x="47625" y="105110"/>
                  <a:pt x="55625" y="113109"/>
                  <a:pt x="65484" y="113109"/>
                </a:cubicBezTo>
                <a:lnTo>
                  <a:pt x="89297" y="113109"/>
                </a:lnTo>
                <a:cubicBezTo>
                  <a:pt x="99157" y="113109"/>
                  <a:pt x="107156" y="105110"/>
                  <a:pt x="107156" y="95250"/>
                </a:cubicBezTo>
                <a:lnTo>
                  <a:pt x="107156" y="71438"/>
                </a:lnTo>
                <a:lnTo>
                  <a:pt x="119063" y="71438"/>
                </a:lnTo>
                <a:cubicBezTo>
                  <a:pt x="145368" y="71438"/>
                  <a:pt x="166688" y="92757"/>
                  <a:pt x="166688" y="119063"/>
                </a:cubicBezTo>
                <a:cubicBezTo>
                  <a:pt x="166688" y="145368"/>
                  <a:pt x="145368" y="166688"/>
                  <a:pt x="119063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2008"/>
                  <a:pt x="185179" y="166688"/>
                  <a:pt x="178594" y="166688"/>
                </a:cubicBezTo>
                <a:lnTo>
                  <a:pt x="172306" y="166688"/>
                </a:lnTo>
                <a:cubicBezTo>
                  <a:pt x="183617" y="154037"/>
                  <a:pt x="190500" y="137368"/>
                  <a:pt x="190500" y="119063"/>
                </a:cubicBezTo>
                <a:cubicBezTo>
                  <a:pt x="190500" y="79623"/>
                  <a:pt x="158502" y="47625"/>
                  <a:pt x="119063" y="47625"/>
                </a:cubicBezTo>
                <a:lnTo>
                  <a:pt x="107156" y="47625"/>
                </a:lnTo>
                <a:lnTo>
                  <a:pt x="107156" y="17859"/>
                </a:lnTo>
                <a:cubicBezTo>
                  <a:pt x="107156" y="8000"/>
                  <a:pt x="99157" y="0"/>
                  <a:pt x="89297" y="0"/>
                </a:cubicBezTo>
                <a:lnTo>
                  <a:pt x="65484" y="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110133" y="148828"/>
                </a:lnTo>
                <a:cubicBezTo>
                  <a:pt x="115081" y="148828"/>
                  <a:pt x="119063" y="144847"/>
                  <a:pt x="119063" y="139898"/>
                </a:cubicBezTo>
                <a:cubicBezTo>
                  <a:pt x="119063" y="134950"/>
                  <a:pt x="115081" y="130969"/>
                  <a:pt x="110133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7850981" y="4862513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 err="1">
                <a:solidFill>
                  <a:srgbClr val="ECF0F1">
                    <a:alpha val="70000"/>
                  </a:srgbClr>
                </a:solidFill>
                <a:latin typeface="+mn-ea"/>
                <a:cs typeface="Noto Sans SC" pitchFamily="34" charset="-120"/>
              </a:rPr>
              <a:t>性能</a:t>
            </a:r>
            <a:r>
              <a:rPr lang="zh-CN" altLang="en-US" sz="1350" dirty="0">
                <a:solidFill>
                  <a:srgbClr val="ECF0F1">
                    <a:alpha val="70000"/>
                  </a:srgbClr>
                </a:solidFill>
                <a:latin typeface="+mn-ea"/>
                <a:cs typeface="Noto Sans SC" pitchFamily="34" charset="-120"/>
              </a:rPr>
              <a:t>变</a:t>
            </a:r>
            <a:r>
              <a:rPr lang="en-US" sz="1350" dirty="0" err="1">
                <a:solidFill>
                  <a:srgbClr val="ECF0F1">
                    <a:alpha val="70000"/>
                  </a:srgbClr>
                </a:solidFill>
                <a:latin typeface="+mn-ea"/>
                <a:cs typeface="Noto Sans SC" pitchFamily="34" charset="-120"/>
              </a:rPr>
              <a:t>化分析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目录</a:t>
            </a:r>
            <a:endParaRPr lang="en-US" sz="1600" dirty="0">
              <a:latin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295400"/>
            <a:ext cx="5581650" cy="1571625"/>
          </a:xfrm>
          <a:custGeom>
            <a:avLst/>
            <a:gdLst/>
            <a:ahLst/>
            <a:cxnLst/>
            <a:rect l="l" t="t" r="r" b="b"/>
            <a:pathLst>
              <a:path w="5581650" h="1571625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457321"/>
                </a:lnTo>
                <a:cubicBezTo>
                  <a:pt x="5581650" y="1520449"/>
                  <a:pt x="5530474" y="1571625"/>
                  <a:pt x="54673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295400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666750" y="1600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01</a:t>
            </a:r>
            <a:endParaRPr lang="en-US" sz="160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09700" y="16002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研究框架与评估维度</a:t>
            </a:r>
            <a:endParaRPr lang="en-US" sz="16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09700" y="2019300"/>
            <a:ext cx="434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MBTI四维度定义、评估体系构建与实验设置概述</a:t>
            </a:r>
            <a:endParaRPr lang="en-US" sz="160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29350" y="1295400"/>
            <a:ext cx="5581650" cy="1571625"/>
          </a:xfrm>
          <a:custGeom>
            <a:avLst/>
            <a:gdLst/>
            <a:ahLst/>
            <a:cxnLst/>
            <a:rect l="l" t="t" r="r" b="b"/>
            <a:pathLst>
              <a:path w="5581650" h="1571625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457321"/>
                </a:lnTo>
                <a:cubicBezTo>
                  <a:pt x="5581650" y="1520449"/>
                  <a:pt x="5530474" y="1571625"/>
                  <a:pt x="54673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29350" y="1295400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2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6050" y="1600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02</a:t>
            </a:r>
            <a:endParaRPr lang="en-US" sz="16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39000" y="16002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两极化偏移的普遍性验证</a:t>
            </a:r>
            <a:endParaRPr lang="en-US" sz="160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39000" y="2019300"/>
            <a:ext cx="434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维度稳定性分析、逐数据集验证与领域一致性检验</a:t>
            </a:r>
            <a:endParaRPr lang="en-US" sz="160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0050" y="3098750"/>
            <a:ext cx="5581650" cy="1571625"/>
          </a:xfrm>
          <a:custGeom>
            <a:avLst/>
            <a:gdLst/>
            <a:ahLst/>
            <a:cxnLst/>
            <a:rect l="l" t="t" r="r" b="b"/>
            <a:pathLst>
              <a:path w="5581650" h="1571625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457321"/>
                </a:lnTo>
                <a:cubicBezTo>
                  <a:pt x="5581650" y="1520449"/>
                  <a:pt x="5530474" y="1571625"/>
                  <a:pt x="54673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3098750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8" name="Shape 16"/>
          <p:cNvSpPr/>
          <p:nvPr/>
        </p:nvSpPr>
        <p:spPr>
          <a:xfrm>
            <a:off x="723900" y="3403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9" name="Text 17"/>
          <p:cNvSpPr/>
          <p:nvPr/>
        </p:nvSpPr>
        <p:spPr>
          <a:xfrm>
            <a:off x="666750" y="34035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03</a:t>
            </a:r>
            <a:endParaRPr lang="en-US" sz="1600" dirty="0">
              <a:latin typeface="+mn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09700" y="34035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统计显著性与偏移幅度</a:t>
            </a:r>
            <a:endParaRPr lang="en-US" sz="1600" dirty="0">
              <a:latin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09700" y="3822650"/>
            <a:ext cx="434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配对检验验证、维度效应量与模型规模敏感性分析</a:t>
            </a:r>
            <a:endParaRPr lang="en-US" sz="1600" dirty="0">
              <a:latin typeface="+mn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29350" y="3098750"/>
            <a:ext cx="5581650" cy="1571625"/>
          </a:xfrm>
          <a:custGeom>
            <a:avLst/>
            <a:gdLst/>
            <a:ahLst/>
            <a:cxnLst/>
            <a:rect l="l" t="t" r="r" b="b"/>
            <a:pathLst>
              <a:path w="5581650" h="1571625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457321"/>
                </a:lnTo>
                <a:cubicBezTo>
                  <a:pt x="5581650" y="1520449"/>
                  <a:pt x="5530474" y="1571625"/>
                  <a:pt x="54673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29350" y="3098750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3200" y="34035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Text 23"/>
          <p:cNvSpPr/>
          <p:nvPr/>
        </p:nvSpPr>
        <p:spPr>
          <a:xfrm>
            <a:off x="6496050" y="34035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04</a:t>
            </a:r>
            <a:endParaRPr lang="en-US" sz="1600" dirty="0">
              <a:latin typeface="+mn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39000" y="340355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性能转化与应用启示</a:t>
            </a:r>
            <a:endParaRPr lang="en-US" sz="16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239000" y="3822650"/>
            <a:ext cx="434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decision领域分化、energy稳定性与性格模型选择策略</a:t>
            </a:r>
            <a:endParaRPr lang="en-US" sz="1600" dirty="0">
              <a:latin typeface="+mn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00050" y="4902101"/>
            <a:ext cx="11410950" cy="1571625"/>
          </a:xfrm>
          <a:custGeom>
            <a:avLst/>
            <a:gdLst/>
            <a:ahLst/>
            <a:cxnLst/>
            <a:rect l="l" t="t" r="r" b="b"/>
            <a:pathLst>
              <a:path w="11410950" h="1571625">
                <a:moveTo>
                  <a:pt x="38100" y="0"/>
                </a:moveTo>
                <a:lnTo>
                  <a:pt x="11296646" y="0"/>
                </a:lnTo>
                <a:cubicBezTo>
                  <a:pt x="11359774" y="0"/>
                  <a:pt x="11410950" y="51176"/>
                  <a:pt x="11410950" y="114304"/>
                </a:cubicBezTo>
                <a:lnTo>
                  <a:pt x="11410950" y="1457321"/>
                </a:lnTo>
                <a:cubicBezTo>
                  <a:pt x="11410950" y="1520449"/>
                  <a:pt x="11359774" y="1571625"/>
                  <a:pt x="11296646" y="1571625"/>
                </a:cubicBez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0050" y="4902101"/>
            <a:ext cx="38100" cy="1571625"/>
          </a:xfrm>
          <a:custGeom>
            <a:avLst/>
            <a:gdLst/>
            <a:ahLst/>
            <a:cxnLst/>
            <a:rect l="l" t="t" r="r" b="b"/>
            <a:pathLst>
              <a:path w="38100" h="1571625">
                <a:moveTo>
                  <a:pt x="38100" y="0"/>
                </a:moveTo>
                <a:lnTo>
                  <a:pt x="38100" y="0"/>
                </a:lnTo>
                <a:lnTo>
                  <a:pt x="38100" y="1571625"/>
                </a:lnTo>
                <a:lnTo>
                  <a:pt x="38100" y="1571625"/>
                </a:lnTo>
                <a:cubicBezTo>
                  <a:pt x="17072" y="1571625"/>
                  <a:pt x="0" y="1554553"/>
                  <a:pt x="0" y="1533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0" name="Shape 28"/>
          <p:cNvSpPr/>
          <p:nvPr/>
        </p:nvSpPr>
        <p:spPr>
          <a:xfrm>
            <a:off x="723900" y="520690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666750" y="520690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05</a:t>
            </a:r>
            <a:endParaRPr lang="en-US" sz="1600" dirty="0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09700" y="5206901"/>
            <a:ext cx="1021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研究结论</a:t>
            </a:r>
            <a:endParaRPr lang="en-US" sz="1600" dirty="0">
              <a:latin typeface="+mn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09700" y="5626001"/>
            <a:ext cx="10172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核心发现总结、可靠性评估与实践应用价值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129" y="373129"/>
            <a:ext cx="373129" cy="373129"/>
          </a:xfrm>
          <a:custGeom>
            <a:avLst/>
            <a:gdLst/>
            <a:ahLst/>
            <a:cxnLst/>
            <a:rect l="l" t="t" r="r" b="b"/>
            <a:pathLst>
              <a:path w="373129" h="373129">
                <a:moveTo>
                  <a:pt x="74626" y="0"/>
                </a:moveTo>
                <a:lnTo>
                  <a:pt x="298503" y="0"/>
                </a:lnTo>
                <a:cubicBezTo>
                  <a:pt x="339718" y="0"/>
                  <a:pt x="373129" y="33411"/>
                  <a:pt x="373129" y="74626"/>
                </a:cubicBezTo>
                <a:lnTo>
                  <a:pt x="373129" y="298503"/>
                </a:lnTo>
                <a:cubicBezTo>
                  <a:pt x="373129" y="339718"/>
                  <a:pt x="339718" y="373129"/>
                  <a:pt x="298503" y="373129"/>
                </a:cubicBezTo>
                <a:lnTo>
                  <a:pt x="74626" y="373129"/>
                </a:lnTo>
                <a:cubicBezTo>
                  <a:pt x="33411" y="373129"/>
                  <a:pt x="0" y="339718"/>
                  <a:pt x="0" y="298503"/>
                </a:cubicBezTo>
                <a:lnTo>
                  <a:pt x="0" y="74626"/>
                </a:lnTo>
                <a:cubicBezTo>
                  <a:pt x="0" y="33411"/>
                  <a:pt x="33411" y="0"/>
                  <a:pt x="74626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31152" y="373129"/>
            <a:ext cx="457083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2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01</a:t>
            </a:r>
            <a:endParaRPr lang="en-US" sz="16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8197" y="373129"/>
            <a:ext cx="3246225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4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研究框架与评估维度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8197" y="820884"/>
            <a:ext cx="746259" cy="37313"/>
          </a:xfrm>
          <a:custGeom>
            <a:avLst/>
            <a:gdLst/>
            <a:ahLst/>
            <a:cxnLst/>
            <a:rect l="l" t="t" r="r" b="b"/>
            <a:pathLst>
              <a:path w="746259" h="37313">
                <a:moveTo>
                  <a:pt x="0" y="0"/>
                </a:moveTo>
                <a:lnTo>
                  <a:pt x="746259" y="0"/>
                </a:lnTo>
                <a:lnTo>
                  <a:pt x="746259" y="37313"/>
                </a:lnTo>
                <a:lnTo>
                  <a:pt x="0" y="37313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373129" y="1100731"/>
            <a:ext cx="11445741" cy="1464533"/>
          </a:xfrm>
          <a:custGeom>
            <a:avLst/>
            <a:gdLst/>
            <a:ahLst/>
            <a:cxnLst/>
            <a:rect l="l" t="t" r="r" b="b"/>
            <a:pathLst>
              <a:path w="11445741" h="1464533">
                <a:moveTo>
                  <a:pt x="37313" y="0"/>
                </a:moveTo>
                <a:lnTo>
                  <a:pt x="11408428" y="0"/>
                </a:lnTo>
                <a:cubicBezTo>
                  <a:pt x="11429036" y="0"/>
                  <a:pt x="11445741" y="16706"/>
                  <a:pt x="11445741" y="37313"/>
                </a:cubicBezTo>
                <a:lnTo>
                  <a:pt x="11445741" y="1352598"/>
                </a:lnTo>
                <a:cubicBezTo>
                  <a:pt x="11445741" y="1414418"/>
                  <a:pt x="11395627" y="1464533"/>
                  <a:pt x="11333807" y="1464533"/>
                </a:cubicBezTo>
                <a:lnTo>
                  <a:pt x="111934" y="1464533"/>
                </a:lnTo>
                <a:cubicBezTo>
                  <a:pt x="50115" y="1464533"/>
                  <a:pt x="0" y="1414418"/>
                  <a:pt x="0" y="1352598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969" dist="373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3129" y="1100731"/>
            <a:ext cx="11445741" cy="37313"/>
          </a:xfrm>
          <a:custGeom>
            <a:avLst/>
            <a:gdLst/>
            <a:ahLst/>
            <a:cxnLst/>
            <a:rect l="l" t="t" r="r" b="b"/>
            <a:pathLst>
              <a:path w="11445741" h="37313">
                <a:moveTo>
                  <a:pt x="37313" y="0"/>
                </a:moveTo>
                <a:lnTo>
                  <a:pt x="11408428" y="0"/>
                </a:lnTo>
                <a:cubicBezTo>
                  <a:pt x="11429036" y="0"/>
                  <a:pt x="11445741" y="16706"/>
                  <a:pt x="11445741" y="37313"/>
                </a:cubicBezTo>
                <a:lnTo>
                  <a:pt x="11445741" y="37313"/>
                </a:lnTo>
                <a:lnTo>
                  <a:pt x="0" y="37313"/>
                </a:ln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624992" y="1380578"/>
            <a:ext cx="223878" cy="223878"/>
          </a:xfrm>
          <a:custGeom>
            <a:avLst/>
            <a:gdLst/>
            <a:ahLst/>
            <a:cxnLst/>
            <a:rect l="l" t="t" r="r" b="b"/>
            <a:pathLst>
              <a:path w="223878" h="223878">
                <a:moveTo>
                  <a:pt x="111939" y="223878"/>
                </a:moveTo>
                <a:cubicBezTo>
                  <a:pt x="173719" y="223878"/>
                  <a:pt x="223878" y="173719"/>
                  <a:pt x="223878" y="111939"/>
                </a:cubicBezTo>
                <a:cubicBezTo>
                  <a:pt x="223878" y="50158"/>
                  <a:pt x="173719" y="0"/>
                  <a:pt x="111939" y="0"/>
                </a:cubicBezTo>
                <a:cubicBezTo>
                  <a:pt x="50158" y="0"/>
                  <a:pt x="0" y="50158"/>
                  <a:pt x="0" y="111939"/>
                </a:cubicBezTo>
                <a:cubicBezTo>
                  <a:pt x="0" y="173719"/>
                  <a:pt x="50158" y="223878"/>
                  <a:pt x="111939" y="223878"/>
                </a:cubicBezTo>
                <a:close/>
                <a:moveTo>
                  <a:pt x="111939" y="76958"/>
                </a:moveTo>
                <a:cubicBezTo>
                  <a:pt x="104199" y="76958"/>
                  <a:pt x="97946" y="83211"/>
                  <a:pt x="97946" y="90950"/>
                </a:cubicBezTo>
                <a:cubicBezTo>
                  <a:pt x="97946" y="96766"/>
                  <a:pt x="93268" y="101445"/>
                  <a:pt x="87452" y="101445"/>
                </a:cubicBezTo>
                <a:cubicBezTo>
                  <a:pt x="81637" y="101445"/>
                  <a:pt x="76958" y="96766"/>
                  <a:pt x="76958" y="90950"/>
                </a:cubicBezTo>
                <a:cubicBezTo>
                  <a:pt x="76958" y="71623"/>
                  <a:pt x="92612" y="55969"/>
                  <a:pt x="111939" y="55969"/>
                </a:cubicBezTo>
                <a:cubicBezTo>
                  <a:pt x="131266" y="55969"/>
                  <a:pt x="146920" y="71623"/>
                  <a:pt x="146920" y="90950"/>
                </a:cubicBezTo>
                <a:cubicBezTo>
                  <a:pt x="146920" y="111589"/>
                  <a:pt x="131178" y="120334"/>
                  <a:pt x="122433" y="123526"/>
                </a:cubicBezTo>
                <a:lnTo>
                  <a:pt x="122433" y="125188"/>
                </a:lnTo>
                <a:cubicBezTo>
                  <a:pt x="122433" y="131003"/>
                  <a:pt x="117754" y="135682"/>
                  <a:pt x="111939" y="135682"/>
                </a:cubicBezTo>
                <a:cubicBezTo>
                  <a:pt x="106123" y="135682"/>
                  <a:pt x="101445" y="131003"/>
                  <a:pt x="101445" y="125188"/>
                </a:cubicBezTo>
                <a:lnTo>
                  <a:pt x="101445" y="121646"/>
                </a:lnTo>
                <a:cubicBezTo>
                  <a:pt x="101445" y="112682"/>
                  <a:pt x="107916" y="106254"/>
                  <a:pt x="114606" y="104068"/>
                </a:cubicBezTo>
                <a:cubicBezTo>
                  <a:pt x="117405" y="103150"/>
                  <a:pt x="120378" y="101663"/>
                  <a:pt x="122564" y="99564"/>
                </a:cubicBezTo>
                <a:cubicBezTo>
                  <a:pt x="124444" y="97728"/>
                  <a:pt x="125931" y="95192"/>
                  <a:pt x="125931" y="90994"/>
                </a:cubicBezTo>
                <a:cubicBezTo>
                  <a:pt x="125931" y="83254"/>
                  <a:pt x="119678" y="77002"/>
                  <a:pt x="111939" y="77002"/>
                </a:cubicBezTo>
                <a:close/>
                <a:moveTo>
                  <a:pt x="97946" y="160912"/>
                </a:moveTo>
                <a:cubicBezTo>
                  <a:pt x="97946" y="153189"/>
                  <a:pt x="104216" y="146920"/>
                  <a:pt x="111939" y="146920"/>
                </a:cubicBezTo>
                <a:cubicBezTo>
                  <a:pt x="119661" y="146920"/>
                  <a:pt x="125931" y="153189"/>
                  <a:pt x="125931" y="160912"/>
                </a:cubicBezTo>
                <a:cubicBezTo>
                  <a:pt x="125931" y="168635"/>
                  <a:pt x="119661" y="174904"/>
                  <a:pt x="111939" y="174904"/>
                </a:cubicBezTo>
                <a:cubicBezTo>
                  <a:pt x="104216" y="174904"/>
                  <a:pt x="97946" y="168635"/>
                  <a:pt x="97946" y="160912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988793" y="1343265"/>
            <a:ext cx="1483189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核心研究问题</a:t>
            </a:r>
            <a:endParaRPr lang="en-US" sz="16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7007" y="1791021"/>
            <a:ext cx="11081940" cy="550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同一基座模型能否通过</a:t>
            </a:r>
            <a:r>
              <a:rPr lang="en-US" sz="1322" b="1" dirty="0">
                <a:solidFill>
                  <a:srgbClr val="2C3E50"/>
                </a:solidFill>
                <a:highlight>
                  <a:srgbClr val="E74C3C">
                    <a:alpha val="10000"/>
                  </a:srgbClr>
                </a:highlight>
                <a:latin typeface="+mn-ea"/>
                <a:cs typeface="Noto Sans SC" pitchFamily="34" charset="-120"/>
              </a:rPr>
              <a:t> MBTI性格偏好训练信号 </a:t>
            </a:r>
            <a:r>
              <a:rPr lang="en-US" sz="1322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，形成</a:t>
            </a:r>
            <a:r>
              <a:rPr lang="en-US" sz="1322" b="1" dirty="0">
                <a:solidFill>
                  <a:srgbClr val="2C3E50"/>
                </a:solidFill>
                <a:highlight>
                  <a:srgbClr val="E74C3C">
                    <a:alpha val="10000"/>
                  </a:srgbClr>
                </a:highlight>
                <a:latin typeface="+mn-ea"/>
                <a:cs typeface="Noto Sans SC" pitchFamily="34" charset="-120"/>
              </a:rPr>
              <a:t> 可控、可重复 </a:t>
            </a:r>
            <a:r>
              <a:rPr lang="en-US" sz="1322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的输出分布偏移？这种偏移是否会呈现稳定结构，并在部分任务上转化为可利用的性能差异？</a:t>
            </a:r>
            <a:endParaRPr lang="en-US" sz="1600" dirty="0"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3129" y="2747164"/>
            <a:ext cx="5624924" cy="4104422"/>
          </a:xfrm>
          <a:custGeom>
            <a:avLst/>
            <a:gdLst/>
            <a:ahLst/>
            <a:cxnLst/>
            <a:rect l="l" t="t" r="r" b="b"/>
            <a:pathLst>
              <a:path w="5624924" h="4104422">
                <a:moveTo>
                  <a:pt x="111928" y="0"/>
                </a:moveTo>
                <a:lnTo>
                  <a:pt x="5512997" y="0"/>
                </a:lnTo>
                <a:cubicBezTo>
                  <a:pt x="5574813" y="0"/>
                  <a:pt x="5624924" y="50112"/>
                  <a:pt x="5624924" y="111928"/>
                </a:cubicBezTo>
                <a:lnTo>
                  <a:pt x="5624924" y="3992495"/>
                </a:lnTo>
                <a:cubicBezTo>
                  <a:pt x="5624924" y="4054311"/>
                  <a:pt x="5574813" y="4104422"/>
                  <a:pt x="5512997" y="4104422"/>
                </a:cubicBezTo>
                <a:lnTo>
                  <a:pt x="111928" y="4104422"/>
                </a:lnTo>
                <a:cubicBezTo>
                  <a:pt x="50112" y="4104422"/>
                  <a:pt x="0" y="4054311"/>
                  <a:pt x="0" y="3992495"/>
                </a:cubicBezTo>
                <a:lnTo>
                  <a:pt x="0" y="111928"/>
                </a:lnTo>
                <a:cubicBezTo>
                  <a:pt x="0" y="50153"/>
                  <a:pt x="50153" y="0"/>
                  <a:pt x="1119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969" dist="373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0327" y="3008355"/>
            <a:ext cx="186565" cy="186565"/>
          </a:xfrm>
          <a:custGeom>
            <a:avLst/>
            <a:gdLst/>
            <a:ahLst/>
            <a:cxnLst/>
            <a:rect l="l" t="t" r="r" b="b"/>
            <a:pathLst>
              <a:path w="186565" h="186565">
                <a:moveTo>
                  <a:pt x="103485" y="-474"/>
                </a:moveTo>
                <a:cubicBezTo>
                  <a:pt x="97181" y="-4118"/>
                  <a:pt x="89383" y="-4118"/>
                  <a:pt x="83080" y="-474"/>
                </a:cubicBezTo>
                <a:lnTo>
                  <a:pt x="52398" y="17235"/>
                </a:lnTo>
                <a:cubicBezTo>
                  <a:pt x="46095" y="20879"/>
                  <a:pt x="42196" y="27620"/>
                  <a:pt x="42196" y="34908"/>
                </a:cubicBezTo>
                <a:lnTo>
                  <a:pt x="42196" y="72039"/>
                </a:lnTo>
                <a:lnTo>
                  <a:pt x="10021" y="90622"/>
                </a:lnTo>
                <a:cubicBezTo>
                  <a:pt x="3717" y="94266"/>
                  <a:pt x="-182" y="101007"/>
                  <a:pt x="-182" y="108295"/>
                </a:cubicBezTo>
                <a:lnTo>
                  <a:pt x="-182" y="143750"/>
                </a:lnTo>
                <a:cubicBezTo>
                  <a:pt x="-182" y="151037"/>
                  <a:pt x="3717" y="157778"/>
                  <a:pt x="10021" y="161422"/>
                </a:cubicBezTo>
                <a:lnTo>
                  <a:pt x="40738" y="179131"/>
                </a:lnTo>
                <a:cubicBezTo>
                  <a:pt x="47042" y="182775"/>
                  <a:pt x="54840" y="182775"/>
                  <a:pt x="61144" y="179131"/>
                </a:cubicBezTo>
                <a:lnTo>
                  <a:pt x="93319" y="160548"/>
                </a:lnTo>
                <a:lnTo>
                  <a:pt x="125494" y="179131"/>
                </a:lnTo>
                <a:cubicBezTo>
                  <a:pt x="131798" y="182775"/>
                  <a:pt x="139596" y="182775"/>
                  <a:pt x="145899" y="179131"/>
                </a:cubicBezTo>
                <a:lnTo>
                  <a:pt x="176544" y="161422"/>
                </a:lnTo>
                <a:cubicBezTo>
                  <a:pt x="182848" y="157778"/>
                  <a:pt x="186747" y="151037"/>
                  <a:pt x="186747" y="143750"/>
                </a:cubicBezTo>
                <a:lnTo>
                  <a:pt x="186747" y="108295"/>
                </a:lnTo>
                <a:cubicBezTo>
                  <a:pt x="186747" y="101007"/>
                  <a:pt x="182848" y="94266"/>
                  <a:pt x="176544" y="90622"/>
                </a:cubicBezTo>
                <a:lnTo>
                  <a:pt x="144369" y="72039"/>
                </a:lnTo>
                <a:lnTo>
                  <a:pt x="144369" y="34908"/>
                </a:lnTo>
                <a:cubicBezTo>
                  <a:pt x="144369" y="27620"/>
                  <a:pt x="140470" y="20879"/>
                  <a:pt x="134166" y="17235"/>
                </a:cubicBezTo>
                <a:lnTo>
                  <a:pt x="103485" y="-474"/>
                </a:lnTo>
                <a:close/>
                <a:moveTo>
                  <a:pt x="84537" y="106619"/>
                </a:moveTo>
                <a:lnTo>
                  <a:pt x="84537" y="145426"/>
                </a:lnTo>
                <a:lnTo>
                  <a:pt x="52362" y="164009"/>
                </a:lnTo>
                <a:cubicBezTo>
                  <a:pt x="51925" y="164264"/>
                  <a:pt x="51415" y="164410"/>
                  <a:pt x="50904" y="164410"/>
                </a:cubicBezTo>
                <a:lnTo>
                  <a:pt x="50904" y="126040"/>
                </a:lnTo>
                <a:lnTo>
                  <a:pt x="84537" y="106619"/>
                </a:lnTo>
                <a:close/>
                <a:moveTo>
                  <a:pt x="168856" y="106837"/>
                </a:moveTo>
                <a:cubicBezTo>
                  <a:pt x="169111" y="107275"/>
                  <a:pt x="169256" y="107785"/>
                  <a:pt x="169256" y="108295"/>
                </a:cubicBezTo>
                <a:lnTo>
                  <a:pt x="169256" y="143750"/>
                </a:lnTo>
                <a:cubicBezTo>
                  <a:pt x="169256" y="144806"/>
                  <a:pt x="168710" y="145754"/>
                  <a:pt x="167799" y="146264"/>
                </a:cubicBezTo>
                <a:lnTo>
                  <a:pt x="137081" y="163973"/>
                </a:lnTo>
                <a:cubicBezTo>
                  <a:pt x="136644" y="164228"/>
                  <a:pt x="136134" y="164374"/>
                  <a:pt x="135624" y="164374"/>
                </a:cubicBezTo>
                <a:lnTo>
                  <a:pt x="135624" y="126004"/>
                </a:lnTo>
                <a:lnTo>
                  <a:pt x="168856" y="106837"/>
                </a:lnTo>
                <a:close/>
                <a:moveTo>
                  <a:pt x="126915" y="34908"/>
                </a:moveTo>
                <a:lnTo>
                  <a:pt x="126915" y="72039"/>
                </a:lnTo>
                <a:lnTo>
                  <a:pt x="93282" y="91460"/>
                </a:lnTo>
                <a:lnTo>
                  <a:pt x="93282" y="52654"/>
                </a:lnTo>
                <a:lnTo>
                  <a:pt x="126514" y="33487"/>
                </a:lnTo>
                <a:cubicBezTo>
                  <a:pt x="126769" y="33924"/>
                  <a:pt x="126915" y="34434"/>
                  <a:pt x="126915" y="34944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Text 11"/>
          <p:cNvSpPr/>
          <p:nvPr/>
        </p:nvSpPr>
        <p:spPr>
          <a:xfrm>
            <a:off x="942151" y="2971042"/>
            <a:ext cx="1436548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MBTI四维度定义</a:t>
            </a:r>
            <a:endParaRPr lang="en-US" sz="16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7007" y="3381484"/>
            <a:ext cx="5177169" cy="671633"/>
          </a:xfrm>
          <a:custGeom>
            <a:avLst/>
            <a:gdLst/>
            <a:ahLst/>
            <a:cxnLst/>
            <a:rect l="l" t="t" r="r" b="b"/>
            <a:pathLst>
              <a:path w="5177169" h="671633">
                <a:moveTo>
                  <a:pt x="74625" y="0"/>
                </a:moveTo>
                <a:lnTo>
                  <a:pt x="5102544" y="0"/>
                </a:lnTo>
                <a:cubicBezTo>
                  <a:pt x="5143731" y="0"/>
                  <a:pt x="5177169" y="33438"/>
                  <a:pt x="5177169" y="74625"/>
                </a:cubicBezTo>
                <a:lnTo>
                  <a:pt x="5177169" y="597008"/>
                </a:lnTo>
                <a:cubicBezTo>
                  <a:pt x="5177169" y="638222"/>
                  <a:pt x="5143758" y="671633"/>
                  <a:pt x="5102544" y="671633"/>
                </a:cubicBezTo>
                <a:lnTo>
                  <a:pt x="74625" y="671633"/>
                </a:lnTo>
                <a:cubicBezTo>
                  <a:pt x="33438" y="671633"/>
                  <a:pt x="0" y="638194"/>
                  <a:pt x="0" y="597008"/>
                </a:cubicBezTo>
                <a:lnTo>
                  <a:pt x="0" y="74625"/>
                </a:lnTo>
                <a:cubicBezTo>
                  <a:pt x="0" y="33438"/>
                  <a:pt x="33438" y="0"/>
                  <a:pt x="7462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946" y="3493423"/>
            <a:ext cx="597007" cy="298503"/>
          </a:xfrm>
          <a:custGeom>
            <a:avLst/>
            <a:gdLst/>
            <a:ahLst/>
            <a:cxnLst/>
            <a:rect l="l" t="t" r="r" b="b"/>
            <a:pathLst>
              <a:path w="597007" h="298503">
                <a:moveTo>
                  <a:pt x="37313" y="0"/>
                </a:moveTo>
                <a:lnTo>
                  <a:pt x="559694" y="0"/>
                </a:lnTo>
                <a:cubicBezTo>
                  <a:pt x="580288" y="0"/>
                  <a:pt x="597007" y="16719"/>
                  <a:pt x="597007" y="37313"/>
                </a:cubicBezTo>
                <a:lnTo>
                  <a:pt x="597007" y="261191"/>
                </a:lnTo>
                <a:cubicBezTo>
                  <a:pt x="597007" y="281798"/>
                  <a:pt x="580301" y="298503"/>
                  <a:pt x="559694" y="298503"/>
                </a:cubicBezTo>
                <a:lnTo>
                  <a:pt x="37313" y="298503"/>
                </a:lnTo>
                <a:cubicBezTo>
                  <a:pt x="16719" y="298503"/>
                  <a:pt x="0" y="281784"/>
                  <a:pt x="0" y="261191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676297" y="3493423"/>
            <a:ext cx="662305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E/I</a:t>
            </a:r>
            <a:endParaRPr lang="en-US" sz="160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7891" y="3493423"/>
            <a:ext cx="4318972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energy（能量倾向）</a:t>
            </a:r>
            <a:endParaRPr lang="en-US" sz="160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7891" y="3754614"/>
            <a:ext cx="4309643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E端：外部互动与表达；I端：内部思考与独处恢复</a:t>
            </a:r>
            <a:endParaRPr lang="en-US" sz="1600" dirty="0">
              <a:latin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7007" y="4165056"/>
            <a:ext cx="5177169" cy="671633"/>
          </a:xfrm>
          <a:custGeom>
            <a:avLst/>
            <a:gdLst/>
            <a:ahLst/>
            <a:cxnLst/>
            <a:rect l="l" t="t" r="r" b="b"/>
            <a:pathLst>
              <a:path w="5177169" h="671633">
                <a:moveTo>
                  <a:pt x="74625" y="0"/>
                </a:moveTo>
                <a:lnTo>
                  <a:pt x="5102544" y="0"/>
                </a:lnTo>
                <a:cubicBezTo>
                  <a:pt x="5143731" y="0"/>
                  <a:pt x="5177169" y="33438"/>
                  <a:pt x="5177169" y="74625"/>
                </a:cubicBezTo>
                <a:lnTo>
                  <a:pt x="5177169" y="597008"/>
                </a:lnTo>
                <a:cubicBezTo>
                  <a:pt x="5177169" y="638222"/>
                  <a:pt x="5143758" y="671633"/>
                  <a:pt x="5102544" y="671633"/>
                </a:cubicBezTo>
                <a:lnTo>
                  <a:pt x="74625" y="671633"/>
                </a:lnTo>
                <a:cubicBezTo>
                  <a:pt x="33438" y="671633"/>
                  <a:pt x="0" y="638194"/>
                  <a:pt x="0" y="597008"/>
                </a:cubicBezTo>
                <a:lnTo>
                  <a:pt x="0" y="74625"/>
                </a:lnTo>
                <a:cubicBezTo>
                  <a:pt x="0" y="33438"/>
                  <a:pt x="33438" y="0"/>
                  <a:pt x="7462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946" y="4276995"/>
            <a:ext cx="597007" cy="298503"/>
          </a:xfrm>
          <a:custGeom>
            <a:avLst/>
            <a:gdLst/>
            <a:ahLst/>
            <a:cxnLst/>
            <a:rect l="l" t="t" r="r" b="b"/>
            <a:pathLst>
              <a:path w="597007" h="298503">
                <a:moveTo>
                  <a:pt x="37313" y="0"/>
                </a:moveTo>
                <a:lnTo>
                  <a:pt x="559694" y="0"/>
                </a:lnTo>
                <a:cubicBezTo>
                  <a:pt x="580288" y="0"/>
                  <a:pt x="597007" y="16719"/>
                  <a:pt x="597007" y="37313"/>
                </a:cubicBezTo>
                <a:lnTo>
                  <a:pt x="597007" y="261191"/>
                </a:lnTo>
                <a:cubicBezTo>
                  <a:pt x="597007" y="281798"/>
                  <a:pt x="580301" y="298503"/>
                  <a:pt x="559694" y="298503"/>
                </a:cubicBezTo>
                <a:lnTo>
                  <a:pt x="37313" y="298503"/>
                </a:lnTo>
                <a:cubicBezTo>
                  <a:pt x="16719" y="298503"/>
                  <a:pt x="0" y="281784"/>
                  <a:pt x="0" y="261191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297" y="4276995"/>
            <a:ext cx="662305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N/S</a:t>
            </a:r>
            <a:endParaRPr lang="en-US" sz="1600" dirty="0">
              <a:latin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17891" y="4276995"/>
            <a:ext cx="4318972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information（信息获取）</a:t>
            </a:r>
            <a:endParaRPr lang="en-US" sz="1600" dirty="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17891" y="4538185"/>
            <a:ext cx="4309643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N端：模式、可能性与抽象；S端：事实、细节与当下信息</a:t>
            </a:r>
            <a:endParaRPr lang="en-US" sz="1600" dirty="0">
              <a:latin typeface="+mn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7007" y="4948627"/>
            <a:ext cx="5177169" cy="671633"/>
          </a:xfrm>
          <a:custGeom>
            <a:avLst/>
            <a:gdLst/>
            <a:ahLst/>
            <a:cxnLst/>
            <a:rect l="l" t="t" r="r" b="b"/>
            <a:pathLst>
              <a:path w="5177169" h="671633">
                <a:moveTo>
                  <a:pt x="74625" y="0"/>
                </a:moveTo>
                <a:lnTo>
                  <a:pt x="5102544" y="0"/>
                </a:lnTo>
                <a:cubicBezTo>
                  <a:pt x="5143731" y="0"/>
                  <a:pt x="5177169" y="33438"/>
                  <a:pt x="5177169" y="74625"/>
                </a:cubicBezTo>
                <a:lnTo>
                  <a:pt x="5177169" y="597008"/>
                </a:lnTo>
                <a:cubicBezTo>
                  <a:pt x="5177169" y="638222"/>
                  <a:pt x="5143758" y="671633"/>
                  <a:pt x="5102544" y="671633"/>
                </a:cubicBezTo>
                <a:lnTo>
                  <a:pt x="74625" y="671633"/>
                </a:lnTo>
                <a:cubicBezTo>
                  <a:pt x="33438" y="671633"/>
                  <a:pt x="0" y="638194"/>
                  <a:pt x="0" y="597008"/>
                </a:cubicBezTo>
                <a:lnTo>
                  <a:pt x="0" y="74625"/>
                </a:lnTo>
                <a:cubicBezTo>
                  <a:pt x="0" y="33438"/>
                  <a:pt x="33438" y="0"/>
                  <a:pt x="7462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946" y="5060566"/>
            <a:ext cx="597007" cy="298503"/>
          </a:xfrm>
          <a:custGeom>
            <a:avLst/>
            <a:gdLst/>
            <a:ahLst/>
            <a:cxnLst/>
            <a:rect l="l" t="t" r="r" b="b"/>
            <a:pathLst>
              <a:path w="597007" h="298503">
                <a:moveTo>
                  <a:pt x="37313" y="0"/>
                </a:moveTo>
                <a:lnTo>
                  <a:pt x="559694" y="0"/>
                </a:lnTo>
                <a:cubicBezTo>
                  <a:pt x="580288" y="0"/>
                  <a:pt x="597007" y="16719"/>
                  <a:pt x="597007" y="37313"/>
                </a:cubicBezTo>
                <a:lnTo>
                  <a:pt x="597007" y="261191"/>
                </a:lnTo>
                <a:cubicBezTo>
                  <a:pt x="597007" y="281798"/>
                  <a:pt x="580301" y="298503"/>
                  <a:pt x="559694" y="298503"/>
                </a:cubicBezTo>
                <a:lnTo>
                  <a:pt x="37313" y="298503"/>
                </a:lnTo>
                <a:cubicBezTo>
                  <a:pt x="16719" y="298503"/>
                  <a:pt x="0" y="281784"/>
                  <a:pt x="0" y="261191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97" y="5060566"/>
            <a:ext cx="662305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F/T</a:t>
            </a:r>
            <a:endParaRPr lang="en-US" sz="16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17891" y="5060566"/>
            <a:ext cx="4318972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decision（决策方式）</a:t>
            </a:r>
            <a:endParaRPr lang="en-US" sz="1600" dirty="0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417891" y="5321757"/>
            <a:ext cx="4309643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F端：价值与他人感受；T端：逻辑一致性与规则</a:t>
            </a:r>
            <a:endParaRPr lang="en-US" sz="1600" dirty="0">
              <a:latin typeface="+mn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7007" y="5732199"/>
            <a:ext cx="5177169" cy="671633"/>
          </a:xfrm>
          <a:custGeom>
            <a:avLst/>
            <a:gdLst/>
            <a:ahLst/>
            <a:cxnLst/>
            <a:rect l="l" t="t" r="r" b="b"/>
            <a:pathLst>
              <a:path w="5177169" h="671633">
                <a:moveTo>
                  <a:pt x="74625" y="0"/>
                </a:moveTo>
                <a:lnTo>
                  <a:pt x="5102544" y="0"/>
                </a:lnTo>
                <a:cubicBezTo>
                  <a:pt x="5143731" y="0"/>
                  <a:pt x="5177169" y="33438"/>
                  <a:pt x="5177169" y="74625"/>
                </a:cubicBezTo>
                <a:lnTo>
                  <a:pt x="5177169" y="597008"/>
                </a:lnTo>
                <a:cubicBezTo>
                  <a:pt x="5177169" y="638222"/>
                  <a:pt x="5143758" y="671633"/>
                  <a:pt x="5102544" y="671633"/>
                </a:cubicBezTo>
                <a:lnTo>
                  <a:pt x="74625" y="671633"/>
                </a:lnTo>
                <a:cubicBezTo>
                  <a:pt x="33438" y="671633"/>
                  <a:pt x="0" y="638194"/>
                  <a:pt x="0" y="597008"/>
                </a:cubicBezTo>
                <a:lnTo>
                  <a:pt x="0" y="74625"/>
                </a:lnTo>
                <a:cubicBezTo>
                  <a:pt x="0" y="33438"/>
                  <a:pt x="33438" y="0"/>
                  <a:pt x="7462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708946" y="5844138"/>
            <a:ext cx="597007" cy="298503"/>
          </a:xfrm>
          <a:custGeom>
            <a:avLst/>
            <a:gdLst/>
            <a:ahLst/>
            <a:cxnLst/>
            <a:rect l="l" t="t" r="r" b="b"/>
            <a:pathLst>
              <a:path w="597007" h="298503">
                <a:moveTo>
                  <a:pt x="37313" y="0"/>
                </a:moveTo>
                <a:lnTo>
                  <a:pt x="559694" y="0"/>
                </a:lnTo>
                <a:cubicBezTo>
                  <a:pt x="580288" y="0"/>
                  <a:pt x="597007" y="16719"/>
                  <a:pt x="597007" y="37313"/>
                </a:cubicBezTo>
                <a:lnTo>
                  <a:pt x="597007" y="261191"/>
                </a:lnTo>
                <a:cubicBezTo>
                  <a:pt x="597007" y="281798"/>
                  <a:pt x="580301" y="298503"/>
                  <a:pt x="559694" y="298503"/>
                </a:cubicBezTo>
                <a:lnTo>
                  <a:pt x="37313" y="298503"/>
                </a:lnTo>
                <a:cubicBezTo>
                  <a:pt x="16719" y="298503"/>
                  <a:pt x="0" y="281784"/>
                  <a:pt x="0" y="261191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1" name="Text 29"/>
          <p:cNvSpPr/>
          <p:nvPr/>
        </p:nvSpPr>
        <p:spPr>
          <a:xfrm>
            <a:off x="676297" y="5844138"/>
            <a:ext cx="662305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J/P</a:t>
            </a:r>
            <a:endParaRPr lang="en-US" sz="1600" dirty="0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17891" y="5844138"/>
            <a:ext cx="4318972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execution（执行风格）</a:t>
            </a:r>
            <a:endParaRPr lang="en-US" sz="1600" dirty="0">
              <a:latin typeface="+mn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17891" y="6105328"/>
            <a:ext cx="4309643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J端：计划、结构与确定性；P端：灵活、开放与探索</a:t>
            </a:r>
            <a:endParaRPr lang="en-US" sz="1600" dirty="0">
              <a:latin typeface="+mn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87679" y="2747164"/>
            <a:ext cx="5624924" cy="2574592"/>
          </a:xfrm>
          <a:custGeom>
            <a:avLst/>
            <a:gdLst/>
            <a:ahLst/>
            <a:cxnLst/>
            <a:rect l="l" t="t" r="r" b="b"/>
            <a:pathLst>
              <a:path w="5624924" h="2574592">
                <a:moveTo>
                  <a:pt x="111943" y="0"/>
                </a:moveTo>
                <a:lnTo>
                  <a:pt x="5512981" y="0"/>
                </a:lnTo>
                <a:cubicBezTo>
                  <a:pt x="5574806" y="0"/>
                  <a:pt x="5624924" y="50119"/>
                  <a:pt x="5624924" y="111943"/>
                </a:cubicBezTo>
                <a:lnTo>
                  <a:pt x="5624924" y="2462649"/>
                </a:lnTo>
                <a:cubicBezTo>
                  <a:pt x="5624924" y="2524473"/>
                  <a:pt x="5574806" y="2574592"/>
                  <a:pt x="5512981" y="2574592"/>
                </a:cubicBezTo>
                <a:lnTo>
                  <a:pt x="111943" y="2574592"/>
                </a:lnTo>
                <a:cubicBezTo>
                  <a:pt x="50119" y="2574592"/>
                  <a:pt x="0" y="2524473"/>
                  <a:pt x="0" y="2462649"/>
                </a:cubicBezTo>
                <a:lnTo>
                  <a:pt x="0" y="111943"/>
                </a:lnTo>
                <a:cubicBezTo>
                  <a:pt x="0" y="50160"/>
                  <a:pt x="50160" y="0"/>
                  <a:pt x="11194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969" dist="373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34877" y="3008355"/>
            <a:ext cx="186565" cy="186565"/>
          </a:xfrm>
          <a:custGeom>
            <a:avLst/>
            <a:gdLst/>
            <a:ahLst/>
            <a:cxnLst/>
            <a:rect l="l" t="t" r="r" b="b"/>
            <a:pathLst>
              <a:path w="186565" h="186565">
                <a:moveTo>
                  <a:pt x="48755" y="13227"/>
                </a:moveTo>
                <a:cubicBezTo>
                  <a:pt x="52726" y="15996"/>
                  <a:pt x="53674" y="21462"/>
                  <a:pt x="50904" y="25398"/>
                </a:cubicBezTo>
                <a:lnTo>
                  <a:pt x="30499" y="54548"/>
                </a:lnTo>
                <a:cubicBezTo>
                  <a:pt x="29005" y="56662"/>
                  <a:pt x="26673" y="58010"/>
                  <a:pt x="24086" y="58229"/>
                </a:cubicBezTo>
                <a:cubicBezTo>
                  <a:pt x="21499" y="58447"/>
                  <a:pt x="18948" y="57573"/>
                  <a:pt x="17126" y="55751"/>
                </a:cubicBezTo>
                <a:lnTo>
                  <a:pt x="2551" y="41175"/>
                </a:lnTo>
                <a:cubicBezTo>
                  <a:pt x="-838" y="37750"/>
                  <a:pt x="-838" y="32212"/>
                  <a:pt x="2551" y="28786"/>
                </a:cubicBezTo>
                <a:cubicBezTo>
                  <a:pt x="5939" y="25361"/>
                  <a:pt x="11515" y="25398"/>
                  <a:pt x="14940" y="28786"/>
                </a:cubicBezTo>
                <a:lnTo>
                  <a:pt x="22155" y="36001"/>
                </a:lnTo>
                <a:lnTo>
                  <a:pt x="36584" y="15377"/>
                </a:lnTo>
                <a:cubicBezTo>
                  <a:pt x="39353" y="11405"/>
                  <a:pt x="44819" y="10458"/>
                  <a:pt x="48755" y="13227"/>
                </a:cubicBezTo>
                <a:close/>
                <a:moveTo>
                  <a:pt x="48755" y="71529"/>
                </a:moveTo>
                <a:cubicBezTo>
                  <a:pt x="52726" y="74298"/>
                  <a:pt x="53674" y="79764"/>
                  <a:pt x="50904" y="83699"/>
                </a:cubicBezTo>
                <a:lnTo>
                  <a:pt x="30499" y="112850"/>
                </a:lnTo>
                <a:cubicBezTo>
                  <a:pt x="29005" y="114963"/>
                  <a:pt x="26673" y="116311"/>
                  <a:pt x="24086" y="116530"/>
                </a:cubicBezTo>
                <a:cubicBezTo>
                  <a:pt x="21499" y="116749"/>
                  <a:pt x="18948" y="115874"/>
                  <a:pt x="17126" y="114052"/>
                </a:cubicBezTo>
                <a:lnTo>
                  <a:pt x="2551" y="99477"/>
                </a:lnTo>
                <a:cubicBezTo>
                  <a:pt x="-875" y="96052"/>
                  <a:pt x="-875" y="90513"/>
                  <a:pt x="2551" y="87124"/>
                </a:cubicBezTo>
                <a:cubicBezTo>
                  <a:pt x="5976" y="83735"/>
                  <a:pt x="11515" y="83699"/>
                  <a:pt x="14903" y="87124"/>
                </a:cubicBezTo>
                <a:lnTo>
                  <a:pt x="22118" y="94339"/>
                </a:lnTo>
                <a:lnTo>
                  <a:pt x="36548" y="73715"/>
                </a:lnTo>
                <a:cubicBezTo>
                  <a:pt x="39317" y="69743"/>
                  <a:pt x="44783" y="68796"/>
                  <a:pt x="48718" y="71565"/>
                </a:cubicBezTo>
                <a:close/>
                <a:moveTo>
                  <a:pt x="81622" y="34981"/>
                </a:moveTo>
                <a:cubicBezTo>
                  <a:pt x="81622" y="28531"/>
                  <a:pt x="86833" y="23321"/>
                  <a:pt x="93282" y="23321"/>
                </a:cubicBezTo>
                <a:lnTo>
                  <a:pt x="174904" y="23321"/>
                </a:lnTo>
                <a:cubicBezTo>
                  <a:pt x="181354" y="23321"/>
                  <a:pt x="186565" y="28531"/>
                  <a:pt x="186565" y="34981"/>
                </a:cubicBezTo>
                <a:cubicBezTo>
                  <a:pt x="186565" y="41430"/>
                  <a:pt x="181354" y="46641"/>
                  <a:pt x="174904" y="46641"/>
                </a:cubicBezTo>
                <a:lnTo>
                  <a:pt x="93282" y="46641"/>
                </a:lnTo>
                <a:cubicBezTo>
                  <a:pt x="86833" y="46641"/>
                  <a:pt x="81622" y="41430"/>
                  <a:pt x="81622" y="34981"/>
                </a:cubicBezTo>
                <a:close/>
                <a:moveTo>
                  <a:pt x="81622" y="93282"/>
                </a:moveTo>
                <a:cubicBezTo>
                  <a:pt x="81622" y="86833"/>
                  <a:pt x="86833" y="81622"/>
                  <a:pt x="93282" y="81622"/>
                </a:cubicBezTo>
                <a:lnTo>
                  <a:pt x="174904" y="81622"/>
                </a:lnTo>
                <a:cubicBezTo>
                  <a:pt x="181354" y="81622"/>
                  <a:pt x="186565" y="86833"/>
                  <a:pt x="186565" y="93282"/>
                </a:cubicBezTo>
                <a:cubicBezTo>
                  <a:pt x="186565" y="99732"/>
                  <a:pt x="181354" y="104943"/>
                  <a:pt x="174904" y="104943"/>
                </a:cubicBezTo>
                <a:lnTo>
                  <a:pt x="93282" y="104943"/>
                </a:lnTo>
                <a:cubicBezTo>
                  <a:pt x="86833" y="104943"/>
                  <a:pt x="81622" y="99732"/>
                  <a:pt x="81622" y="93282"/>
                </a:cubicBezTo>
                <a:close/>
                <a:moveTo>
                  <a:pt x="58301" y="151584"/>
                </a:moveTo>
                <a:cubicBezTo>
                  <a:pt x="58301" y="145134"/>
                  <a:pt x="63512" y="139923"/>
                  <a:pt x="69962" y="139923"/>
                </a:cubicBezTo>
                <a:lnTo>
                  <a:pt x="174904" y="139923"/>
                </a:lnTo>
                <a:cubicBezTo>
                  <a:pt x="181354" y="139923"/>
                  <a:pt x="186565" y="145134"/>
                  <a:pt x="186565" y="151584"/>
                </a:cubicBezTo>
                <a:cubicBezTo>
                  <a:pt x="186565" y="158033"/>
                  <a:pt x="181354" y="163244"/>
                  <a:pt x="174904" y="163244"/>
                </a:cubicBezTo>
                <a:lnTo>
                  <a:pt x="69962" y="163244"/>
                </a:lnTo>
                <a:cubicBezTo>
                  <a:pt x="63512" y="163244"/>
                  <a:pt x="58301" y="158033"/>
                  <a:pt x="58301" y="151584"/>
                </a:cubicBezTo>
                <a:close/>
                <a:moveTo>
                  <a:pt x="23321" y="137008"/>
                </a:moveTo>
                <a:cubicBezTo>
                  <a:pt x="31365" y="137008"/>
                  <a:pt x="37896" y="143539"/>
                  <a:pt x="37896" y="151584"/>
                </a:cubicBezTo>
                <a:cubicBezTo>
                  <a:pt x="37896" y="159628"/>
                  <a:pt x="31365" y="166159"/>
                  <a:pt x="23321" y="166159"/>
                </a:cubicBezTo>
                <a:cubicBezTo>
                  <a:pt x="15276" y="166159"/>
                  <a:pt x="8745" y="159628"/>
                  <a:pt x="8745" y="151584"/>
                </a:cubicBezTo>
                <a:cubicBezTo>
                  <a:pt x="8745" y="143539"/>
                  <a:pt x="15276" y="137008"/>
                  <a:pt x="23321" y="137008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6" name="Text 34"/>
          <p:cNvSpPr/>
          <p:nvPr/>
        </p:nvSpPr>
        <p:spPr>
          <a:xfrm>
            <a:off x="6756701" y="2971042"/>
            <a:ext cx="1231327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四维评估体系</a:t>
            </a:r>
            <a:endParaRPr lang="en-US" sz="1600" dirty="0">
              <a:latin typeface="+mn-ea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16221" y="3386148"/>
            <a:ext cx="2527951" cy="792900"/>
          </a:xfrm>
          <a:custGeom>
            <a:avLst/>
            <a:gdLst/>
            <a:ahLst/>
            <a:cxnLst/>
            <a:rect l="l" t="t" r="r" b="b"/>
            <a:pathLst>
              <a:path w="2527951" h="792900">
                <a:moveTo>
                  <a:pt x="74628" y="0"/>
                </a:moveTo>
                <a:lnTo>
                  <a:pt x="2453323" y="0"/>
                </a:lnTo>
                <a:cubicBezTo>
                  <a:pt x="2494539" y="0"/>
                  <a:pt x="2527951" y="33412"/>
                  <a:pt x="2527951" y="74628"/>
                </a:cubicBezTo>
                <a:lnTo>
                  <a:pt x="2527951" y="718272"/>
                </a:lnTo>
                <a:cubicBezTo>
                  <a:pt x="2527951" y="759488"/>
                  <a:pt x="2494539" y="792900"/>
                  <a:pt x="2453323" y="792900"/>
                </a:cubicBezTo>
                <a:lnTo>
                  <a:pt x="74628" y="792900"/>
                </a:lnTo>
                <a:cubicBezTo>
                  <a:pt x="33440" y="792900"/>
                  <a:pt x="0" y="759460"/>
                  <a:pt x="0" y="718272"/>
                </a:cubicBezTo>
                <a:lnTo>
                  <a:pt x="0" y="74628"/>
                </a:lnTo>
                <a:cubicBezTo>
                  <a:pt x="0" y="33412"/>
                  <a:pt x="33412" y="0"/>
                  <a:pt x="74628" y="0"/>
                </a:cubicBezTo>
                <a:close/>
              </a:path>
            </a:pathLst>
          </a:custGeom>
          <a:solidFill>
            <a:srgbClr val="E74C3C">
              <a:alpha val="5098"/>
            </a:srgbClr>
          </a:solidFill>
          <a:ln w="12700">
            <a:solidFill>
              <a:srgbClr val="E74C3C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2824" y="3502751"/>
            <a:ext cx="298503" cy="298503"/>
          </a:xfrm>
          <a:custGeom>
            <a:avLst/>
            <a:gdLst/>
            <a:ahLst/>
            <a:cxnLst/>
            <a:rect l="l" t="t" r="r" b="b"/>
            <a:pathLst>
              <a:path w="298503" h="298503">
                <a:moveTo>
                  <a:pt x="149252" y="0"/>
                </a:moveTo>
                <a:lnTo>
                  <a:pt x="149252" y="0"/>
                </a:lnTo>
                <a:cubicBezTo>
                  <a:pt x="231681" y="0"/>
                  <a:pt x="298503" y="66822"/>
                  <a:pt x="298503" y="149252"/>
                </a:cubicBezTo>
                <a:lnTo>
                  <a:pt x="298503" y="149252"/>
                </a:lnTo>
                <a:cubicBezTo>
                  <a:pt x="298503" y="231681"/>
                  <a:pt x="231681" y="298503"/>
                  <a:pt x="149252" y="298503"/>
                </a:cubicBezTo>
                <a:lnTo>
                  <a:pt x="149252" y="298503"/>
                </a:lnTo>
                <a:cubicBezTo>
                  <a:pt x="66822" y="298503"/>
                  <a:pt x="0" y="231681"/>
                  <a:pt x="0" y="149252"/>
                </a:cubicBezTo>
                <a:lnTo>
                  <a:pt x="0" y="149252"/>
                </a:lnTo>
                <a:cubicBezTo>
                  <a:pt x="0" y="66822"/>
                  <a:pt x="66822" y="0"/>
                  <a:pt x="149252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9" name="Text 37"/>
          <p:cNvSpPr/>
          <p:nvPr/>
        </p:nvSpPr>
        <p:spPr>
          <a:xfrm>
            <a:off x="6500175" y="3502751"/>
            <a:ext cx="363801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1</a:t>
            </a:r>
            <a:endParaRPr lang="en-US" sz="1600" dirty="0">
              <a:latin typeface="+mn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05953" y="3540064"/>
            <a:ext cx="429099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Shift</a:t>
            </a:r>
            <a:endParaRPr lang="en-US" sz="1600" dirty="0">
              <a:latin typeface="+mn-ea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532824" y="3875881"/>
            <a:ext cx="2360043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往哪边偏（方向）</a:t>
            </a:r>
            <a:endParaRPr lang="en-US" sz="1600" dirty="0">
              <a:latin typeface="+mn-ea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062232" y="3386148"/>
            <a:ext cx="2527951" cy="792900"/>
          </a:xfrm>
          <a:custGeom>
            <a:avLst/>
            <a:gdLst/>
            <a:ahLst/>
            <a:cxnLst/>
            <a:rect l="l" t="t" r="r" b="b"/>
            <a:pathLst>
              <a:path w="2527951" h="792900">
                <a:moveTo>
                  <a:pt x="74628" y="0"/>
                </a:moveTo>
                <a:lnTo>
                  <a:pt x="2453323" y="0"/>
                </a:lnTo>
                <a:cubicBezTo>
                  <a:pt x="2494539" y="0"/>
                  <a:pt x="2527951" y="33412"/>
                  <a:pt x="2527951" y="74628"/>
                </a:cubicBezTo>
                <a:lnTo>
                  <a:pt x="2527951" y="718272"/>
                </a:lnTo>
                <a:cubicBezTo>
                  <a:pt x="2527951" y="759488"/>
                  <a:pt x="2494539" y="792900"/>
                  <a:pt x="2453323" y="792900"/>
                </a:cubicBezTo>
                <a:lnTo>
                  <a:pt x="74628" y="792900"/>
                </a:lnTo>
                <a:cubicBezTo>
                  <a:pt x="33440" y="792900"/>
                  <a:pt x="0" y="759460"/>
                  <a:pt x="0" y="718272"/>
                </a:cubicBezTo>
                <a:lnTo>
                  <a:pt x="0" y="74628"/>
                </a:lnTo>
                <a:cubicBezTo>
                  <a:pt x="0" y="33412"/>
                  <a:pt x="33412" y="0"/>
                  <a:pt x="74628" y="0"/>
                </a:cubicBezTo>
                <a:close/>
              </a:path>
            </a:pathLst>
          </a:custGeom>
          <a:solidFill>
            <a:srgbClr val="2C3E50">
              <a:alpha val="5098"/>
            </a:srgbClr>
          </a:solidFill>
          <a:ln w="1270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78835" y="3502751"/>
            <a:ext cx="298503" cy="298503"/>
          </a:xfrm>
          <a:custGeom>
            <a:avLst/>
            <a:gdLst/>
            <a:ahLst/>
            <a:cxnLst/>
            <a:rect l="l" t="t" r="r" b="b"/>
            <a:pathLst>
              <a:path w="298503" h="298503">
                <a:moveTo>
                  <a:pt x="149252" y="0"/>
                </a:moveTo>
                <a:lnTo>
                  <a:pt x="149252" y="0"/>
                </a:lnTo>
                <a:cubicBezTo>
                  <a:pt x="231681" y="0"/>
                  <a:pt x="298503" y="66822"/>
                  <a:pt x="298503" y="149252"/>
                </a:cubicBezTo>
                <a:lnTo>
                  <a:pt x="298503" y="149252"/>
                </a:lnTo>
                <a:cubicBezTo>
                  <a:pt x="298503" y="231681"/>
                  <a:pt x="231681" y="298503"/>
                  <a:pt x="149252" y="298503"/>
                </a:cubicBezTo>
                <a:lnTo>
                  <a:pt x="149252" y="298503"/>
                </a:lnTo>
                <a:cubicBezTo>
                  <a:pt x="66822" y="298503"/>
                  <a:pt x="0" y="231681"/>
                  <a:pt x="0" y="149252"/>
                </a:cubicBezTo>
                <a:lnTo>
                  <a:pt x="0" y="149252"/>
                </a:lnTo>
                <a:cubicBezTo>
                  <a:pt x="0" y="66822"/>
                  <a:pt x="66822" y="0"/>
                  <a:pt x="14925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4" name="Text 42"/>
          <p:cNvSpPr/>
          <p:nvPr/>
        </p:nvSpPr>
        <p:spPr>
          <a:xfrm>
            <a:off x="9146186" y="3502751"/>
            <a:ext cx="363801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2</a:t>
            </a:r>
            <a:endParaRPr lang="en-US" sz="1600" dirty="0">
              <a:latin typeface="+mn-ea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551964" y="3540064"/>
            <a:ext cx="979464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Significance</a:t>
            </a:r>
            <a:endParaRPr lang="en-US" sz="1600" dirty="0">
              <a:latin typeface="+mn-ea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78835" y="3875881"/>
            <a:ext cx="2360043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偏移是否可靠</a:t>
            </a:r>
            <a:endParaRPr lang="en-US" sz="1600" dirty="0">
              <a:latin typeface="+mn-ea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16221" y="4300315"/>
            <a:ext cx="2527951" cy="792900"/>
          </a:xfrm>
          <a:custGeom>
            <a:avLst/>
            <a:gdLst/>
            <a:ahLst/>
            <a:cxnLst/>
            <a:rect l="l" t="t" r="r" b="b"/>
            <a:pathLst>
              <a:path w="2527951" h="792900">
                <a:moveTo>
                  <a:pt x="74628" y="0"/>
                </a:moveTo>
                <a:lnTo>
                  <a:pt x="2453323" y="0"/>
                </a:lnTo>
                <a:cubicBezTo>
                  <a:pt x="2494539" y="0"/>
                  <a:pt x="2527951" y="33412"/>
                  <a:pt x="2527951" y="74628"/>
                </a:cubicBezTo>
                <a:lnTo>
                  <a:pt x="2527951" y="718272"/>
                </a:lnTo>
                <a:cubicBezTo>
                  <a:pt x="2527951" y="759488"/>
                  <a:pt x="2494539" y="792900"/>
                  <a:pt x="2453323" y="792900"/>
                </a:cubicBezTo>
                <a:lnTo>
                  <a:pt x="74628" y="792900"/>
                </a:lnTo>
                <a:cubicBezTo>
                  <a:pt x="33440" y="792900"/>
                  <a:pt x="0" y="759460"/>
                  <a:pt x="0" y="718272"/>
                </a:cubicBezTo>
                <a:lnTo>
                  <a:pt x="0" y="74628"/>
                </a:lnTo>
                <a:cubicBezTo>
                  <a:pt x="0" y="33412"/>
                  <a:pt x="33412" y="0"/>
                  <a:pt x="74628" y="0"/>
                </a:cubicBezTo>
                <a:close/>
              </a:path>
            </a:pathLst>
          </a:custGeom>
          <a:solidFill>
            <a:srgbClr val="5D6D7E">
              <a:alpha val="5098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32824" y="4416918"/>
            <a:ext cx="298503" cy="298503"/>
          </a:xfrm>
          <a:custGeom>
            <a:avLst/>
            <a:gdLst/>
            <a:ahLst/>
            <a:cxnLst/>
            <a:rect l="l" t="t" r="r" b="b"/>
            <a:pathLst>
              <a:path w="298503" h="298503">
                <a:moveTo>
                  <a:pt x="149252" y="0"/>
                </a:moveTo>
                <a:lnTo>
                  <a:pt x="149252" y="0"/>
                </a:lnTo>
                <a:cubicBezTo>
                  <a:pt x="231681" y="0"/>
                  <a:pt x="298503" y="66822"/>
                  <a:pt x="298503" y="149252"/>
                </a:cubicBezTo>
                <a:lnTo>
                  <a:pt x="298503" y="149252"/>
                </a:lnTo>
                <a:cubicBezTo>
                  <a:pt x="298503" y="231681"/>
                  <a:pt x="231681" y="298503"/>
                  <a:pt x="149252" y="298503"/>
                </a:cubicBezTo>
                <a:lnTo>
                  <a:pt x="149252" y="298503"/>
                </a:lnTo>
                <a:cubicBezTo>
                  <a:pt x="66822" y="298503"/>
                  <a:pt x="0" y="231681"/>
                  <a:pt x="0" y="149252"/>
                </a:cubicBezTo>
                <a:lnTo>
                  <a:pt x="0" y="149252"/>
                </a:lnTo>
                <a:cubicBezTo>
                  <a:pt x="0" y="66822"/>
                  <a:pt x="66822" y="0"/>
                  <a:pt x="149252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9" name="Text 47"/>
          <p:cNvSpPr/>
          <p:nvPr/>
        </p:nvSpPr>
        <p:spPr>
          <a:xfrm>
            <a:off x="6500175" y="4416918"/>
            <a:ext cx="363801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3</a:t>
            </a:r>
            <a:endParaRPr lang="en-US" sz="1600" dirty="0">
              <a:latin typeface="+mn-ea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905953" y="4454231"/>
            <a:ext cx="503725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Effect</a:t>
            </a:r>
            <a:endParaRPr lang="en-US" sz="1600" dirty="0">
              <a:latin typeface="+mn-ea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32824" y="4790047"/>
            <a:ext cx="2360043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偏移有多大</a:t>
            </a:r>
            <a:endParaRPr lang="en-US" sz="1600" dirty="0">
              <a:latin typeface="+mn-ea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062232" y="4300315"/>
            <a:ext cx="2527951" cy="792900"/>
          </a:xfrm>
          <a:custGeom>
            <a:avLst/>
            <a:gdLst/>
            <a:ahLst/>
            <a:cxnLst/>
            <a:rect l="l" t="t" r="r" b="b"/>
            <a:pathLst>
              <a:path w="2527951" h="792900">
                <a:moveTo>
                  <a:pt x="74628" y="0"/>
                </a:moveTo>
                <a:lnTo>
                  <a:pt x="2453323" y="0"/>
                </a:lnTo>
                <a:cubicBezTo>
                  <a:pt x="2494539" y="0"/>
                  <a:pt x="2527951" y="33412"/>
                  <a:pt x="2527951" y="74628"/>
                </a:cubicBezTo>
                <a:lnTo>
                  <a:pt x="2527951" y="718272"/>
                </a:lnTo>
                <a:cubicBezTo>
                  <a:pt x="2527951" y="759488"/>
                  <a:pt x="2494539" y="792900"/>
                  <a:pt x="2453323" y="792900"/>
                </a:cubicBezTo>
                <a:lnTo>
                  <a:pt x="74628" y="792900"/>
                </a:lnTo>
                <a:cubicBezTo>
                  <a:pt x="33440" y="792900"/>
                  <a:pt x="0" y="759460"/>
                  <a:pt x="0" y="718272"/>
                </a:cubicBezTo>
                <a:lnTo>
                  <a:pt x="0" y="74628"/>
                </a:lnTo>
                <a:cubicBezTo>
                  <a:pt x="0" y="33412"/>
                  <a:pt x="33412" y="0"/>
                  <a:pt x="74628" y="0"/>
                </a:cubicBezTo>
                <a:close/>
              </a:path>
            </a:pathLst>
          </a:custGeom>
          <a:solidFill>
            <a:srgbClr val="E74C3C">
              <a:alpha val="5098"/>
            </a:srgbClr>
          </a:solidFill>
          <a:ln w="12700">
            <a:solidFill>
              <a:srgbClr val="E74C3C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78835" y="4416918"/>
            <a:ext cx="298503" cy="298503"/>
          </a:xfrm>
          <a:custGeom>
            <a:avLst/>
            <a:gdLst/>
            <a:ahLst/>
            <a:cxnLst/>
            <a:rect l="l" t="t" r="r" b="b"/>
            <a:pathLst>
              <a:path w="298503" h="298503">
                <a:moveTo>
                  <a:pt x="149252" y="0"/>
                </a:moveTo>
                <a:lnTo>
                  <a:pt x="149252" y="0"/>
                </a:lnTo>
                <a:cubicBezTo>
                  <a:pt x="231681" y="0"/>
                  <a:pt x="298503" y="66822"/>
                  <a:pt x="298503" y="149252"/>
                </a:cubicBezTo>
                <a:lnTo>
                  <a:pt x="298503" y="149252"/>
                </a:lnTo>
                <a:cubicBezTo>
                  <a:pt x="298503" y="231681"/>
                  <a:pt x="231681" y="298503"/>
                  <a:pt x="149252" y="298503"/>
                </a:cubicBezTo>
                <a:lnTo>
                  <a:pt x="149252" y="298503"/>
                </a:lnTo>
                <a:cubicBezTo>
                  <a:pt x="66822" y="298503"/>
                  <a:pt x="0" y="231681"/>
                  <a:pt x="0" y="149252"/>
                </a:cubicBezTo>
                <a:lnTo>
                  <a:pt x="0" y="149252"/>
                </a:lnTo>
                <a:cubicBezTo>
                  <a:pt x="0" y="66822"/>
                  <a:pt x="66822" y="0"/>
                  <a:pt x="149252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54" name="Text 52"/>
          <p:cNvSpPr/>
          <p:nvPr/>
        </p:nvSpPr>
        <p:spPr>
          <a:xfrm>
            <a:off x="9146186" y="4416918"/>
            <a:ext cx="363801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4</a:t>
            </a:r>
            <a:endParaRPr lang="en-US" sz="1600" dirty="0">
              <a:latin typeface="+mn-ea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551964" y="4454231"/>
            <a:ext cx="1035434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Performance</a:t>
            </a:r>
            <a:endParaRPr lang="en-US" sz="1600" dirty="0">
              <a:latin typeface="+mn-ea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178835" y="4790047"/>
            <a:ext cx="2360043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是否带来性能变化</a:t>
            </a:r>
            <a:endParaRPr lang="en-US" sz="1600" dirty="0">
              <a:latin typeface="+mn-ea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187679" y="5489664"/>
            <a:ext cx="5624924" cy="1343265"/>
          </a:xfrm>
          <a:custGeom>
            <a:avLst/>
            <a:gdLst/>
            <a:ahLst/>
            <a:cxnLst/>
            <a:rect l="l" t="t" r="r" b="b"/>
            <a:pathLst>
              <a:path w="5624924" h="1343265">
                <a:moveTo>
                  <a:pt x="111934" y="0"/>
                </a:moveTo>
                <a:lnTo>
                  <a:pt x="5512990" y="0"/>
                </a:lnTo>
                <a:cubicBezTo>
                  <a:pt x="5574810" y="0"/>
                  <a:pt x="5624924" y="50115"/>
                  <a:pt x="5624924" y="111934"/>
                </a:cubicBezTo>
                <a:lnTo>
                  <a:pt x="5624924" y="1231331"/>
                </a:lnTo>
                <a:cubicBezTo>
                  <a:pt x="5624924" y="1293151"/>
                  <a:pt x="5574810" y="1343265"/>
                  <a:pt x="5512990" y="1343265"/>
                </a:cubicBezTo>
                <a:lnTo>
                  <a:pt x="111934" y="1343265"/>
                </a:lnTo>
                <a:cubicBezTo>
                  <a:pt x="50115" y="1343265"/>
                  <a:pt x="0" y="1293151"/>
                  <a:pt x="0" y="1231331"/>
                </a:cubicBezTo>
                <a:lnTo>
                  <a:pt x="0" y="111934"/>
                </a:lnTo>
                <a:cubicBezTo>
                  <a:pt x="0" y="50156"/>
                  <a:pt x="50156" y="0"/>
                  <a:pt x="111934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8" name="Shape 56"/>
          <p:cNvSpPr/>
          <p:nvPr/>
        </p:nvSpPr>
        <p:spPr>
          <a:xfrm>
            <a:off x="6408059" y="5741527"/>
            <a:ext cx="146920" cy="167908"/>
          </a:xfrm>
          <a:custGeom>
            <a:avLst/>
            <a:gdLst/>
            <a:ahLst/>
            <a:cxnLst/>
            <a:rect l="l" t="t" r="r" b="b"/>
            <a:pathLst>
              <a:path w="146920" h="167908">
                <a:moveTo>
                  <a:pt x="94448" y="0"/>
                </a:moveTo>
                <a:lnTo>
                  <a:pt x="41977" y="0"/>
                </a:lnTo>
                <a:cubicBezTo>
                  <a:pt x="36172" y="0"/>
                  <a:pt x="31483" y="4690"/>
                  <a:pt x="31483" y="10494"/>
                </a:cubicBezTo>
                <a:cubicBezTo>
                  <a:pt x="31483" y="16299"/>
                  <a:pt x="36172" y="20989"/>
                  <a:pt x="41977" y="20989"/>
                </a:cubicBezTo>
                <a:lnTo>
                  <a:pt x="41977" y="70672"/>
                </a:lnTo>
                <a:lnTo>
                  <a:pt x="2460" y="139803"/>
                </a:lnTo>
                <a:cubicBezTo>
                  <a:pt x="853" y="142656"/>
                  <a:pt x="0" y="145837"/>
                  <a:pt x="0" y="149117"/>
                </a:cubicBezTo>
                <a:cubicBezTo>
                  <a:pt x="0" y="159513"/>
                  <a:pt x="8395" y="167908"/>
                  <a:pt x="18791" y="167908"/>
                </a:cubicBezTo>
                <a:lnTo>
                  <a:pt x="128128" y="167908"/>
                </a:lnTo>
                <a:cubicBezTo>
                  <a:pt x="138491" y="167908"/>
                  <a:pt x="146920" y="159513"/>
                  <a:pt x="146920" y="149117"/>
                </a:cubicBezTo>
                <a:cubicBezTo>
                  <a:pt x="146920" y="145837"/>
                  <a:pt x="146067" y="142624"/>
                  <a:pt x="144460" y="139803"/>
                </a:cubicBezTo>
                <a:lnTo>
                  <a:pt x="104943" y="70672"/>
                </a:lnTo>
                <a:lnTo>
                  <a:pt x="104943" y="20989"/>
                </a:lnTo>
                <a:cubicBezTo>
                  <a:pt x="110747" y="20989"/>
                  <a:pt x="115437" y="16299"/>
                  <a:pt x="115437" y="10494"/>
                </a:cubicBezTo>
                <a:cubicBezTo>
                  <a:pt x="115437" y="4690"/>
                  <a:pt x="110747" y="0"/>
                  <a:pt x="104943" y="0"/>
                </a:cubicBezTo>
                <a:lnTo>
                  <a:pt x="94448" y="0"/>
                </a:lnTo>
                <a:close/>
                <a:moveTo>
                  <a:pt x="62966" y="70672"/>
                </a:moveTo>
                <a:lnTo>
                  <a:pt x="62966" y="20989"/>
                </a:lnTo>
                <a:lnTo>
                  <a:pt x="83954" y="20989"/>
                </a:lnTo>
                <a:lnTo>
                  <a:pt x="83954" y="70672"/>
                </a:lnTo>
                <a:cubicBezTo>
                  <a:pt x="83954" y="74312"/>
                  <a:pt x="84905" y="77920"/>
                  <a:pt x="86709" y="81101"/>
                </a:cubicBezTo>
                <a:lnTo>
                  <a:pt x="100351" y="104943"/>
                </a:lnTo>
                <a:lnTo>
                  <a:pt x="46568" y="104943"/>
                </a:lnTo>
                <a:lnTo>
                  <a:pt x="60211" y="81101"/>
                </a:lnTo>
                <a:cubicBezTo>
                  <a:pt x="62015" y="77920"/>
                  <a:pt x="62966" y="74345"/>
                  <a:pt x="62966" y="70672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59" name="Text 57"/>
          <p:cNvSpPr/>
          <p:nvPr/>
        </p:nvSpPr>
        <p:spPr>
          <a:xfrm>
            <a:off x="6696068" y="5694886"/>
            <a:ext cx="76491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rgbClr val="FFFFFF"/>
                </a:solidFill>
                <a:latin typeface="+mn-ea"/>
                <a:cs typeface="MiSans" pitchFamily="34" charset="-120"/>
              </a:rPr>
              <a:t>实验设置</a:t>
            </a:r>
            <a:endParaRPr lang="en-US" sz="1600" dirty="0">
              <a:latin typeface="+mn-ea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374244" y="6068015"/>
            <a:ext cx="1744379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CF0F1">
                    <a:alpha val="70000"/>
                  </a:srgbClr>
                </a:solidFill>
                <a:latin typeface="+mn-ea"/>
                <a:cs typeface="Noto Sans SC" pitchFamily="34" charset="-120"/>
              </a:rPr>
              <a:t>模型家族</a:t>
            </a:r>
            <a:endParaRPr lang="en-US" sz="1600" dirty="0">
              <a:latin typeface="+mn-ea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374244" y="6291893"/>
            <a:ext cx="1744379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llama-3b, qwen-3b, qwen-7b</a:t>
            </a:r>
            <a:endParaRPr lang="en-US" sz="1600" dirty="0">
              <a:latin typeface="+mn-ea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163078" y="6068015"/>
            <a:ext cx="1744379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CF0F1">
                    <a:alpha val="70000"/>
                  </a:srgbClr>
                </a:solidFill>
                <a:latin typeface="+mn-ea"/>
                <a:cs typeface="Noto Sans SC" pitchFamily="34" charset="-120"/>
              </a:rPr>
              <a:t>维度对照</a:t>
            </a:r>
            <a:endParaRPr lang="en-US" sz="1600" dirty="0">
              <a:latin typeface="+mn-ea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163078" y="6291893"/>
            <a:ext cx="1744379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E/I, N/S, F/T, J/P</a:t>
            </a:r>
            <a:endParaRPr lang="en-US" sz="1600" dirty="0">
              <a:latin typeface="+mn-ea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952058" y="6068015"/>
            <a:ext cx="1744379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ECF0F1">
                    <a:alpha val="70000"/>
                  </a:srgbClr>
                </a:solidFill>
                <a:latin typeface="+mn-ea"/>
                <a:cs typeface="Noto Sans SC" pitchFamily="34" charset="-120"/>
              </a:rPr>
              <a:t>数据集</a:t>
            </a:r>
            <a:endParaRPr lang="en-US" sz="1600" dirty="0">
              <a:latin typeface="+mn-ea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952058" y="6291893"/>
            <a:ext cx="1744379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6个跨域数据集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094" y="348094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69619" y="0"/>
                </a:moveTo>
                <a:lnTo>
                  <a:pt x="278475" y="0"/>
                </a:lnTo>
                <a:cubicBezTo>
                  <a:pt x="316899" y="0"/>
                  <a:pt x="348094" y="31195"/>
                  <a:pt x="348094" y="69619"/>
                </a:cubicBezTo>
                <a:lnTo>
                  <a:pt x="348094" y="278475"/>
                </a:lnTo>
                <a:cubicBezTo>
                  <a:pt x="348094" y="316925"/>
                  <a:pt x="316925" y="348094"/>
                  <a:pt x="278475" y="348094"/>
                </a:cubicBezTo>
                <a:lnTo>
                  <a:pt x="69619" y="348094"/>
                </a:lnTo>
                <a:cubicBezTo>
                  <a:pt x="31195" y="348094"/>
                  <a:pt x="0" y="316899"/>
                  <a:pt x="0" y="278475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308934" y="348094"/>
            <a:ext cx="426415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02</a:t>
            </a:r>
            <a:endParaRPr lang="en-US" sz="16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00617" y="348094"/>
            <a:ext cx="3350407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两极化偏移：核心发现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0617" y="765807"/>
            <a:ext cx="696188" cy="34809"/>
          </a:xfrm>
          <a:custGeom>
            <a:avLst/>
            <a:gdLst/>
            <a:ahLst/>
            <a:cxnLst/>
            <a:rect l="l" t="t" r="r" b="b"/>
            <a:pathLst>
              <a:path w="696188" h="34809">
                <a:moveTo>
                  <a:pt x="0" y="0"/>
                </a:moveTo>
                <a:lnTo>
                  <a:pt x="696188" y="0"/>
                </a:lnTo>
                <a:lnTo>
                  <a:pt x="696188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348094" y="974664"/>
            <a:ext cx="7614561" cy="2575897"/>
          </a:xfrm>
          <a:custGeom>
            <a:avLst/>
            <a:gdLst/>
            <a:ahLst/>
            <a:cxnLst/>
            <a:rect l="l" t="t" r="r" b="b"/>
            <a:pathLst>
              <a:path w="7614561" h="2575897">
                <a:moveTo>
                  <a:pt x="104427" y="0"/>
                </a:moveTo>
                <a:lnTo>
                  <a:pt x="7510134" y="0"/>
                </a:lnTo>
                <a:cubicBezTo>
                  <a:pt x="7567808" y="0"/>
                  <a:pt x="7614561" y="46754"/>
                  <a:pt x="7614561" y="104427"/>
                </a:cubicBezTo>
                <a:lnTo>
                  <a:pt x="7614561" y="2471470"/>
                </a:lnTo>
                <a:cubicBezTo>
                  <a:pt x="7614561" y="2529144"/>
                  <a:pt x="7567808" y="2575897"/>
                  <a:pt x="7510134" y="2575897"/>
                </a:cubicBezTo>
                <a:lnTo>
                  <a:pt x="104427" y="2575897"/>
                </a:lnTo>
                <a:cubicBezTo>
                  <a:pt x="46754" y="2575897"/>
                  <a:pt x="0" y="2529144"/>
                  <a:pt x="0" y="2471470"/>
                </a:cubicBezTo>
                <a:lnTo>
                  <a:pt x="0" y="104427"/>
                </a:lnTo>
                <a:cubicBezTo>
                  <a:pt x="0" y="46792"/>
                  <a:pt x="46792" y="0"/>
                  <a:pt x="1044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214" dist="3480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3897" y="1183520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70852" y="51194"/>
                </a:moveTo>
                <a:lnTo>
                  <a:pt x="138218" y="83828"/>
                </a:lnTo>
                <a:cubicBezTo>
                  <a:pt x="135090" y="86956"/>
                  <a:pt x="130433" y="87873"/>
                  <a:pt x="126354" y="86174"/>
                </a:cubicBezTo>
                <a:cubicBezTo>
                  <a:pt x="122275" y="84474"/>
                  <a:pt x="119657" y="80531"/>
                  <a:pt x="119657" y="76146"/>
                </a:cubicBezTo>
                <a:lnTo>
                  <a:pt x="119657" y="54390"/>
                </a:lnTo>
                <a:lnTo>
                  <a:pt x="10878" y="54390"/>
                </a:lnTo>
                <a:cubicBezTo>
                  <a:pt x="4861" y="54390"/>
                  <a:pt x="0" y="49529"/>
                  <a:pt x="0" y="43512"/>
                </a:cubicBezTo>
                <a:cubicBezTo>
                  <a:pt x="0" y="37495"/>
                  <a:pt x="4861" y="32634"/>
                  <a:pt x="10878" y="32634"/>
                </a:cubicBezTo>
                <a:lnTo>
                  <a:pt x="119657" y="32634"/>
                </a:lnTo>
                <a:lnTo>
                  <a:pt x="119657" y="10878"/>
                </a:lnTo>
                <a:cubicBezTo>
                  <a:pt x="119657" y="6493"/>
                  <a:pt x="122309" y="2516"/>
                  <a:pt x="126388" y="816"/>
                </a:cubicBezTo>
                <a:cubicBezTo>
                  <a:pt x="130467" y="-884"/>
                  <a:pt x="135124" y="68"/>
                  <a:pt x="138252" y="3161"/>
                </a:cubicBezTo>
                <a:lnTo>
                  <a:pt x="170886" y="35795"/>
                </a:lnTo>
                <a:cubicBezTo>
                  <a:pt x="175135" y="40044"/>
                  <a:pt x="175135" y="46945"/>
                  <a:pt x="170886" y="51194"/>
                </a:cubicBezTo>
                <a:close/>
                <a:moveTo>
                  <a:pt x="35795" y="170852"/>
                </a:moveTo>
                <a:lnTo>
                  <a:pt x="3161" y="138218"/>
                </a:lnTo>
                <a:cubicBezTo>
                  <a:pt x="-1088" y="133969"/>
                  <a:pt x="-1088" y="127068"/>
                  <a:pt x="3161" y="122819"/>
                </a:cubicBezTo>
                <a:lnTo>
                  <a:pt x="35795" y="90185"/>
                </a:lnTo>
                <a:cubicBezTo>
                  <a:pt x="38923" y="87058"/>
                  <a:pt x="43580" y="86140"/>
                  <a:pt x="47659" y="87839"/>
                </a:cubicBezTo>
                <a:cubicBezTo>
                  <a:pt x="51738" y="89539"/>
                  <a:pt x="54390" y="93516"/>
                  <a:pt x="54390" y="97901"/>
                </a:cubicBezTo>
                <a:lnTo>
                  <a:pt x="54390" y="119657"/>
                </a:lnTo>
                <a:lnTo>
                  <a:pt x="163169" y="119657"/>
                </a:lnTo>
                <a:cubicBezTo>
                  <a:pt x="169186" y="119657"/>
                  <a:pt x="174047" y="124518"/>
                  <a:pt x="174047" y="130535"/>
                </a:cubicBezTo>
                <a:cubicBezTo>
                  <a:pt x="174047" y="136552"/>
                  <a:pt x="169186" y="141413"/>
                  <a:pt x="163169" y="141413"/>
                </a:cubicBezTo>
                <a:lnTo>
                  <a:pt x="54390" y="141413"/>
                </a:lnTo>
                <a:lnTo>
                  <a:pt x="54390" y="163169"/>
                </a:lnTo>
                <a:cubicBezTo>
                  <a:pt x="54390" y="167554"/>
                  <a:pt x="51738" y="171532"/>
                  <a:pt x="47659" y="173231"/>
                </a:cubicBezTo>
                <a:cubicBezTo>
                  <a:pt x="43580" y="174931"/>
                  <a:pt x="38923" y="173979"/>
                  <a:pt x="35795" y="170886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844128" y="1148711"/>
            <a:ext cx="133146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两极化偏移定义</a:t>
            </a:r>
            <a:endParaRPr lang="en-US" sz="1600" dirty="0">
              <a:latin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2141" y="1531615"/>
            <a:ext cx="7266467" cy="1061687"/>
          </a:xfrm>
          <a:custGeom>
            <a:avLst/>
            <a:gdLst/>
            <a:ahLst/>
            <a:cxnLst/>
            <a:rect l="l" t="t" r="r" b="b"/>
            <a:pathLst>
              <a:path w="7266467" h="1061687">
                <a:moveTo>
                  <a:pt x="69615" y="0"/>
                </a:moveTo>
                <a:lnTo>
                  <a:pt x="7196852" y="0"/>
                </a:lnTo>
                <a:cubicBezTo>
                  <a:pt x="7235299" y="0"/>
                  <a:pt x="7266467" y="31168"/>
                  <a:pt x="7266467" y="69615"/>
                </a:cubicBezTo>
                <a:lnTo>
                  <a:pt x="7266467" y="992073"/>
                </a:lnTo>
                <a:cubicBezTo>
                  <a:pt x="7266467" y="1030520"/>
                  <a:pt x="7235299" y="1061687"/>
                  <a:pt x="7196852" y="1061687"/>
                </a:cubicBezTo>
                <a:lnTo>
                  <a:pt x="69615" y="1061687"/>
                </a:lnTo>
                <a:cubicBezTo>
                  <a:pt x="31168" y="1061687"/>
                  <a:pt x="0" y="1030520"/>
                  <a:pt x="0" y="992073"/>
                </a:cubicBezTo>
                <a:lnTo>
                  <a:pt x="0" y="69615"/>
                </a:lnTo>
                <a:cubicBezTo>
                  <a:pt x="0" y="31193"/>
                  <a:pt x="31193" y="0"/>
                  <a:pt x="6961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26570" y="1636043"/>
            <a:ext cx="712722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情绪轴标量定义</a:t>
            </a:r>
            <a:endParaRPr lang="en-US" sz="1600" dirty="0"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921" y="1918869"/>
            <a:ext cx="7048908" cy="604813"/>
          </a:xfrm>
          <a:custGeom>
            <a:avLst/>
            <a:gdLst/>
            <a:ahLst/>
            <a:cxnLst/>
            <a:rect l="l" t="t" r="r" b="b"/>
            <a:pathLst>
              <a:path w="7048908" h="321987">
                <a:moveTo>
                  <a:pt x="34810" y="0"/>
                </a:moveTo>
                <a:lnTo>
                  <a:pt x="7014098" y="0"/>
                </a:lnTo>
                <a:cubicBezTo>
                  <a:pt x="7033323" y="0"/>
                  <a:pt x="7048908" y="15585"/>
                  <a:pt x="7048908" y="34810"/>
                </a:cubicBezTo>
                <a:lnTo>
                  <a:pt x="7048908" y="287177"/>
                </a:lnTo>
                <a:cubicBezTo>
                  <a:pt x="7048908" y="306402"/>
                  <a:pt x="7033323" y="321987"/>
                  <a:pt x="7014098" y="321987"/>
                </a:cubicBezTo>
                <a:lnTo>
                  <a:pt x="34810" y="321987"/>
                </a:lnTo>
                <a:cubicBezTo>
                  <a:pt x="15598" y="321987"/>
                  <a:pt x="0" y="306389"/>
                  <a:pt x="0" y="287177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570" y="1914518"/>
            <a:ext cx="7101122" cy="609164"/>
          </a:xfrm>
          <a:prstGeom prst="rect">
            <a:avLst/>
          </a:prstGeom>
          <a:noFill/>
          <a:ln/>
        </p:spPr>
        <p:txBody>
          <a:bodyPr wrap="square" lIns="69619" tIns="69619" rIns="69619" bIns="69619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5D6D7E"/>
                </a:solidFill>
                <a:latin typeface="+mn-ea"/>
              </a:rPr>
              <a:t>s = p(正向) - p(</a:t>
            </a:r>
            <a:r>
              <a:rPr lang="en-US" sz="1600" dirty="0" err="1">
                <a:solidFill>
                  <a:srgbClr val="5D6D7E"/>
                </a:solidFill>
                <a:latin typeface="+mn-ea"/>
              </a:rPr>
              <a:t>负向</a:t>
            </a:r>
            <a:r>
              <a:rPr lang="en-US" sz="1600" dirty="0">
                <a:solidFill>
                  <a:srgbClr val="5D6D7E"/>
                </a:solidFill>
                <a:latin typeface="+mn-ea"/>
              </a:rPr>
              <a:t>)</a:t>
            </a:r>
            <a:br>
              <a:rPr lang="en-US" sz="959" dirty="0">
                <a:solidFill>
                  <a:srgbClr val="2C3E50"/>
                </a:solidFill>
                <a:latin typeface="+mn-ea"/>
                <a:cs typeface="MiSans" pitchFamily="34" charset="-120"/>
              </a:rPr>
            </a:br>
            <a:r>
              <a:rPr lang="en-US" altLang="zh-CN" sz="1600" dirty="0" err="1">
                <a:solidFill>
                  <a:srgbClr val="5D6D7E"/>
                </a:solidFill>
                <a:latin typeface="+mn-ea"/>
                <a:cs typeface="Noto Sans SC" pitchFamily="34" charset="-120"/>
              </a:rPr>
              <a:t>Δs</a:t>
            </a:r>
            <a:r>
              <a:rPr lang="en-US" altLang="zh-CN" sz="16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 = </a:t>
            </a:r>
            <a:r>
              <a:rPr lang="en-US" altLang="zh-CN" sz="1600" dirty="0" err="1">
                <a:solidFill>
                  <a:srgbClr val="5D6D7E"/>
                </a:solidFill>
                <a:latin typeface="+mn-ea"/>
                <a:cs typeface="Noto Sans SC" pitchFamily="34" charset="-120"/>
              </a:rPr>
              <a:t>s</a:t>
            </a:r>
            <a:r>
              <a:rPr lang="en-US" altLang="zh-CN" sz="800" dirty="0" err="1">
                <a:solidFill>
                  <a:srgbClr val="5D6D7E"/>
                </a:solidFill>
                <a:latin typeface="+mn-ea"/>
                <a:cs typeface="Noto Sans SC" pitchFamily="34" charset="-120"/>
              </a:rPr>
              <a:t>tuned</a:t>
            </a:r>
            <a:r>
              <a:rPr lang="en-US" altLang="zh-CN" sz="16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 - </a:t>
            </a:r>
            <a:r>
              <a:rPr lang="en-US" altLang="zh-CN" sz="1600" dirty="0" err="1">
                <a:solidFill>
                  <a:srgbClr val="5D6D7E"/>
                </a:solidFill>
                <a:latin typeface="+mn-ea"/>
                <a:cs typeface="Noto Sans SC" pitchFamily="34" charset="-120"/>
              </a:rPr>
              <a:t>s</a:t>
            </a:r>
            <a:r>
              <a:rPr lang="en-US" altLang="zh-CN" sz="800" dirty="0" err="1">
                <a:solidFill>
                  <a:srgbClr val="5D6D7E"/>
                </a:solidFill>
                <a:latin typeface="+mn-ea"/>
                <a:cs typeface="Noto Sans SC" pitchFamily="34" charset="-120"/>
              </a:rPr>
              <a:t>base</a:t>
            </a:r>
            <a:endParaRPr lang="en-US" altLang="zh-CN" sz="32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570" y="2314827"/>
            <a:ext cx="711852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6493" y="2702081"/>
            <a:ext cx="7257764" cy="670081"/>
          </a:xfrm>
          <a:custGeom>
            <a:avLst/>
            <a:gdLst/>
            <a:ahLst/>
            <a:cxnLst/>
            <a:rect l="l" t="t" r="r" b="b"/>
            <a:pathLst>
              <a:path w="7257764" h="670081">
                <a:moveTo>
                  <a:pt x="69621" y="0"/>
                </a:moveTo>
                <a:lnTo>
                  <a:pt x="7188143" y="0"/>
                </a:lnTo>
                <a:cubicBezTo>
                  <a:pt x="7226594" y="0"/>
                  <a:pt x="7257764" y="31171"/>
                  <a:pt x="7257764" y="69621"/>
                </a:cubicBezTo>
                <a:lnTo>
                  <a:pt x="7257764" y="600460"/>
                </a:lnTo>
                <a:cubicBezTo>
                  <a:pt x="7257764" y="638911"/>
                  <a:pt x="7226594" y="670081"/>
                  <a:pt x="7188143" y="670081"/>
                </a:cubicBezTo>
                <a:lnTo>
                  <a:pt x="69621" y="670081"/>
                </a:lnTo>
                <a:cubicBezTo>
                  <a:pt x="31171" y="670081"/>
                  <a:pt x="0" y="638911"/>
                  <a:pt x="0" y="600460"/>
                </a:cubicBezTo>
                <a:lnTo>
                  <a:pt x="0" y="69621"/>
                </a:lnTo>
                <a:cubicBezTo>
                  <a:pt x="0" y="31171"/>
                  <a:pt x="31171" y="0"/>
                  <a:pt x="69621" y="0"/>
                </a:cubicBezTo>
                <a:close/>
              </a:path>
            </a:pathLst>
          </a:custGeom>
          <a:solidFill>
            <a:srgbClr val="E74C3C">
              <a:alpha val="5098"/>
            </a:srgbClr>
          </a:solidFill>
          <a:ln w="12700">
            <a:solidFill>
              <a:srgbClr val="E74C3C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272" y="2810861"/>
            <a:ext cx="710982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两极化偏移判定</a:t>
            </a:r>
            <a:endParaRPr lang="en-US" sz="160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272" y="3089336"/>
            <a:ext cx="710112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若同一维度两端模型的Δs符号相反，则称为两极化偏移</a:t>
            </a:r>
            <a:endParaRPr lang="en-US" sz="1600" dirty="0">
              <a:latin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04069" y="974664"/>
            <a:ext cx="3742013" cy="2575897"/>
          </a:xfrm>
          <a:custGeom>
            <a:avLst/>
            <a:gdLst/>
            <a:ahLst/>
            <a:cxnLst/>
            <a:rect l="l" t="t" r="r" b="b"/>
            <a:pathLst>
              <a:path w="3742013" h="2575897">
                <a:moveTo>
                  <a:pt x="104427" y="0"/>
                </a:moveTo>
                <a:lnTo>
                  <a:pt x="3637586" y="0"/>
                </a:lnTo>
                <a:cubicBezTo>
                  <a:pt x="3695259" y="0"/>
                  <a:pt x="3742013" y="46754"/>
                  <a:pt x="3742013" y="104427"/>
                </a:cubicBezTo>
                <a:lnTo>
                  <a:pt x="3742013" y="2471470"/>
                </a:lnTo>
                <a:cubicBezTo>
                  <a:pt x="3742013" y="2529144"/>
                  <a:pt x="3695259" y="2575897"/>
                  <a:pt x="3637586" y="2575897"/>
                </a:cubicBezTo>
                <a:lnTo>
                  <a:pt x="104427" y="2575897"/>
                </a:lnTo>
                <a:cubicBezTo>
                  <a:pt x="46754" y="2575897"/>
                  <a:pt x="0" y="2529144"/>
                  <a:pt x="0" y="2471470"/>
                </a:cubicBezTo>
                <a:lnTo>
                  <a:pt x="0" y="104427"/>
                </a:lnTo>
                <a:cubicBezTo>
                  <a:pt x="0" y="46792"/>
                  <a:pt x="46792" y="0"/>
                  <a:pt x="104427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8" name="Shape 16"/>
          <p:cNvSpPr/>
          <p:nvPr/>
        </p:nvSpPr>
        <p:spPr>
          <a:xfrm>
            <a:off x="9855961" y="1653448"/>
            <a:ext cx="234964" cy="313285"/>
          </a:xfrm>
          <a:custGeom>
            <a:avLst/>
            <a:gdLst/>
            <a:ahLst/>
            <a:cxnLst/>
            <a:rect l="l" t="t" r="r" b="b"/>
            <a:pathLst>
              <a:path w="234964" h="313285">
                <a:moveTo>
                  <a:pt x="179221" y="234964"/>
                </a:moveTo>
                <a:cubicBezTo>
                  <a:pt x="183688" y="221319"/>
                  <a:pt x="192621" y="208959"/>
                  <a:pt x="202717" y="198312"/>
                </a:cubicBezTo>
                <a:cubicBezTo>
                  <a:pt x="222726" y="177263"/>
                  <a:pt x="234964" y="148810"/>
                  <a:pt x="234964" y="117482"/>
                </a:cubicBezTo>
                <a:cubicBezTo>
                  <a:pt x="234964" y="52622"/>
                  <a:pt x="182342" y="0"/>
                  <a:pt x="117482" y="0"/>
                </a:cubicBezTo>
                <a:cubicBezTo>
                  <a:pt x="52622" y="0"/>
                  <a:pt x="0" y="52622"/>
                  <a:pt x="0" y="117482"/>
                </a:cubicBezTo>
                <a:cubicBezTo>
                  <a:pt x="0" y="148810"/>
                  <a:pt x="12238" y="177263"/>
                  <a:pt x="32246" y="198312"/>
                </a:cubicBezTo>
                <a:cubicBezTo>
                  <a:pt x="42342" y="208959"/>
                  <a:pt x="51337" y="221319"/>
                  <a:pt x="55743" y="234964"/>
                </a:cubicBezTo>
                <a:lnTo>
                  <a:pt x="179160" y="234964"/>
                </a:lnTo>
                <a:close/>
                <a:moveTo>
                  <a:pt x="176223" y="264334"/>
                </a:moveTo>
                <a:lnTo>
                  <a:pt x="58741" y="264334"/>
                </a:lnTo>
                <a:lnTo>
                  <a:pt x="58741" y="274124"/>
                </a:lnTo>
                <a:cubicBezTo>
                  <a:pt x="58741" y="301169"/>
                  <a:pt x="80646" y="323075"/>
                  <a:pt x="107692" y="323075"/>
                </a:cubicBezTo>
                <a:lnTo>
                  <a:pt x="127272" y="323075"/>
                </a:lnTo>
                <a:cubicBezTo>
                  <a:pt x="154317" y="323075"/>
                  <a:pt x="176223" y="301169"/>
                  <a:pt x="176223" y="274124"/>
                </a:cubicBezTo>
                <a:lnTo>
                  <a:pt x="176223" y="264334"/>
                </a:lnTo>
                <a:close/>
                <a:moveTo>
                  <a:pt x="112587" y="68531"/>
                </a:moveTo>
                <a:cubicBezTo>
                  <a:pt x="88234" y="68531"/>
                  <a:pt x="68531" y="88234"/>
                  <a:pt x="68531" y="112587"/>
                </a:cubicBezTo>
                <a:cubicBezTo>
                  <a:pt x="68531" y="120725"/>
                  <a:pt x="61984" y="127272"/>
                  <a:pt x="53846" y="127272"/>
                </a:cubicBezTo>
                <a:cubicBezTo>
                  <a:pt x="45708" y="127272"/>
                  <a:pt x="39161" y="120725"/>
                  <a:pt x="39161" y="112587"/>
                </a:cubicBezTo>
                <a:cubicBezTo>
                  <a:pt x="39161" y="72019"/>
                  <a:pt x="72019" y="39161"/>
                  <a:pt x="112587" y="39161"/>
                </a:cubicBezTo>
                <a:cubicBezTo>
                  <a:pt x="120725" y="39161"/>
                  <a:pt x="127272" y="45708"/>
                  <a:pt x="127272" y="53846"/>
                </a:cubicBezTo>
                <a:cubicBezTo>
                  <a:pt x="127272" y="61984"/>
                  <a:pt x="120725" y="68531"/>
                  <a:pt x="112587" y="6853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34604" y="2071161"/>
            <a:ext cx="348094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核心结论</a:t>
            </a:r>
            <a:endParaRPr lang="en-US" sz="1600" dirty="0">
              <a:latin typeface="+mn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43306" y="2419255"/>
            <a:ext cx="3463537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96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两极化偏移在四个维度</a:t>
            </a:r>
            <a:r>
              <a:rPr lang="en-US" sz="1096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普遍存在</a:t>
            </a:r>
            <a:r>
              <a:rPr lang="en-US" sz="1096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，但稳定性存在</a:t>
            </a:r>
            <a:r>
              <a:rPr lang="en-US" sz="1096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显著差异</a:t>
            </a:r>
            <a:endParaRPr lang="en-US" sz="1600" dirty="0">
              <a:latin typeface="+mn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48094" y="3689799"/>
            <a:ext cx="11495812" cy="3167657"/>
          </a:xfrm>
          <a:custGeom>
            <a:avLst/>
            <a:gdLst/>
            <a:ahLst/>
            <a:cxnLst/>
            <a:rect l="l" t="t" r="r" b="b"/>
            <a:pathLst>
              <a:path w="11495812" h="3167657">
                <a:moveTo>
                  <a:pt x="104438" y="0"/>
                </a:moveTo>
                <a:lnTo>
                  <a:pt x="11391374" y="0"/>
                </a:lnTo>
                <a:cubicBezTo>
                  <a:pt x="11449053" y="0"/>
                  <a:pt x="11495812" y="46758"/>
                  <a:pt x="11495812" y="104438"/>
                </a:cubicBezTo>
                <a:lnTo>
                  <a:pt x="11495812" y="3063220"/>
                </a:lnTo>
                <a:cubicBezTo>
                  <a:pt x="11495812" y="3120899"/>
                  <a:pt x="11449053" y="3167657"/>
                  <a:pt x="11391374" y="3167657"/>
                </a:cubicBezTo>
                <a:lnTo>
                  <a:pt x="104438" y="3167657"/>
                </a:lnTo>
                <a:cubicBezTo>
                  <a:pt x="46758" y="3167657"/>
                  <a:pt x="0" y="3120899"/>
                  <a:pt x="0" y="3063220"/>
                </a:cubicBezTo>
                <a:lnTo>
                  <a:pt x="0" y="104438"/>
                </a:lnTo>
                <a:cubicBezTo>
                  <a:pt x="0" y="46797"/>
                  <a:pt x="46797" y="0"/>
                  <a:pt x="10443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214" dist="3480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897" y="3898655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0878" y="10878"/>
                </a:moveTo>
                <a:cubicBezTo>
                  <a:pt x="16895" y="10878"/>
                  <a:pt x="21756" y="15739"/>
                  <a:pt x="21756" y="21756"/>
                </a:cubicBezTo>
                <a:lnTo>
                  <a:pt x="21756" y="135974"/>
                </a:lnTo>
                <a:cubicBezTo>
                  <a:pt x="21756" y="138966"/>
                  <a:pt x="24203" y="141413"/>
                  <a:pt x="27195" y="141413"/>
                </a:cubicBezTo>
                <a:lnTo>
                  <a:pt x="163169" y="141413"/>
                </a:lnTo>
                <a:cubicBezTo>
                  <a:pt x="169186" y="141413"/>
                  <a:pt x="174047" y="146274"/>
                  <a:pt x="174047" y="152291"/>
                </a:cubicBezTo>
                <a:cubicBezTo>
                  <a:pt x="174047" y="158308"/>
                  <a:pt x="169186" y="163169"/>
                  <a:pt x="163169" y="163169"/>
                </a:cubicBezTo>
                <a:lnTo>
                  <a:pt x="27195" y="163169"/>
                </a:lnTo>
                <a:cubicBezTo>
                  <a:pt x="12170" y="163169"/>
                  <a:pt x="0" y="150999"/>
                  <a:pt x="0" y="135974"/>
                </a:cubicBezTo>
                <a:lnTo>
                  <a:pt x="0" y="21756"/>
                </a:lnTo>
                <a:cubicBezTo>
                  <a:pt x="0" y="15739"/>
                  <a:pt x="4861" y="10878"/>
                  <a:pt x="10878" y="10878"/>
                </a:cubicBezTo>
                <a:close/>
                <a:moveTo>
                  <a:pt x="43512" y="32634"/>
                </a:moveTo>
                <a:cubicBezTo>
                  <a:pt x="43512" y="26617"/>
                  <a:pt x="48373" y="21756"/>
                  <a:pt x="54390" y="21756"/>
                </a:cubicBezTo>
                <a:lnTo>
                  <a:pt x="119657" y="21756"/>
                </a:lnTo>
                <a:cubicBezTo>
                  <a:pt x="125674" y="21756"/>
                  <a:pt x="130535" y="26617"/>
                  <a:pt x="130535" y="32634"/>
                </a:cubicBezTo>
                <a:cubicBezTo>
                  <a:pt x="130535" y="38651"/>
                  <a:pt x="125674" y="43512"/>
                  <a:pt x="119657" y="43512"/>
                </a:cubicBezTo>
                <a:lnTo>
                  <a:pt x="54390" y="43512"/>
                </a:lnTo>
                <a:cubicBezTo>
                  <a:pt x="48373" y="43512"/>
                  <a:pt x="43512" y="38651"/>
                  <a:pt x="43512" y="32634"/>
                </a:cubicBezTo>
                <a:close/>
                <a:moveTo>
                  <a:pt x="54390" y="59829"/>
                </a:moveTo>
                <a:lnTo>
                  <a:pt x="97901" y="59829"/>
                </a:lnTo>
                <a:cubicBezTo>
                  <a:pt x="103918" y="59829"/>
                  <a:pt x="108779" y="64690"/>
                  <a:pt x="108779" y="70707"/>
                </a:cubicBezTo>
                <a:cubicBezTo>
                  <a:pt x="108779" y="76724"/>
                  <a:pt x="103918" y="81585"/>
                  <a:pt x="97901" y="81585"/>
                </a:cubicBezTo>
                <a:lnTo>
                  <a:pt x="54390" y="81585"/>
                </a:lnTo>
                <a:cubicBezTo>
                  <a:pt x="48373" y="81585"/>
                  <a:pt x="43512" y="76724"/>
                  <a:pt x="43512" y="70707"/>
                </a:cubicBezTo>
                <a:cubicBezTo>
                  <a:pt x="43512" y="64690"/>
                  <a:pt x="48373" y="59829"/>
                  <a:pt x="54390" y="59829"/>
                </a:cubicBezTo>
                <a:close/>
                <a:moveTo>
                  <a:pt x="54390" y="97901"/>
                </a:moveTo>
                <a:lnTo>
                  <a:pt x="141413" y="97901"/>
                </a:lnTo>
                <a:cubicBezTo>
                  <a:pt x="147430" y="97901"/>
                  <a:pt x="152291" y="102763"/>
                  <a:pt x="152291" y="108779"/>
                </a:cubicBezTo>
                <a:cubicBezTo>
                  <a:pt x="152291" y="114796"/>
                  <a:pt x="147430" y="119657"/>
                  <a:pt x="141413" y="119657"/>
                </a:cubicBezTo>
                <a:lnTo>
                  <a:pt x="54390" y="119657"/>
                </a:lnTo>
                <a:cubicBezTo>
                  <a:pt x="48373" y="119657"/>
                  <a:pt x="43512" y="114796"/>
                  <a:pt x="43512" y="108779"/>
                </a:cubicBezTo>
                <a:cubicBezTo>
                  <a:pt x="43512" y="102763"/>
                  <a:pt x="48373" y="97901"/>
                  <a:pt x="54390" y="9790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3" name="Text 21"/>
          <p:cNvSpPr/>
          <p:nvPr/>
        </p:nvSpPr>
        <p:spPr>
          <a:xfrm>
            <a:off x="844128" y="3863846"/>
            <a:ext cx="239314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四维度两极化偏移出现率对比</a:t>
            </a:r>
            <a:endParaRPr lang="en-US" sz="1600" dirty="0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30480" y="3898655"/>
            <a:ext cx="249757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统计口径：6数据集 × 3模型家族 = 18个格子</a:t>
            </a:r>
            <a:endParaRPr lang="en-US" sz="1600" dirty="0">
              <a:latin typeface="+mn-ea"/>
            </a:endParaRPr>
          </a:p>
        </p:txBody>
      </p:sp>
      <p:pic>
        <p:nvPicPr>
          <p:cNvPr id="25" name="Image 0" descr="https://kimi-img.moonshot.cn/pub/slides/26-02-11-18:18:34-d665eunf2en6o096hip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2141" y="4246749"/>
            <a:ext cx="10094732" cy="243666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2E323DF-D9AA-4F92-9335-EE34CC115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09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9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281781" y="31750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02</a:t>
            </a:r>
            <a:endParaRPr lang="en-US" sz="16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0250" y="317500"/>
            <a:ext cx="3635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维度稳定性：逐数据集分析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0250" y="698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889000"/>
            <a:ext cx="5699125" cy="2849563"/>
          </a:xfrm>
          <a:custGeom>
            <a:avLst/>
            <a:gdLst/>
            <a:ahLst/>
            <a:cxnLst/>
            <a:rect l="l" t="t" r="r" b="b"/>
            <a:pathLst>
              <a:path w="5699125" h="2849563">
                <a:moveTo>
                  <a:pt x="31750" y="0"/>
                </a:moveTo>
                <a:lnTo>
                  <a:pt x="5603864" y="0"/>
                </a:lnTo>
                <a:cubicBezTo>
                  <a:pt x="5656475" y="0"/>
                  <a:pt x="5699125" y="42650"/>
                  <a:pt x="5699125" y="95261"/>
                </a:cubicBezTo>
                <a:lnTo>
                  <a:pt x="5699125" y="2754302"/>
                </a:lnTo>
                <a:cubicBezTo>
                  <a:pt x="5699125" y="2806913"/>
                  <a:pt x="5656475" y="2849563"/>
                  <a:pt x="5603864" y="2849563"/>
                </a:cubicBezTo>
                <a:lnTo>
                  <a:pt x="31750" y="2849563"/>
                </a:lnTo>
                <a:cubicBezTo>
                  <a:pt x="14215" y="2849563"/>
                  <a:pt x="0" y="2835348"/>
                  <a:pt x="0" y="2817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3375" y="889000"/>
            <a:ext cx="31750" cy="2849563"/>
          </a:xfrm>
          <a:custGeom>
            <a:avLst/>
            <a:gdLst/>
            <a:ahLst/>
            <a:cxnLst/>
            <a:rect l="l" t="t" r="r" b="b"/>
            <a:pathLst>
              <a:path w="31750" h="2849563">
                <a:moveTo>
                  <a:pt x="31750" y="0"/>
                </a:moveTo>
                <a:lnTo>
                  <a:pt x="31750" y="0"/>
                </a:lnTo>
                <a:lnTo>
                  <a:pt x="31750" y="2849563"/>
                </a:lnTo>
                <a:lnTo>
                  <a:pt x="31750" y="2849563"/>
                </a:lnTo>
                <a:cubicBezTo>
                  <a:pt x="14227" y="2849563"/>
                  <a:pt x="0" y="2835336"/>
                  <a:pt x="0" y="2817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476250" y="1016000"/>
            <a:ext cx="1111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+mn-ea"/>
                <a:cs typeface="MiSans" pitchFamily="34" charset="-120"/>
              </a:rPr>
              <a:t>decision (F/T)</a:t>
            </a:r>
            <a:endParaRPr lang="en-US" sz="1600" dirty="0">
              <a:latin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96693" y="1016000"/>
            <a:ext cx="1008063" cy="222250"/>
          </a:xfrm>
          <a:custGeom>
            <a:avLst/>
            <a:gdLst/>
            <a:ahLst/>
            <a:cxnLst/>
            <a:rect l="l" t="t" r="r" b="b"/>
            <a:pathLst>
              <a:path w="1008063" h="222250">
                <a:moveTo>
                  <a:pt x="111125" y="0"/>
                </a:moveTo>
                <a:lnTo>
                  <a:pt x="896938" y="0"/>
                </a:lnTo>
                <a:cubicBezTo>
                  <a:pt x="958269" y="0"/>
                  <a:pt x="1008063" y="49793"/>
                  <a:pt x="1008063" y="111125"/>
                </a:cubicBezTo>
                <a:lnTo>
                  <a:pt x="1008063" y="111125"/>
                </a:lnTo>
                <a:cubicBezTo>
                  <a:pt x="1008063" y="172457"/>
                  <a:pt x="958269" y="222250"/>
                  <a:pt x="896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E74C3C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96693" y="1016000"/>
            <a:ext cx="1063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17/18 = 94.4%</a:t>
            </a:r>
            <a:endParaRPr lang="en-US" sz="1600" dirty="0"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219" y="1337469"/>
            <a:ext cx="5421313" cy="2047875"/>
          </a:xfrm>
          <a:custGeom>
            <a:avLst/>
            <a:gdLst/>
            <a:ahLst/>
            <a:cxnLst/>
            <a:rect l="l" t="t" r="r" b="b"/>
            <a:pathLst>
              <a:path w="5421313" h="2047875">
                <a:moveTo>
                  <a:pt x="63505" y="0"/>
                </a:moveTo>
                <a:lnTo>
                  <a:pt x="5357808" y="0"/>
                </a:lnTo>
                <a:cubicBezTo>
                  <a:pt x="5392881" y="0"/>
                  <a:pt x="5421313" y="28432"/>
                  <a:pt x="5421313" y="63505"/>
                </a:cubicBezTo>
                <a:lnTo>
                  <a:pt x="5421313" y="1984370"/>
                </a:lnTo>
                <a:cubicBezTo>
                  <a:pt x="5421313" y="2019443"/>
                  <a:pt x="5392881" y="2047875"/>
                  <a:pt x="5357808" y="2047875"/>
                </a:cubicBezTo>
                <a:lnTo>
                  <a:pt x="63505" y="2047875"/>
                </a:lnTo>
                <a:cubicBezTo>
                  <a:pt x="28432" y="2047875"/>
                  <a:pt x="0" y="2019443"/>
                  <a:pt x="0" y="1984370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187" y="1341438"/>
          <a:ext cx="5413375" cy="2039940"/>
        </p:xfrm>
        <a:graphic>
          <a:graphicData uri="http://schemas.openxmlformats.org/drawingml/2006/table">
            <a:tbl>
              <a:tblPr/>
              <a:tblGrid>
                <a:gridCol w="1664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20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llama-3b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fiqasa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imdb_sklearn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mental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sst2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5180" y="347662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638969" y="3452813"/>
            <a:ext cx="53220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最稳定维度，几乎在所有数据集上出现</a:t>
            </a:r>
            <a:endParaRPr lang="en-US" sz="1600" dirty="0">
              <a:latin typeface="+mn-e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175375" y="889000"/>
            <a:ext cx="5699125" cy="2849563"/>
          </a:xfrm>
          <a:custGeom>
            <a:avLst/>
            <a:gdLst/>
            <a:ahLst/>
            <a:cxnLst/>
            <a:rect l="l" t="t" r="r" b="b"/>
            <a:pathLst>
              <a:path w="5699125" h="2849563">
                <a:moveTo>
                  <a:pt x="31750" y="0"/>
                </a:moveTo>
                <a:lnTo>
                  <a:pt x="5603864" y="0"/>
                </a:lnTo>
                <a:cubicBezTo>
                  <a:pt x="5656475" y="0"/>
                  <a:pt x="5699125" y="42650"/>
                  <a:pt x="5699125" y="95261"/>
                </a:cubicBezTo>
                <a:lnTo>
                  <a:pt x="5699125" y="2754302"/>
                </a:lnTo>
                <a:cubicBezTo>
                  <a:pt x="5699125" y="2806913"/>
                  <a:pt x="5656475" y="2849563"/>
                  <a:pt x="5603864" y="2849563"/>
                </a:cubicBezTo>
                <a:lnTo>
                  <a:pt x="31750" y="2849563"/>
                </a:lnTo>
                <a:cubicBezTo>
                  <a:pt x="14215" y="2849563"/>
                  <a:pt x="0" y="2835348"/>
                  <a:pt x="0" y="2817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5375" y="889000"/>
            <a:ext cx="31750" cy="2849563"/>
          </a:xfrm>
          <a:custGeom>
            <a:avLst/>
            <a:gdLst/>
            <a:ahLst/>
            <a:cxnLst/>
            <a:rect l="l" t="t" r="r" b="b"/>
            <a:pathLst>
              <a:path w="31750" h="2849563">
                <a:moveTo>
                  <a:pt x="31750" y="0"/>
                </a:moveTo>
                <a:lnTo>
                  <a:pt x="31750" y="0"/>
                </a:lnTo>
                <a:lnTo>
                  <a:pt x="31750" y="2849563"/>
                </a:lnTo>
                <a:lnTo>
                  <a:pt x="31750" y="2849563"/>
                </a:lnTo>
                <a:cubicBezTo>
                  <a:pt x="14227" y="2849563"/>
                  <a:pt x="0" y="2835336"/>
                  <a:pt x="0" y="2817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7" name="Text 14"/>
          <p:cNvSpPr/>
          <p:nvPr/>
        </p:nvSpPr>
        <p:spPr>
          <a:xfrm>
            <a:off x="6318250" y="1016000"/>
            <a:ext cx="96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+mn-ea"/>
                <a:cs typeface="MiSans" pitchFamily="34" charset="-120"/>
              </a:rPr>
              <a:t>energy (E/I)</a:t>
            </a:r>
            <a:endParaRPr lang="en-US" sz="1600" dirty="0">
              <a:latin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738693" y="1016000"/>
            <a:ext cx="1008063" cy="222250"/>
          </a:xfrm>
          <a:custGeom>
            <a:avLst/>
            <a:gdLst/>
            <a:ahLst/>
            <a:cxnLst/>
            <a:rect l="l" t="t" r="r" b="b"/>
            <a:pathLst>
              <a:path w="1008063" h="222250">
                <a:moveTo>
                  <a:pt x="111125" y="0"/>
                </a:moveTo>
                <a:lnTo>
                  <a:pt x="896938" y="0"/>
                </a:lnTo>
                <a:cubicBezTo>
                  <a:pt x="958269" y="0"/>
                  <a:pt x="1008063" y="49793"/>
                  <a:pt x="1008063" y="111125"/>
                </a:cubicBezTo>
                <a:lnTo>
                  <a:pt x="1008063" y="111125"/>
                </a:lnTo>
                <a:cubicBezTo>
                  <a:pt x="1008063" y="172457"/>
                  <a:pt x="958269" y="222250"/>
                  <a:pt x="896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738693" y="1016000"/>
            <a:ext cx="1063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15/18 = 83.3%</a:t>
            </a:r>
            <a:endParaRPr lang="en-US" sz="1600" dirty="0">
              <a:latin typeface="+mn-ea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322219" y="1337469"/>
            <a:ext cx="5421313" cy="2047875"/>
          </a:xfrm>
          <a:custGeom>
            <a:avLst/>
            <a:gdLst/>
            <a:ahLst/>
            <a:cxnLst/>
            <a:rect l="l" t="t" r="r" b="b"/>
            <a:pathLst>
              <a:path w="5421313" h="2047875">
                <a:moveTo>
                  <a:pt x="63505" y="0"/>
                </a:moveTo>
                <a:lnTo>
                  <a:pt x="5357808" y="0"/>
                </a:lnTo>
                <a:cubicBezTo>
                  <a:pt x="5392881" y="0"/>
                  <a:pt x="5421313" y="28432"/>
                  <a:pt x="5421313" y="63505"/>
                </a:cubicBezTo>
                <a:lnTo>
                  <a:pt x="5421313" y="1984370"/>
                </a:lnTo>
                <a:cubicBezTo>
                  <a:pt x="5421313" y="2019443"/>
                  <a:pt x="5392881" y="2047875"/>
                  <a:pt x="5357808" y="2047875"/>
                </a:cubicBezTo>
                <a:lnTo>
                  <a:pt x="63505" y="2047875"/>
                </a:lnTo>
                <a:cubicBezTo>
                  <a:pt x="28432" y="2047875"/>
                  <a:pt x="0" y="2019443"/>
                  <a:pt x="0" y="1984370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graphicFrame>
        <p:nvGraphicFramePr>
          <p:cNvPr id="3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6188" y="1341438"/>
          <a:ext cx="5413375" cy="2039940"/>
        </p:xfrm>
        <a:graphic>
          <a:graphicData uri="http://schemas.openxmlformats.org/drawingml/2006/table">
            <a:tbl>
              <a:tblPr/>
              <a:tblGrid>
                <a:gridCol w="1664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20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llama-3b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fiqasa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imdb_sklearn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mental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sst2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334125" y="3476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3" name="Text 19"/>
          <p:cNvSpPr/>
          <p:nvPr/>
        </p:nvSpPr>
        <p:spPr>
          <a:xfrm>
            <a:off x="6480969" y="3452813"/>
            <a:ext cx="53220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电影域与金融域稳定，心理健康域不稳定</a:t>
            </a:r>
            <a:endParaRPr lang="en-US" sz="1600" dirty="0">
              <a:latin typeface="+mn-ea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333375" y="3865563"/>
            <a:ext cx="5699125" cy="2849563"/>
          </a:xfrm>
          <a:custGeom>
            <a:avLst/>
            <a:gdLst/>
            <a:ahLst/>
            <a:cxnLst/>
            <a:rect l="l" t="t" r="r" b="b"/>
            <a:pathLst>
              <a:path w="5699125" h="2849563">
                <a:moveTo>
                  <a:pt x="31750" y="0"/>
                </a:moveTo>
                <a:lnTo>
                  <a:pt x="5603864" y="0"/>
                </a:lnTo>
                <a:cubicBezTo>
                  <a:pt x="5656475" y="0"/>
                  <a:pt x="5699125" y="42650"/>
                  <a:pt x="5699125" y="95261"/>
                </a:cubicBezTo>
                <a:lnTo>
                  <a:pt x="5699125" y="2754302"/>
                </a:lnTo>
                <a:cubicBezTo>
                  <a:pt x="5699125" y="2806913"/>
                  <a:pt x="5656475" y="2849563"/>
                  <a:pt x="5603864" y="2849563"/>
                </a:cubicBezTo>
                <a:lnTo>
                  <a:pt x="31750" y="2849563"/>
                </a:lnTo>
                <a:cubicBezTo>
                  <a:pt x="14215" y="2849563"/>
                  <a:pt x="0" y="2835348"/>
                  <a:pt x="0" y="2817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33375" y="3865563"/>
            <a:ext cx="31750" cy="2849563"/>
          </a:xfrm>
          <a:custGeom>
            <a:avLst/>
            <a:gdLst/>
            <a:ahLst/>
            <a:cxnLst/>
            <a:rect l="l" t="t" r="r" b="b"/>
            <a:pathLst>
              <a:path w="31750" h="2849563">
                <a:moveTo>
                  <a:pt x="31750" y="0"/>
                </a:moveTo>
                <a:lnTo>
                  <a:pt x="31750" y="0"/>
                </a:lnTo>
                <a:lnTo>
                  <a:pt x="31750" y="2849563"/>
                </a:lnTo>
                <a:lnTo>
                  <a:pt x="31750" y="2849563"/>
                </a:lnTo>
                <a:cubicBezTo>
                  <a:pt x="14227" y="2849563"/>
                  <a:pt x="0" y="2835336"/>
                  <a:pt x="0" y="2817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6" name="Text 22"/>
          <p:cNvSpPr/>
          <p:nvPr/>
        </p:nvSpPr>
        <p:spPr>
          <a:xfrm>
            <a:off x="476250" y="3992563"/>
            <a:ext cx="1333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+mn-ea"/>
                <a:cs typeface="MiSans" pitchFamily="34" charset="-120"/>
              </a:rPr>
              <a:t>information (N/S)</a:t>
            </a:r>
            <a:endParaRPr lang="en-US" sz="1600" dirty="0">
              <a:latin typeface="+mn-ea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896693" y="3992563"/>
            <a:ext cx="1008063" cy="222250"/>
          </a:xfrm>
          <a:custGeom>
            <a:avLst/>
            <a:gdLst/>
            <a:ahLst/>
            <a:cxnLst/>
            <a:rect l="l" t="t" r="r" b="b"/>
            <a:pathLst>
              <a:path w="1008063" h="222250">
                <a:moveTo>
                  <a:pt x="111125" y="0"/>
                </a:moveTo>
                <a:lnTo>
                  <a:pt x="896938" y="0"/>
                </a:lnTo>
                <a:cubicBezTo>
                  <a:pt x="958269" y="0"/>
                  <a:pt x="1008063" y="49793"/>
                  <a:pt x="1008063" y="111125"/>
                </a:cubicBezTo>
                <a:lnTo>
                  <a:pt x="1008063" y="111125"/>
                </a:lnTo>
                <a:cubicBezTo>
                  <a:pt x="1008063" y="172457"/>
                  <a:pt x="958269" y="222250"/>
                  <a:pt x="896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4896693" y="3992563"/>
            <a:ext cx="1063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13/18 = 72.2%</a:t>
            </a:r>
            <a:endParaRPr lang="en-US" sz="1600" dirty="0">
              <a:latin typeface="+mn-ea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80219" y="4314031"/>
            <a:ext cx="5421313" cy="2047875"/>
          </a:xfrm>
          <a:custGeom>
            <a:avLst/>
            <a:gdLst/>
            <a:ahLst/>
            <a:cxnLst/>
            <a:rect l="l" t="t" r="r" b="b"/>
            <a:pathLst>
              <a:path w="5421313" h="2047875">
                <a:moveTo>
                  <a:pt x="63505" y="0"/>
                </a:moveTo>
                <a:lnTo>
                  <a:pt x="5357808" y="0"/>
                </a:lnTo>
                <a:cubicBezTo>
                  <a:pt x="5392881" y="0"/>
                  <a:pt x="5421313" y="28432"/>
                  <a:pt x="5421313" y="63505"/>
                </a:cubicBezTo>
                <a:lnTo>
                  <a:pt x="5421313" y="1984370"/>
                </a:lnTo>
                <a:cubicBezTo>
                  <a:pt x="5421313" y="2019443"/>
                  <a:pt x="5392881" y="2047875"/>
                  <a:pt x="5357808" y="2047875"/>
                </a:cubicBezTo>
                <a:lnTo>
                  <a:pt x="63505" y="2047875"/>
                </a:lnTo>
                <a:cubicBezTo>
                  <a:pt x="28432" y="2047875"/>
                  <a:pt x="0" y="2019443"/>
                  <a:pt x="0" y="1984370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graphicFrame>
        <p:nvGraphicFramePr>
          <p:cNvPr id="3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187" y="4318000"/>
          <a:ext cx="5413375" cy="2039940"/>
        </p:xfrm>
        <a:graphic>
          <a:graphicData uri="http://schemas.openxmlformats.org/drawingml/2006/table">
            <a:tbl>
              <a:tblPr/>
              <a:tblGrid>
                <a:gridCol w="1664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20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llama-3b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fiqasa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imdb_sklearn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mental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sst2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Shape 26"/>
          <p:cNvSpPr/>
          <p:nvPr/>
        </p:nvSpPr>
        <p:spPr>
          <a:xfrm>
            <a:off x="492125" y="64531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2" name="Text 27"/>
          <p:cNvSpPr/>
          <p:nvPr/>
        </p:nvSpPr>
        <p:spPr>
          <a:xfrm>
            <a:off x="638969" y="6429375"/>
            <a:ext cx="53220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电影域稳定，news/mental域不稳定</a:t>
            </a:r>
            <a:endParaRPr lang="en-US" sz="1600" dirty="0">
              <a:latin typeface="+mn-ea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6175375" y="3865563"/>
            <a:ext cx="5699125" cy="2849563"/>
          </a:xfrm>
          <a:custGeom>
            <a:avLst/>
            <a:gdLst/>
            <a:ahLst/>
            <a:cxnLst/>
            <a:rect l="l" t="t" r="r" b="b"/>
            <a:pathLst>
              <a:path w="5699125" h="2849563">
                <a:moveTo>
                  <a:pt x="31750" y="0"/>
                </a:moveTo>
                <a:lnTo>
                  <a:pt x="5603864" y="0"/>
                </a:lnTo>
                <a:cubicBezTo>
                  <a:pt x="5656475" y="0"/>
                  <a:pt x="5699125" y="42650"/>
                  <a:pt x="5699125" y="95261"/>
                </a:cubicBezTo>
                <a:lnTo>
                  <a:pt x="5699125" y="2754302"/>
                </a:lnTo>
                <a:cubicBezTo>
                  <a:pt x="5699125" y="2806913"/>
                  <a:pt x="5656475" y="2849563"/>
                  <a:pt x="5603864" y="2849563"/>
                </a:cubicBezTo>
                <a:lnTo>
                  <a:pt x="31750" y="2849563"/>
                </a:lnTo>
                <a:cubicBezTo>
                  <a:pt x="14215" y="2849563"/>
                  <a:pt x="0" y="2835348"/>
                  <a:pt x="0" y="2817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175375" y="3865563"/>
            <a:ext cx="31750" cy="2849563"/>
          </a:xfrm>
          <a:custGeom>
            <a:avLst/>
            <a:gdLst/>
            <a:ahLst/>
            <a:cxnLst/>
            <a:rect l="l" t="t" r="r" b="b"/>
            <a:pathLst>
              <a:path w="31750" h="2849563">
                <a:moveTo>
                  <a:pt x="31750" y="0"/>
                </a:moveTo>
                <a:lnTo>
                  <a:pt x="31750" y="0"/>
                </a:lnTo>
                <a:lnTo>
                  <a:pt x="31750" y="2849563"/>
                </a:lnTo>
                <a:lnTo>
                  <a:pt x="31750" y="2849563"/>
                </a:lnTo>
                <a:cubicBezTo>
                  <a:pt x="14227" y="2849563"/>
                  <a:pt x="0" y="2835336"/>
                  <a:pt x="0" y="2817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95A5A6"/>
          </a:solidFill>
          <a:ln/>
        </p:spPr>
      </p:sp>
      <p:sp>
        <p:nvSpPr>
          <p:cNvPr id="35" name="Text 30"/>
          <p:cNvSpPr/>
          <p:nvPr/>
        </p:nvSpPr>
        <p:spPr>
          <a:xfrm>
            <a:off x="6318250" y="3992563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+mn-ea"/>
                <a:cs typeface="MiSans" pitchFamily="34" charset="-120"/>
              </a:rPr>
              <a:t>execution (J/P)</a:t>
            </a:r>
            <a:endParaRPr lang="en-US" sz="1600" dirty="0">
              <a:latin typeface="+mn-ea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10807278" y="3992563"/>
            <a:ext cx="936625" cy="222250"/>
          </a:xfrm>
          <a:custGeom>
            <a:avLst/>
            <a:gdLst/>
            <a:ahLst/>
            <a:cxnLst/>
            <a:rect l="l" t="t" r="r" b="b"/>
            <a:pathLst>
              <a:path w="936625" h="222250">
                <a:moveTo>
                  <a:pt x="111125" y="0"/>
                </a:moveTo>
                <a:lnTo>
                  <a:pt x="825500" y="0"/>
                </a:lnTo>
                <a:cubicBezTo>
                  <a:pt x="886832" y="0"/>
                  <a:pt x="936625" y="49793"/>
                  <a:pt x="936625" y="111125"/>
                </a:cubicBezTo>
                <a:lnTo>
                  <a:pt x="936625" y="111125"/>
                </a:lnTo>
                <a:cubicBezTo>
                  <a:pt x="936625" y="172457"/>
                  <a:pt x="886832" y="222250"/>
                  <a:pt x="8255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95A5A6">
              <a:alpha val="10196"/>
            </a:srgbClr>
          </a:solidFill>
          <a:ln/>
        </p:spPr>
      </p:sp>
      <p:sp>
        <p:nvSpPr>
          <p:cNvPr id="37" name="Text 32"/>
          <p:cNvSpPr/>
          <p:nvPr/>
        </p:nvSpPr>
        <p:spPr>
          <a:xfrm>
            <a:off x="10807278" y="3992563"/>
            <a:ext cx="9921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95A5A6"/>
                </a:solidFill>
                <a:latin typeface="+mn-ea"/>
                <a:cs typeface="Noto Sans SC" pitchFamily="34" charset="-120"/>
              </a:rPr>
              <a:t>8/18 = 44.4%</a:t>
            </a:r>
            <a:endParaRPr lang="en-US" sz="1600" dirty="0">
              <a:latin typeface="+mn-ea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6322219" y="4314031"/>
            <a:ext cx="5421313" cy="2047875"/>
          </a:xfrm>
          <a:custGeom>
            <a:avLst/>
            <a:gdLst/>
            <a:ahLst/>
            <a:cxnLst/>
            <a:rect l="l" t="t" r="r" b="b"/>
            <a:pathLst>
              <a:path w="5421313" h="2047875">
                <a:moveTo>
                  <a:pt x="63505" y="0"/>
                </a:moveTo>
                <a:lnTo>
                  <a:pt x="5357808" y="0"/>
                </a:lnTo>
                <a:cubicBezTo>
                  <a:pt x="5392881" y="0"/>
                  <a:pt x="5421313" y="28432"/>
                  <a:pt x="5421313" y="63505"/>
                </a:cubicBezTo>
                <a:lnTo>
                  <a:pt x="5421313" y="1984370"/>
                </a:lnTo>
                <a:cubicBezTo>
                  <a:pt x="5421313" y="2019443"/>
                  <a:pt x="5392881" y="2047875"/>
                  <a:pt x="5357808" y="2047875"/>
                </a:cubicBezTo>
                <a:lnTo>
                  <a:pt x="63505" y="2047875"/>
                </a:lnTo>
                <a:cubicBezTo>
                  <a:pt x="28432" y="2047875"/>
                  <a:pt x="0" y="2019443"/>
                  <a:pt x="0" y="1984370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6188" y="4318000"/>
          <a:ext cx="5413375" cy="2039940"/>
        </p:xfrm>
        <a:graphic>
          <a:graphicData uri="http://schemas.openxmlformats.org/drawingml/2006/table">
            <a:tbl>
              <a:tblPr/>
              <a:tblGrid>
                <a:gridCol w="1664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420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llama-3b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fiqasa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imdb_sklearn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mental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✗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20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sst2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Shape 34"/>
          <p:cNvSpPr/>
          <p:nvPr/>
        </p:nvSpPr>
        <p:spPr>
          <a:xfrm>
            <a:off x="6334125" y="64531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8753" y="0"/>
                  <a:pt x="61683" y="1758"/>
                  <a:pt x="63202" y="4558"/>
                </a:cubicBezTo>
                <a:lnTo>
                  <a:pt x="110083" y="91374"/>
                </a:lnTo>
                <a:cubicBezTo>
                  <a:pt x="111537" y="94066"/>
                  <a:pt x="111472" y="97321"/>
                  <a:pt x="109910" y="99947"/>
                </a:cubicBezTo>
                <a:cubicBezTo>
                  <a:pt x="108347" y="102574"/>
                  <a:pt x="105504" y="104180"/>
                  <a:pt x="102443" y="104180"/>
                </a:cubicBezTo>
                <a:lnTo>
                  <a:pt x="8682" y="104180"/>
                </a:lnTo>
                <a:cubicBezTo>
                  <a:pt x="5621" y="104180"/>
                  <a:pt x="2800" y="102574"/>
                  <a:pt x="1215" y="99947"/>
                </a:cubicBezTo>
                <a:cubicBezTo>
                  <a:pt x="-369" y="97321"/>
                  <a:pt x="-412" y="94066"/>
                  <a:pt x="1042" y="91374"/>
                </a:cubicBezTo>
                <a:lnTo>
                  <a:pt x="47923" y="4558"/>
                </a:lnTo>
                <a:cubicBezTo>
                  <a:pt x="49442" y="1758"/>
                  <a:pt x="52372" y="0"/>
                  <a:pt x="55563" y="0"/>
                </a:cubicBezTo>
                <a:close/>
                <a:moveTo>
                  <a:pt x="55563" y="36463"/>
                </a:moveTo>
                <a:cubicBezTo>
                  <a:pt x="52676" y="36463"/>
                  <a:pt x="50354" y="38785"/>
                  <a:pt x="50354" y="41672"/>
                </a:cubicBezTo>
                <a:lnTo>
                  <a:pt x="50354" y="65980"/>
                </a:lnTo>
                <a:cubicBezTo>
                  <a:pt x="50354" y="68867"/>
                  <a:pt x="52676" y="71189"/>
                  <a:pt x="55563" y="71189"/>
                </a:cubicBezTo>
                <a:cubicBezTo>
                  <a:pt x="58449" y="71189"/>
                  <a:pt x="60771" y="68867"/>
                  <a:pt x="60771" y="65980"/>
                </a:cubicBezTo>
                <a:lnTo>
                  <a:pt x="60771" y="41672"/>
                </a:lnTo>
                <a:cubicBezTo>
                  <a:pt x="60771" y="38785"/>
                  <a:pt x="58449" y="36463"/>
                  <a:pt x="55563" y="36463"/>
                </a:cubicBezTo>
                <a:close/>
                <a:moveTo>
                  <a:pt x="61357" y="83344"/>
                </a:moveTo>
                <a:cubicBezTo>
                  <a:pt x="61489" y="81193"/>
                  <a:pt x="60417" y="79146"/>
                  <a:pt x="58573" y="78031"/>
                </a:cubicBezTo>
                <a:cubicBezTo>
                  <a:pt x="56729" y="76915"/>
                  <a:pt x="54418" y="76915"/>
                  <a:pt x="52574" y="78031"/>
                </a:cubicBezTo>
                <a:cubicBezTo>
                  <a:pt x="50730" y="79146"/>
                  <a:pt x="49657" y="81193"/>
                  <a:pt x="49789" y="83344"/>
                </a:cubicBezTo>
                <a:cubicBezTo>
                  <a:pt x="49657" y="85495"/>
                  <a:pt x="50730" y="87541"/>
                  <a:pt x="52574" y="88657"/>
                </a:cubicBezTo>
                <a:cubicBezTo>
                  <a:pt x="54418" y="89772"/>
                  <a:pt x="56729" y="89772"/>
                  <a:pt x="58573" y="88657"/>
                </a:cubicBezTo>
                <a:cubicBezTo>
                  <a:pt x="60417" y="87541"/>
                  <a:pt x="61489" y="85495"/>
                  <a:pt x="61357" y="83344"/>
                </a:cubicBezTo>
                <a:close/>
              </a:path>
            </a:pathLst>
          </a:custGeom>
          <a:solidFill>
            <a:srgbClr val="95A5A6"/>
          </a:solidFill>
          <a:ln/>
        </p:spPr>
      </p:sp>
      <p:sp>
        <p:nvSpPr>
          <p:cNvPr id="41" name="Text 35"/>
          <p:cNvSpPr/>
          <p:nvPr/>
        </p:nvSpPr>
        <p:spPr>
          <a:xfrm>
            <a:off x="6480969" y="6429375"/>
            <a:ext cx="532209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最依赖数据集，仅在sst2稳定</a:t>
            </a:r>
            <a:endParaRPr lang="en-US" sz="1600" dirty="0">
              <a:latin typeface="+mn-ea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4425156" y="139037"/>
            <a:ext cx="7036594" cy="698500"/>
          </a:xfrm>
          <a:custGeom>
            <a:avLst/>
            <a:gdLst/>
            <a:ahLst/>
            <a:cxnLst/>
            <a:rect l="l" t="t" r="r" b="b"/>
            <a:pathLst>
              <a:path w="11557000" h="698500">
                <a:moveTo>
                  <a:pt x="95247" y="0"/>
                </a:moveTo>
                <a:lnTo>
                  <a:pt x="11461753" y="0"/>
                </a:lnTo>
                <a:cubicBezTo>
                  <a:pt x="11514356" y="0"/>
                  <a:pt x="11557000" y="42644"/>
                  <a:pt x="11557000" y="95247"/>
                </a:cubicBezTo>
                <a:lnTo>
                  <a:pt x="11557000" y="603253"/>
                </a:lnTo>
                <a:cubicBezTo>
                  <a:pt x="11557000" y="655856"/>
                  <a:pt x="11514356" y="698500"/>
                  <a:pt x="11461753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3" name="Shape 37"/>
          <p:cNvSpPr/>
          <p:nvPr/>
        </p:nvSpPr>
        <p:spPr>
          <a:xfrm>
            <a:off x="4599781" y="39303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44" name="Text 38"/>
          <p:cNvSpPr/>
          <p:nvPr/>
        </p:nvSpPr>
        <p:spPr>
          <a:xfrm>
            <a:off x="4917281" y="266037"/>
            <a:ext cx="56538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+mn-ea"/>
                <a:cs typeface="MiSans" pitchFamily="34" charset="-120"/>
              </a:rPr>
              <a:t>关键洞察</a:t>
            </a:r>
            <a:endParaRPr lang="en-US" sz="1600" dirty="0">
              <a:latin typeface="+mn-ea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4917282" y="520037"/>
            <a:ext cx="63289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decision (F/T) 不仅在两极化偏移率上领先，而且在电影域三个数据集上的方向一致性达到</a:t>
            </a:r>
            <a:r>
              <a:rPr lang="en-US" sz="1000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100%</a:t>
            </a:r>
            <a:r>
              <a:rPr lang="en-US" sz="10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，远超其他维度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" name="Text 1"/>
          <p:cNvSpPr/>
          <p:nvPr/>
        </p:nvSpPr>
        <p:spPr>
          <a:xfrm>
            <a:off x="281781" y="31750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03</a:t>
            </a:r>
            <a:endParaRPr lang="en-US" sz="16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0250" y="317500"/>
            <a:ext cx="4222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统计显著性：偏移的可靠性验证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0250" y="698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317500" y="889001"/>
            <a:ext cx="7659688" cy="1878724"/>
          </a:xfrm>
          <a:custGeom>
            <a:avLst/>
            <a:gdLst/>
            <a:ahLst/>
            <a:cxnLst/>
            <a:rect l="l" t="t" r="r" b="b"/>
            <a:pathLst>
              <a:path w="7659688" h="1762125">
                <a:moveTo>
                  <a:pt x="95243" y="0"/>
                </a:moveTo>
                <a:lnTo>
                  <a:pt x="7564445" y="0"/>
                </a:lnTo>
                <a:cubicBezTo>
                  <a:pt x="7617011" y="0"/>
                  <a:pt x="7659687" y="42677"/>
                  <a:pt x="7659687" y="95243"/>
                </a:cubicBezTo>
                <a:lnTo>
                  <a:pt x="7659688" y="1666882"/>
                </a:lnTo>
                <a:cubicBezTo>
                  <a:pt x="7659687" y="1719483"/>
                  <a:pt x="7617046" y="1762125"/>
                  <a:pt x="7564445" y="1762125"/>
                </a:cubicBezTo>
                <a:lnTo>
                  <a:pt x="95243" y="1762125"/>
                </a:lnTo>
                <a:cubicBezTo>
                  <a:pt x="42642" y="1762125"/>
                  <a:pt x="0" y="1719483"/>
                  <a:pt x="0" y="1666882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5938" y="107950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77484" y="20712"/>
                </a:moveTo>
                <a:cubicBezTo>
                  <a:pt x="80708" y="16278"/>
                  <a:pt x="79716" y="10077"/>
                  <a:pt x="75282" y="6852"/>
                </a:cubicBezTo>
                <a:cubicBezTo>
                  <a:pt x="70848" y="3628"/>
                  <a:pt x="64647" y="4620"/>
                  <a:pt x="61423" y="9054"/>
                </a:cubicBezTo>
                <a:lnTo>
                  <a:pt x="28556" y="54229"/>
                </a:lnTo>
                <a:lnTo>
                  <a:pt x="16929" y="42602"/>
                </a:lnTo>
                <a:cubicBezTo>
                  <a:pt x="13053" y="38726"/>
                  <a:pt x="6759" y="38726"/>
                  <a:pt x="2884" y="42602"/>
                </a:cubicBezTo>
                <a:cubicBezTo>
                  <a:pt x="-992" y="46478"/>
                  <a:pt x="-992" y="52772"/>
                  <a:pt x="2884" y="56648"/>
                </a:cubicBezTo>
                <a:lnTo>
                  <a:pt x="22727" y="76491"/>
                </a:lnTo>
                <a:cubicBezTo>
                  <a:pt x="24774" y="78538"/>
                  <a:pt x="27626" y="79592"/>
                  <a:pt x="30510" y="79375"/>
                </a:cubicBezTo>
                <a:cubicBezTo>
                  <a:pt x="33393" y="79158"/>
                  <a:pt x="36060" y="77670"/>
                  <a:pt x="37765" y="75313"/>
                </a:cubicBezTo>
                <a:lnTo>
                  <a:pt x="77453" y="20743"/>
                </a:lnTo>
                <a:close/>
                <a:moveTo>
                  <a:pt x="117171" y="62880"/>
                </a:moveTo>
                <a:cubicBezTo>
                  <a:pt x="120396" y="58446"/>
                  <a:pt x="119404" y="52245"/>
                  <a:pt x="114970" y="49020"/>
                </a:cubicBezTo>
                <a:cubicBezTo>
                  <a:pt x="110536" y="45796"/>
                  <a:pt x="104335" y="46788"/>
                  <a:pt x="101110" y="51222"/>
                </a:cubicBezTo>
                <a:lnTo>
                  <a:pt x="48400" y="123682"/>
                </a:lnTo>
                <a:lnTo>
                  <a:pt x="26851" y="102133"/>
                </a:lnTo>
                <a:cubicBezTo>
                  <a:pt x="22975" y="98258"/>
                  <a:pt x="16681" y="98258"/>
                  <a:pt x="12805" y="102133"/>
                </a:cubicBezTo>
                <a:cubicBezTo>
                  <a:pt x="8930" y="106009"/>
                  <a:pt x="8930" y="112303"/>
                  <a:pt x="12805" y="116179"/>
                </a:cubicBezTo>
                <a:lnTo>
                  <a:pt x="42571" y="145945"/>
                </a:lnTo>
                <a:cubicBezTo>
                  <a:pt x="44617" y="147991"/>
                  <a:pt x="47470" y="149045"/>
                  <a:pt x="50354" y="148828"/>
                </a:cubicBezTo>
                <a:cubicBezTo>
                  <a:pt x="53237" y="148611"/>
                  <a:pt x="55904" y="147123"/>
                  <a:pt x="57609" y="144766"/>
                </a:cubicBezTo>
                <a:lnTo>
                  <a:pt x="117140" y="62911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8" name="Text 6"/>
          <p:cNvSpPr/>
          <p:nvPr/>
        </p:nvSpPr>
        <p:spPr>
          <a:xfrm>
            <a:off x="769937" y="1047750"/>
            <a:ext cx="26108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 err="1">
                <a:solidFill>
                  <a:srgbClr val="2C3E50"/>
                </a:solidFill>
                <a:latin typeface="+mn-ea"/>
                <a:cs typeface="Noto Sans SC" pitchFamily="34" charset="-120"/>
              </a:rPr>
              <a:t>检验方法</a:t>
            </a:r>
            <a:r>
              <a:rPr lang="zh-CN" altLang="en-US" sz="125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： </a:t>
            </a:r>
            <a:r>
              <a:rPr lang="en-US" altLang="zh-CN" sz="125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P-value</a:t>
            </a:r>
            <a:endParaRPr lang="en-US" sz="1600" dirty="0">
              <a:latin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6250" y="1397000"/>
            <a:ext cx="3611563" cy="762000"/>
          </a:xfrm>
          <a:custGeom>
            <a:avLst/>
            <a:gdLst/>
            <a:ahLst/>
            <a:cxnLst/>
            <a:rect l="l" t="t" r="r" b="b"/>
            <a:pathLst>
              <a:path w="3611563" h="762000">
                <a:moveTo>
                  <a:pt x="63497" y="0"/>
                </a:moveTo>
                <a:lnTo>
                  <a:pt x="3548065" y="0"/>
                </a:lnTo>
                <a:cubicBezTo>
                  <a:pt x="3583134" y="0"/>
                  <a:pt x="3611562" y="28429"/>
                  <a:pt x="3611562" y="63497"/>
                </a:cubicBezTo>
                <a:lnTo>
                  <a:pt x="3611563" y="698503"/>
                </a:lnTo>
                <a:cubicBezTo>
                  <a:pt x="3611562" y="733571"/>
                  <a:pt x="3583134" y="762000"/>
                  <a:pt x="3548065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603250" y="152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1" name="Text 9"/>
          <p:cNvSpPr/>
          <p:nvPr/>
        </p:nvSpPr>
        <p:spPr>
          <a:xfrm>
            <a:off x="575469" y="152400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1</a:t>
            </a:r>
            <a:endParaRPr lang="en-US" sz="160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20750" y="155575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二分类任务</a:t>
            </a:r>
            <a:endParaRPr lang="en-US" sz="16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3250" y="1841500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McNemar配对检验</a:t>
            </a:r>
            <a:endParaRPr lang="en-US" sz="16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12084" y="1397000"/>
            <a:ext cx="3611563" cy="762000"/>
          </a:xfrm>
          <a:custGeom>
            <a:avLst/>
            <a:gdLst/>
            <a:ahLst/>
            <a:cxnLst/>
            <a:rect l="l" t="t" r="r" b="b"/>
            <a:pathLst>
              <a:path w="3611563" h="762000">
                <a:moveTo>
                  <a:pt x="63497" y="0"/>
                </a:moveTo>
                <a:lnTo>
                  <a:pt x="3548065" y="0"/>
                </a:lnTo>
                <a:cubicBezTo>
                  <a:pt x="3583134" y="0"/>
                  <a:pt x="3611562" y="28429"/>
                  <a:pt x="3611562" y="63497"/>
                </a:cubicBezTo>
                <a:lnTo>
                  <a:pt x="3611563" y="698503"/>
                </a:lnTo>
                <a:cubicBezTo>
                  <a:pt x="3611562" y="733571"/>
                  <a:pt x="3583134" y="762000"/>
                  <a:pt x="3548065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9084" y="152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6" name="Text 14"/>
          <p:cNvSpPr/>
          <p:nvPr/>
        </p:nvSpPr>
        <p:spPr>
          <a:xfrm>
            <a:off x="4311303" y="152400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2</a:t>
            </a:r>
            <a:endParaRPr lang="en-US" sz="160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56584" y="155575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多分类任务</a:t>
            </a:r>
            <a:endParaRPr lang="en-US" sz="160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39084" y="1841500"/>
            <a:ext cx="342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Stuart-Maxwell检验</a:t>
            </a:r>
            <a:endParaRPr lang="en-US" sz="1600" dirty="0">
              <a:latin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6250" y="2286000"/>
            <a:ext cx="7405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对同一批样本的"基座 vs 性格模型"预测进行配对显著性检验，得到</a:t>
            </a:r>
            <a:r>
              <a:rPr lang="en-US" sz="10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p-value</a:t>
            </a:r>
            <a:r>
              <a:rPr lang="en-US" sz="1000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评估偏移的统计可靠性</a:t>
            </a:r>
            <a:endParaRPr lang="en-US" sz="1600" dirty="0">
              <a:latin typeface="+mn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06792" y="889000"/>
            <a:ext cx="3770313" cy="1878725"/>
          </a:xfrm>
          <a:custGeom>
            <a:avLst/>
            <a:gdLst/>
            <a:ahLst/>
            <a:cxnLst/>
            <a:rect l="l" t="t" r="r" b="b"/>
            <a:pathLst>
              <a:path w="3770313" h="1762125">
                <a:moveTo>
                  <a:pt x="95243" y="0"/>
                </a:moveTo>
                <a:lnTo>
                  <a:pt x="3675070" y="0"/>
                </a:lnTo>
                <a:cubicBezTo>
                  <a:pt x="3727636" y="0"/>
                  <a:pt x="3770313" y="42677"/>
                  <a:pt x="3770313" y="95243"/>
                </a:cubicBezTo>
                <a:lnTo>
                  <a:pt x="3770313" y="1666882"/>
                </a:lnTo>
                <a:cubicBezTo>
                  <a:pt x="3770313" y="1719483"/>
                  <a:pt x="3727671" y="1762125"/>
                  <a:pt x="3675070" y="1762125"/>
                </a:cubicBezTo>
                <a:lnTo>
                  <a:pt x="95243" y="1762125"/>
                </a:lnTo>
                <a:cubicBezTo>
                  <a:pt x="42642" y="1762125"/>
                  <a:pt x="0" y="1719483"/>
                  <a:pt x="0" y="1666882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1" name="Shape 19"/>
          <p:cNvSpPr/>
          <p:nvPr/>
        </p:nvSpPr>
        <p:spPr>
          <a:xfrm>
            <a:off x="9847709" y="1317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5854" y="1698625"/>
            <a:ext cx="353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核心结论</a:t>
            </a:r>
            <a:endParaRPr lang="en-US" sz="1600" dirty="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33792" y="2016125"/>
            <a:ext cx="3516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偏移不是</a:t>
            </a:r>
            <a:r>
              <a:rPr lang="en-US" sz="10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随机波动</a:t>
            </a:r>
            <a:r>
              <a:rPr lang="en-US" sz="10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，而是</a:t>
            </a:r>
            <a:r>
              <a:rPr lang="en-US" sz="10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统计可靠的差异</a:t>
            </a:r>
            <a:endParaRPr lang="en-US" sz="1600" dirty="0">
              <a:latin typeface="+mn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7500" y="3989555"/>
            <a:ext cx="11557000" cy="2476500"/>
          </a:xfrm>
          <a:custGeom>
            <a:avLst/>
            <a:gdLst/>
            <a:ahLst/>
            <a:cxnLst/>
            <a:rect l="l" t="t" r="r" b="b"/>
            <a:pathLst>
              <a:path w="11557000" h="2349500">
                <a:moveTo>
                  <a:pt x="95249" y="0"/>
                </a:moveTo>
                <a:lnTo>
                  <a:pt x="11461751" y="0"/>
                </a:lnTo>
                <a:cubicBezTo>
                  <a:pt x="11514356" y="0"/>
                  <a:pt x="11557000" y="42644"/>
                  <a:pt x="11557000" y="95249"/>
                </a:cubicBezTo>
                <a:lnTo>
                  <a:pt x="11557000" y="2254251"/>
                </a:lnTo>
                <a:cubicBezTo>
                  <a:pt x="11557000" y="2306856"/>
                  <a:pt x="11514356" y="2349500"/>
                  <a:pt x="11461751" y="2349500"/>
                </a:cubicBezTo>
                <a:lnTo>
                  <a:pt x="95249" y="2349500"/>
                </a:lnTo>
                <a:cubicBezTo>
                  <a:pt x="42644" y="2349500"/>
                  <a:pt x="0" y="2306856"/>
                  <a:pt x="0" y="2254251"/>
                </a:cubicBezTo>
                <a:lnTo>
                  <a:pt x="0" y="95249"/>
                </a:lnTo>
                <a:cubicBezTo>
                  <a:pt x="0" y="42644"/>
                  <a:pt x="42644" y="0"/>
                  <a:pt x="952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172" y="418005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8874" y="74414"/>
                </a:moveTo>
                <a:lnTo>
                  <a:pt x="104304" y="74414"/>
                </a:lnTo>
                <a:cubicBezTo>
                  <a:pt x="98816" y="74414"/>
                  <a:pt x="94382" y="69980"/>
                  <a:pt x="94382" y="64492"/>
                </a:cubicBezTo>
                <a:lnTo>
                  <a:pt x="94382" y="9922"/>
                </a:lnTo>
                <a:cubicBezTo>
                  <a:pt x="94382" y="4434"/>
                  <a:pt x="98847" y="-62"/>
                  <a:pt x="104273" y="651"/>
                </a:cubicBezTo>
                <a:cubicBezTo>
                  <a:pt x="137449" y="5054"/>
                  <a:pt x="163742" y="31347"/>
                  <a:pt x="168145" y="64523"/>
                </a:cubicBezTo>
                <a:cubicBezTo>
                  <a:pt x="168858" y="69949"/>
                  <a:pt x="164362" y="74414"/>
                  <a:pt x="158874" y="74414"/>
                </a:cubicBezTo>
                <a:close/>
                <a:moveTo>
                  <a:pt x="69019" y="11534"/>
                </a:moveTo>
                <a:cubicBezTo>
                  <a:pt x="74631" y="10356"/>
                  <a:pt x="79499" y="14945"/>
                  <a:pt x="79499" y="20681"/>
                </a:cubicBezTo>
                <a:lnTo>
                  <a:pt x="79499" y="81855"/>
                </a:lnTo>
                <a:cubicBezTo>
                  <a:pt x="79499" y="83592"/>
                  <a:pt x="80119" y="85266"/>
                  <a:pt x="81204" y="86599"/>
                </a:cubicBezTo>
                <a:lnTo>
                  <a:pt x="122163" y="136023"/>
                </a:lnTo>
                <a:cubicBezTo>
                  <a:pt x="125791" y="140395"/>
                  <a:pt x="125016" y="146999"/>
                  <a:pt x="120024" y="149696"/>
                </a:cubicBezTo>
                <a:cubicBezTo>
                  <a:pt x="109451" y="155463"/>
                  <a:pt x="97327" y="158750"/>
                  <a:pt x="84460" y="158750"/>
                </a:cubicBezTo>
                <a:cubicBezTo>
                  <a:pt x="43377" y="158750"/>
                  <a:pt x="10046" y="125419"/>
                  <a:pt x="10046" y="84336"/>
                </a:cubicBezTo>
                <a:cubicBezTo>
                  <a:pt x="10046" y="48524"/>
                  <a:pt x="35316" y="18635"/>
                  <a:pt x="69019" y="11534"/>
                </a:cubicBezTo>
                <a:close/>
                <a:moveTo>
                  <a:pt x="148146" y="89297"/>
                </a:moveTo>
                <a:lnTo>
                  <a:pt x="167990" y="89297"/>
                </a:lnTo>
                <a:cubicBezTo>
                  <a:pt x="173726" y="89297"/>
                  <a:pt x="178315" y="94165"/>
                  <a:pt x="177136" y="99777"/>
                </a:cubicBezTo>
                <a:cubicBezTo>
                  <a:pt x="173974" y="114784"/>
                  <a:pt x="166284" y="128116"/>
                  <a:pt x="155556" y="138286"/>
                </a:cubicBezTo>
                <a:cubicBezTo>
                  <a:pt x="151743" y="141914"/>
                  <a:pt x="145759" y="141139"/>
                  <a:pt x="142410" y="137077"/>
                </a:cubicBezTo>
                <a:lnTo>
                  <a:pt x="116241" y="105544"/>
                </a:lnTo>
                <a:cubicBezTo>
                  <a:pt x="110877" y="99064"/>
                  <a:pt x="115497" y="89297"/>
                  <a:pt x="123868" y="89297"/>
                </a:cubicBezTo>
                <a:lnTo>
                  <a:pt x="148115" y="89297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769938" y="4148305"/>
            <a:ext cx="137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显著性覆盖率总览</a:t>
            </a:r>
            <a:endParaRPr lang="en-US" sz="16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8313" y="3607050"/>
            <a:ext cx="9665146" cy="278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总检验次数：288次 = 3 * 4 * 2 *6 * 2</a:t>
            </a:r>
            <a:r>
              <a:rPr lang="zh-CN" altLang="en-US" sz="12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（重复实验一次）</a:t>
            </a:r>
            <a:r>
              <a:rPr lang="en-US" sz="120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 </a:t>
            </a:r>
            <a:endParaRPr lang="en-US" sz="1200" dirty="0">
              <a:latin typeface="+mn-ea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28303" y="4551126"/>
            <a:ext cx="1961074" cy="769938"/>
          </a:xfrm>
          <a:custGeom>
            <a:avLst/>
            <a:gdLst/>
            <a:ahLst/>
            <a:cxnLst/>
            <a:rect l="l" t="t" r="r" b="b"/>
            <a:pathLst>
              <a:path w="7421563" h="769938">
                <a:moveTo>
                  <a:pt x="63497" y="0"/>
                </a:moveTo>
                <a:lnTo>
                  <a:pt x="7358066" y="0"/>
                </a:lnTo>
                <a:cubicBezTo>
                  <a:pt x="7393134" y="0"/>
                  <a:pt x="7421562" y="28428"/>
                  <a:pt x="7421562" y="63497"/>
                </a:cubicBezTo>
                <a:lnTo>
                  <a:pt x="7421563" y="706441"/>
                </a:lnTo>
                <a:cubicBezTo>
                  <a:pt x="7421562" y="741509"/>
                  <a:pt x="7393134" y="769938"/>
                  <a:pt x="7358066" y="769938"/>
                </a:cubicBezTo>
                <a:lnTo>
                  <a:pt x="63497" y="769938"/>
                </a:lnTo>
                <a:cubicBezTo>
                  <a:pt x="28428" y="769938"/>
                  <a:pt x="0" y="741509"/>
                  <a:pt x="0" y="706441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E74C3C">
              <a:alpha val="5098"/>
            </a:srgbClr>
          </a:solidFill>
          <a:ln w="12700">
            <a:solidFill>
              <a:srgbClr val="E74C3C">
                <a:alpha val="2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0250" y="464973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1" name="Text 28"/>
          <p:cNvSpPr/>
          <p:nvPr/>
        </p:nvSpPr>
        <p:spPr>
          <a:xfrm>
            <a:off x="682625" y="4649730"/>
            <a:ext cx="603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280</a:t>
            </a:r>
            <a:endParaRPr lang="en-US" sz="1600" dirty="0">
              <a:latin typeface="+mn-ea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365250" y="4649730"/>
            <a:ext cx="659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显著 (p &lt; 0.05)</a:t>
            </a:r>
            <a:endParaRPr lang="en-US" sz="1600" dirty="0">
              <a:latin typeface="+mn-ea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365250" y="4871980"/>
            <a:ext cx="1039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97.2%</a:t>
            </a:r>
            <a:endParaRPr lang="en-US" sz="1600" dirty="0">
              <a:latin typeface="+mn-ea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26497" y="5441572"/>
            <a:ext cx="1982158" cy="769938"/>
          </a:xfrm>
          <a:custGeom>
            <a:avLst/>
            <a:gdLst/>
            <a:ahLst/>
            <a:cxnLst/>
            <a:rect l="l" t="t" r="r" b="b"/>
            <a:pathLst>
              <a:path w="7421563" h="769938">
                <a:moveTo>
                  <a:pt x="63497" y="0"/>
                </a:moveTo>
                <a:lnTo>
                  <a:pt x="7358066" y="0"/>
                </a:lnTo>
                <a:cubicBezTo>
                  <a:pt x="7393134" y="0"/>
                  <a:pt x="7421562" y="28428"/>
                  <a:pt x="7421562" y="63497"/>
                </a:cubicBezTo>
                <a:lnTo>
                  <a:pt x="7421563" y="706441"/>
                </a:lnTo>
                <a:cubicBezTo>
                  <a:pt x="7421562" y="741509"/>
                  <a:pt x="7393134" y="769938"/>
                  <a:pt x="7358066" y="769938"/>
                </a:cubicBezTo>
                <a:lnTo>
                  <a:pt x="63497" y="769938"/>
                </a:lnTo>
                <a:cubicBezTo>
                  <a:pt x="28428" y="769938"/>
                  <a:pt x="0" y="741509"/>
                  <a:pt x="0" y="706441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5D6D7E">
              <a:alpha val="5098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5218" y="553736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6" name="Text 33"/>
          <p:cNvSpPr/>
          <p:nvPr/>
        </p:nvSpPr>
        <p:spPr>
          <a:xfrm>
            <a:off x="682625" y="5533385"/>
            <a:ext cx="603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8</a:t>
            </a:r>
            <a:endParaRPr lang="en-US" sz="1600" dirty="0">
              <a:latin typeface="+mn-ea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394596" y="5537368"/>
            <a:ext cx="659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不显著 (p ≥ 0.05)</a:t>
            </a:r>
            <a:endParaRPr lang="en-US" sz="1600" dirty="0">
              <a:latin typeface="+mn-ea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365250" y="5747781"/>
            <a:ext cx="1039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2.8%</a:t>
            </a:r>
            <a:endParaRPr lang="en-US" sz="1600" dirty="0">
              <a:latin typeface="+mn-ea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958084" y="415628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71438" y="37951"/>
                </a:moveTo>
                <a:cubicBezTo>
                  <a:pt x="75149" y="37951"/>
                  <a:pt x="78135" y="40937"/>
                  <a:pt x="78135" y="44648"/>
                </a:cubicBezTo>
                <a:lnTo>
                  <a:pt x="78135" y="75902"/>
                </a:lnTo>
                <a:cubicBezTo>
                  <a:pt x="78135" y="79614"/>
                  <a:pt x="75149" y="82600"/>
                  <a:pt x="71438" y="82600"/>
                </a:cubicBezTo>
                <a:cubicBezTo>
                  <a:pt x="67726" y="82600"/>
                  <a:pt x="64740" y="79614"/>
                  <a:pt x="64740" y="75902"/>
                </a:cubicBezTo>
                <a:lnTo>
                  <a:pt x="64740" y="44648"/>
                </a:lnTo>
                <a:cubicBezTo>
                  <a:pt x="64740" y="40937"/>
                  <a:pt x="67726" y="37951"/>
                  <a:pt x="71438" y="37951"/>
                </a:cubicBezTo>
                <a:close/>
                <a:moveTo>
                  <a:pt x="63987" y="98227"/>
                </a:moveTo>
                <a:cubicBezTo>
                  <a:pt x="63817" y="95461"/>
                  <a:pt x="65197" y="92830"/>
                  <a:pt x="67567" y="91396"/>
                </a:cubicBezTo>
                <a:cubicBezTo>
                  <a:pt x="69938" y="89962"/>
                  <a:pt x="72909" y="89962"/>
                  <a:pt x="75280" y="91396"/>
                </a:cubicBezTo>
                <a:cubicBezTo>
                  <a:pt x="77651" y="92830"/>
                  <a:pt x="79030" y="95461"/>
                  <a:pt x="78860" y="98227"/>
                </a:cubicBezTo>
                <a:cubicBezTo>
                  <a:pt x="79030" y="100992"/>
                  <a:pt x="77651" y="103623"/>
                  <a:pt x="75280" y="105057"/>
                </a:cubicBezTo>
                <a:cubicBezTo>
                  <a:pt x="72909" y="106492"/>
                  <a:pt x="69938" y="106492"/>
                  <a:pt x="67567" y="105057"/>
                </a:cubicBezTo>
                <a:cubicBezTo>
                  <a:pt x="65197" y="103623"/>
                  <a:pt x="63817" y="100992"/>
                  <a:pt x="63987" y="98227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1" name="Text 38"/>
          <p:cNvSpPr/>
          <p:nvPr/>
        </p:nvSpPr>
        <p:spPr>
          <a:xfrm>
            <a:off x="4212084" y="4116599"/>
            <a:ext cx="174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3E50"/>
                </a:solidFill>
                <a:latin typeface="+mn-ea"/>
                <a:cs typeface="MiSans" pitchFamily="34" charset="-120"/>
              </a:rPr>
              <a:t>不显著特例（仅4组组合）</a:t>
            </a:r>
            <a:endParaRPr lang="en-US" sz="1600" dirty="0">
              <a:latin typeface="+mn-ea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950661" y="4437138"/>
            <a:ext cx="6587358" cy="1763146"/>
          </a:xfrm>
          <a:custGeom>
            <a:avLst/>
            <a:gdLst/>
            <a:ahLst/>
            <a:cxnLst/>
            <a:rect l="l" t="t" r="r" b="b"/>
            <a:pathLst>
              <a:path w="11295063" h="1460500">
                <a:moveTo>
                  <a:pt x="63503" y="0"/>
                </a:moveTo>
                <a:lnTo>
                  <a:pt x="11231560" y="0"/>
                </a:lnTo>
                <a:cubicBezTo>
                  <a:pt x="11266631" y="0"/>
                  <a:pt x="11295063" y="28431"/>
                  <a:pt x="11295063" y="63503"/>
                </a:cubicBezTo>
                <a:lnTo>
                  <a:pt x="11295063" y="1396997"/>
                </a:lnTo>
                <a:cubicBezTo>
                  <a:pt x="11295063" y="1432069"/>
                  <a:pt x="11266631" y="1460500"/>
                  <a:pt x="11231560" y="1460500"/>
                </a:cubicBezTo>
                <a:lnTo>
                  <a:pt x="63503" y="1460500"/>
                </a:lnTo>
                <a:cubicBezTo>
                  <a:pt x="28431" y="1460500"/>
                  <a:pt x="0" y="1432069"/>
                  <a:pt x="0" y="139699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06680"/>
              </p:ext>
            </p:extLst>
          </p:nvPr>
        </p:nvGraphicFramePr>
        <p:xfrm>
          <a:off x="4024313" y="4546993"/>
          <a:ext cx="6342501" cy="1647068"/>
        </p:xfrm>
        <a:graphic>
          <a:graphicData uri="http://schemas.openxmlformats.org/drawingml/2006/table">
            <a:tbl>
              <a:tblPr/>
              <a:tblGrid>
                <a:gridCol w="1195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468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模型家族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子模型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p-value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0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energy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imdb_sklearn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5D6D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0.896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90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execution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imdb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5D6D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0.249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90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information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sst2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5D6D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0.827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900"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information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5D6D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0.137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3500" marR="635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Text 41"/>
          <p:cNvSpPr/>
          <p:nvPr/>
        </p:nvSpPr>
        <p:spPr>
          <a:xfrm>
            <a:off x="607219" y="7231063"/>
            <a:ext cx="1119584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>
              <a:latin typeface="+mn-ea"/>
            </a:endParaRPr>
          </a:p>
        </p:txBody>
      </p:sp>
      <p:sp>
        <p:nvSpPr>
          <p:cNvPr id="48" name="Text 38">
            <a:extLst>
              <a:ext uri="{FF2B5EF4-FFF2-40B4-BE49-F238E27FC236}">
                <a16:creationId xmlns:a16="http://schemas.microsoft.com/office/drawing/2014/main" id="{247EACFE-C7E6-4907-9BF0-89D93836B36A}"/>
              </a:ext>
            </a:extLst>
          </p:cNvPr>
          <p:cNvSpPr/>
          <p:nvPr/>
        </p:nvSpPr>
        <p:spPr>
          <a:xfrm>
            <a:off x="476250" y="2975099"/>
            <a:ext cx="11016214" cy="84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50" b="1" dirty="0">
                <a:solidFill>
                  <a:srgbClr val="2C3E50"/>
                </a:solidFill>
                <a:latin typeface="+mn-ea"/>
              </a:rPr>
              <a:t>显著检验模式</a:t>
            </a:r>
            <a:endParaRPr lang="en-US" altLang="zh-CN" sz="1250" b="1" dirty="0">
              <a:solidFill>
                <a:srgbClr val="2C3E5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2C3E50"/>
                </a:solidFill>
                <a:latin typeface="+mn-ea"/>
              </a:rPr>
              <a:t>检验每个</a:t>
            </a:r>
            <a:r>
              <a:rPr lang="zh-CN" altLang="en-US" sz="1200" b="1" dirty="0">
                <a:solidFill>
                  <a:srgbClr val="2C3E50"/>
                </a:solidFill>
                <a:latin typeface="+mn-ea"/>
              </a:rPr>
              <a:t>架构</a:t>
            </a:r>
            <a:r>
              <a:rPr lang="zh-CN" altLang="en-US" sz="1200" dirty="0">
                <a:solidFill>
                  <a:srgbClr val="2C3E50"/>
                </a:solidFill>
                <a:latin typeface="+mn-ea"/>
              </a:rPr>
              <a:t>（</a:t>
            </a:r>
            <a:r>
              <a:rPr lang="en-US" altLang="zh-CN" sz="1200" dirty="0">
                <a:solidFill>
                  <a:srgbClr val="2C3E50"/>
                </a:solidFill>
                <a:latin typeface="+mn-ea"/>
              </a:rPr>
              <a:t>3</a:t>
            </a:r>
            <a:r>
              <a:rPr lang="zh-CN" altLang="en-US" sz="1200" dirty="0">
                <a:solidFill>
                  <a:srgbClr val="2C3E50"/>
                </a:solidFill>
                <a:latin typeface="+mn-ea"/>
              </a:rPr>
              <a:t>种架构）的模型，在每个</a:t>
            </a:r>
            <a:r>
              <a:rPr lang="zh-CN" altLang="en-US" sz="1200" b="1" dirty="0">
                <a:solidFill>
                  <a:srgbClr val="2C3E50"/>
                </a:solidFill>
                <a:latin typeface="+mn-ea"/>
              </a:rPr>
              <a:t>维度</a:t>
            </a:r>
            <a:r>
              <a:rPr lang="zh-CN" altLang="en-US" sz="1200" dirty="0">
                <a:solidFill>
                  <a:srgbClr val="2C3E50"/>
                </a:solidFill>
                <a:latin typeface="+mn-ea"/>
              </a:rPr>
              <a:t>（</a:t>
            </a:r>
            <a:r>
              <a:rPr lang="en-US" altLang="zh-CN" sz="1200" dirty="0">
                <a:solidFill>
                  <a:srgbClr val="2C3E50"/>
                </a:solidFill>
                <a:latin typeface="+mn-ea"/>
              </a:rPr>
              <a:t>4</a:t>
            </a:r>
            <a:r>
              <a:rPr lang="zh-CN" altLang="en-US" sz="1200" dirty="0">
                <a:solidFill>
                  <a:srgbClr val="2C3E50"/>
                </a:solidFill>
                <a:latin typeface="+mn-ea"/>
              </a:rPr>
              <a:t>个维度）微调后的</a:t>
            </a:r>
            <a:r>
              <a:rPr lang="zh-CN" altLang="en-US" sz="1200" b="1" dirty="0">
                <a:solidFill>
                  <a:srgbClr val="2C3E50"/>
                </a:solidFill>
                <a:latin typeface="+mn-ea"/>
              </a:rPr>
              <a:t>性格</a:t>
            </a:r>
            <a:r>
              <a:rPr lang="zh-CN" altLang="en-US" sz="1200" dirty="0">
                <a:solidFill>
                  <a:srgbClr val="2C3E50"/>
                </a:solidFill>
                <a:latin typeface="+mn-ea"/>
              </a:rPr>
              <a:t>（</a:t>
            </a:r>
            <a:r>
              <a:rPr lang="en-US" altLang="zh-CN" sz="1200" dirty="0">
                <a:solidFill>
                  <a:srgbClr val="2C3E50"/>
                </a:solidFill>
                <a:latin typeface="+mn-ea"/>
              </a:rPr>
              <a:t>2</a:t>
            </a:r>
            <a:r>
              <a:rPr lang="zh-CN" altLang="en-US" sz="1200" dirty="0">
                <a:solidFill>
                  <a:srgbClr val="2C3E50"/>
                </a:solidFill>
                <a:latin typeface="+mn-ea"/>
              </a:rPr>
              <a:t>种性格）在</a:t>
            </a:r>
            <a:r>
              <a:rPr lang="zh-CN" altLang="en-US" sz="1200" b="1" dirty="0">
                <a:solidFill>
                  <a:srgbClr val="2C3E50"/>
                </a:solidFill>
                <a:latin typeface="+mn-ea"/>
              </a:rPr>
              <a:t>每个情绪数据集（</a:t>
            </a:r>
            <a:r>
              <a:rPr lang="en-US" altLang="zh-CN" sz="1200" b="1" dirty="0">
                <a:solidFill>
                  <a:srgbClr val="2C3E50"/>
                </a:solidFill>
                <a:latin typeface="+mn-ea"/>
              </a:rPr>
              <a:t>6</a:t>
            </a:r>
            <a:r>
              <a:rPr lang="zh-CN" altLang="en-US" sz="1200" b="1" dirty="0">
                <a:solidFill>
                  <a:srgbClr val="2C3E50"/>
                </a:solidFill>
                <a:latin typeface="+mn-ea"/>
              </a:rPr>
              <a:t>个）</a:t>
            </a:r>
            <a:r>
              <a:rPr lang="zh-CN" altLang="en-US" sz="1200" dirty="0">
                <a:solidFill>
                  <a:srgbClr val="2C3E50"/>
                </a:solidFill>
                <a:latin typeface="+mn-ea"/>
              </a:rPr>
              <a:t>上和</a:t>
            </a:r>
            <a:r>
              <a:rPr lang="en-US" altLang="zh-CN" sz="1200" dirty="0">
                <a:solidFill>
                  <a:srgbClr val="2C3E50"/>
                </a:solidFill>
                <a:latin typeface="+mn-ea"/>
              </a:rPr>
              <a:t>Base</a:t>
            </a:r>
            <a:r>
              <a:rPr lang="zh-CN" altLang="en-US" sz="1200" dirty="0">
                <a:solidFill>
                  <a:srgbClr val="2C3E50"/>
                </a:solidFill>
                <a:latin typeface="+mn-ea"/>
              </a:rPr>
              <a:t>模型的偏移是否显著。</a:t>
            </a:r>
            <a:br>
              <a:rPr lang="en-US" altLang="zh-CN" sz="1200" b="1" dirty="0">
                <a:solidFill>
                  <a:srgbClr val="2C3E50"/>
                </a:solidFill>
                <a:latin typeface="+mn-ea"/>
              </a:rPr>
            </a:br>
            <a:endParaRPr lang="en-US" sz="1200" b="1" dirty="0">
              <a:solidFill>
                <a:srgbClr val="2C3E50"/>
              </a:solidFill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406" y="335406"/>
            <a:ext cx="335406" cy="335406"/>
          </a:xfrm>
          <a:custGeom>
            <a:avLst/>
            <a:gdLst/>
            <a:ahLst/>
            <a:cxnLst/>
            <a:rect l="l" t="t" r="r" b="b"/>
            <a:pathLst>
              <a:path w="335406" h="335406">
                <a:moveTo>
                  <a:pt x="67081" y="0"/>
                </a:moveTo>
                <a:lnTo>
                  <a:pt x="268325" y="0"/>
                </a:lnTo>
                <a:cubicBezTo>
                  <a:pt x="305373" y="0"/>
                  <a:pt x="335406" y="30033"/>
                  <a:pt x="335406" y="67081"/>
                </a:cubicBezTo>
                <a:lnTo>
                  <a:pt x="335406" y="268325"/>
                </a:lnTo>
                <a:cubicBezTo>
                  <a:pt x="335406" y="305373"/>
                  <a:pt x="305373" y="335406"/>
                  <a:pt x="268325" y="335406"/>
                </a:cubicBezTo>
                <a:lnTo>
                  <a:pt x="67081" y="335406"/>
                </a:lnTo>
                <a:cubicBezTo>
                  <a:pt x="30033" y="335406"/>
                  <a:pt x="0" y="305373"/>
                  <a:pt x="0" y="268325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3" name="Text 1"/>
          <p:cNvSpPr/>
          <p:nvPr/>
        </p:nvSpPr>
        <p:spPr>
          <a:xfrm>
            <a:off x="297673" y="335406"/>
            <a:ext cx="410872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03</a:t>
            </a:r>
            <a:endParaRPr lang="en-US" sz="16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1433" y="335406"/>
            <a:ext cx="4460897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7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偏移幅度：维度与模型规模效应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1433" y="737893"/>
            <a:ext cx="670812" cy="33541"/>
          </a:xfrm>
          <a:custGeom>
            <a:avLst/>
            <a:gdLst/>
            <a:ahLst/>
            <a:cxnLst/>
            <a:rect l="l" t="t" r="r" b="b"/>
            <a:pathLst>
              <a:path w="670812" h="33541">
                <a:moveTo>
                  <a:pt x="0" y="0"/>
                </a:moveTo>
                <a:lnTo>
                  <a:pt x="670812" y="0"/>
                </a:lnTo>
                <a:lnTo>
                  <a:pt x="670812" y="33541"/>
                </a:lnTo>
                <a:lnTo>
                  <a:pt x="0" y="33541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335406" y="939136"/>
            <a:ext cx="11521188" cy="1425475"/>
          </a:xfrm>
          <a:custGeom>
            <a:avLst/>
            <a:gdLst/>
            <a:ahLst/>
            <a:cxnLst/>
            <a:rect l="l" t="t" r="r" b="b"/>
            <a:pathLst>
              <a:path w="11521188" h="1425475">
                <a:moveTo>
                  <a:pt x="100624" y="0"/>
                </a:moveTo>
                <a:lnTo>
                  <a:pt x="11420564" y="0"/>
                </a:lnTo>
                <a:cubicBezTo>
                  <a:pt x="11476137" y="0"/>
                  <a:pt x="11521188" y="45051"/>
                  <a:pt x="11521188" y="100624"/>
                </a:cubicBezTo>
                <a:lnTo>
                  <a:pt x="11521188" y="1324850"/>
                </a:lnTo>
                <a:cubicBezTo>
                  <a:pt x="11521188" y="1380424"/>
                  <a:pt x="11476137" y="1425475"/>
                  <a:pt x="11420564" y="1425475"/>
                </a:cubicBezTo>
                <a:lnTo>
                  <a:pt x="100624" y="1425475"/>
                </a:lnTo>
                <a:cubicBezTo>
                  <a:pt x="45051" y="1425475"/>
                  <a:pt x="0" y="1380424"/>
                  <a:pt x="0" y="1324850"/>
                </a:cubicBezTo>
                <a:lnTo>
                  <a:pt x="0" y="100624"/>
                </a:lnTo>
                <a:cubicBezTo>
                  <a:pt x="0" y="45088"/>
                  <a:pt x="45088" y="0"/>
                  <a:pt x="10062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311" dist="335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3590" y="1140380"/>
            <a:ext cx="188666" cy="167703"/>
          </a:xfrm>
          <a:custGeom>
            <a:avLst/>
            <a:gdLst/>
            <a:ahLst/>
            <a:cxnLst/>
            <a:rect l="l" t="t" r="r" b="b"/>
            <a:pathLst>
              <a:path w="188666" h="167703">
                <a:moveTo>
                  <a:pt x="68490" y="169079"/>
                </a:moveTo>
                <a:cubicBezTo>
                  <a:pt x="62365" y="175204"/>
                  <a:pt x="52407" y="175204"/>
                  <a:pt x="46249" y="169079"/>
                </a:cubicBezTo>
                <a:lnTo>
                  <a:pt x="9204" y="132033"/>
                </a:lnTo>
                <a:cubicBezTo>
                  <a:pt x="3079" y="125908"/>
                  <a:pt x="3079" y="115951"/>
                  <a:pt x="9204" y="109793"/>
                </a:cubicBezTo>
                <a:lnTo>
                  <a:pt x="14772" y="104225"/>
                </a:lnTo>
                <a:lnTo>
                  <a:pt x="38847" y="128299"/>
                </a:lnTo>
                <a:cubicBezTo>
                  <a:pt x="41926" y="131378"/>
                  <a:pt x="46904" y="131378"/>
                  <a:pt x="49951" y="128299"/>
                </a:cubicBezTo>
                <a:cubicBezTo>
                  <a:pt x="52997" y="125220"/>
                  <a:pt x="53029" y="120242"/>
                  <a:pt x="49951" y="117195"/>
                </a:cubicBezTo>
                <a:lnTo>
                  <a:pt x="25876" y="93121"/>
                </a:lnTo>
                <a:lnTo>
                  <a:pt x="36980" y="82017"/>
                </a:lnTo>
                <a:lnTo>
                  <a:pt x="53652" y="98689"/>
                </a:lnTo>
                <a:cubicBezTo>
                  <a:pt x="56731" y="101768"/>
                  <a:pt x="61709" y="101768"/>
                  <a:pt x="64756" y="98689"/>
                </a:cubicBezTo>
                <a:cubicBezTo>
                  <a:pt x="67802" y="95610"/>
                  <a:pt x="67835" y="90632"/>
                  <a:pt x="64756" y="87585"/>
                </a:cubicBezTo>
                <a:lnTo>
                  <a:pt x="48084" y="70913"/>
                </a:lnTo>
                <a:lnTo>
                  <a:pt x="59187" y="59810"/>
                </a:lnTo>
                <a:lnTo>
                  <a:pt x="83262" y="83884"/>
                </a:lnTo>
                <a:cubicBezTo>
                  <a:pt x="86341" y="86963"/>
                  <a:pt x="91319" y="86963"/>
                  <a:pt x="94366" y="83884"/>
                </a:cubicBezTo>
                <a:cubicBezTo>
                  <a:pt x="97412" y="80805"/>
                  <a:pt x="97445" y="75827"/>
                  <a:pt x="94366" y="72780"/>
                </a:cubicBezTo>
                <a:lnTo>
                  <a:pt x="70291" y="48706"/>
                </a:lnTo>
                <a:lnTo>
                  <a:pt x="81395" y="37602"/>
                </a:lnTo>
                <a:lnTo>
                  <a:pt x="98067" y="54274"/>
                </a:lnTo>
                <a:cubicBezTo>
                  <a:pt x="101146" y="57353"/>
                  <a:pt x="106124" y="57353"/>
                  <a:pt x="109171" y="54274"/>
                </a:cubicBezTo>
                <a:cubicBezTo>
                  <a:pt x="112217" y="51195"/>
                  <a:pt x="112250" y="46217"/>
                  <a:pt x="109171" y="43170"/>
                </a:cubicBezTo>
                <a:lnTo>
                  <a:pt x="92499" y="26498"/>
                </a:lnTo>
                <a:lnTo>
                  <a:pt x="103602" y="15395"/>
                </a:lnTo>
                <a:lnTo>
                  <a:pt x="127677" y="39469"/>
                </a:lnTo>
                <a:cubicBezTo>
                  <a:pt x="130756" y="42548"/>
                  <a:pt x="135735" y="42548"/>
                  <a:pt x="138781" y="39469"/>
                </a:cubicBezTo>
                <a:cubicBezTo>
                  <a:pt x="141827" y="36390"/>
                  <a:pt x="141860" y="31412"/>
                  <a:pt x="138781" y="28365"/>
                </a:cubicBezTo>
                <a:lnTo>
                  <a:pt x="114706" y="4291"/>
                </a:lnTo>
                <a:lnTo>
                  <a:pt x="120274" y="-1277"/>
                </a:lnTo>
                <a:cubicBezTo>
                  <a:pt x="126400" y="-7403"/>
                  <a:pt x="136357" y="-7403"/>
                  <a:pt x="142515" y="-1277"/>
                </a:cubicBezTo>
                <a:lnTo>
                  <a:pt x="179658" y="35670"/>
                </a:lnTo>
                <a:cubicBezTo>
                  <a:pt x="185783" y="41795"/>
                  <a:pt x="185783" y="51752"/>
                  <a:pt x="179658" y="57910"/>
                </a:cubicBezTo>
                <a:lnTo>
                  <a:pt x="68490" y="169079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8" name="Text 6"/>
          <p:cNvSpPr/>
          <p:nvPr/>
        </p:nvSpPr>
        <p:spPr>
          <a:xfrm>
            <a:off x="813359" y="1106839"/>
            <a:ext cx="1106839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评估指标说明</a:t>
            </a:r>
            <a:endParaRPr lang="en-US" sz="1600" dirty="0">
              <a:latin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7301" y="1479978"/>
            <a:ext cx="3630768" cy="712737"/>
          </a:xfrm>
          <a:custGeom>
            <a:avLst/>
            <a:gdLst/>
            <a:ahLst/>
            <a:cxnLst/>
            <a:rect l="l" t="t" r="r" b="b"/>
            <a:pathLst>
              <a:path w="3630768" h="712737">
                <a:moveTo>
                  <a:pt x="67083" y="0"/>
                </a:moveTo>
                <a:lnTo>
                  <a:pt x="3563685" y="0"/>
                </a:lnTo>
                <a:cubicBezTo>
                  <a:pt x="3600734" y="0"/>
                  <a:pt x="3630768" y="30034"/>
                  <a:pt x="3630768" y="67083"/>
                </a:cubicBezTo>
                <a:lnTo>
                  <a:pt x="3630768" y="645654"/>
                </a:lnTo>
                <a:cubicBezTo>
                  <a:pt x="3630768" y="682703"/>
                  <a:pt x="3600734" y="712737"/>
                  <a:pt x="3563685" y="712737"/>
                </a:cubicBezTo>
                <a:lnTo>
                  <a:pt x="67083" y="712737"/>
                </a:lnTo>
                <a:cubicBezTo>
                  <a:pt x="30034" y="712737"/>
                  <a:pt x="0" y="682703"/>
                  <a:pt x="0" y="645654"/>
                </a:cubicBezTo>
                <a:lnTo>
                  <a:pt x="0" y="67083"/>
                </a:lnTo>
                <a:cubicBezTo>
                  <a:pt x="0" y="30059"/>
                  <a:pt x="30059" y="0"/>
                  <a:pt x="67083" y="0"/>
                </a:cubicBezTo>
                <a:close/>
              </a:path>
            </a:pathLst>
          </a:custGeom>
          <a:solidFill>
            <a:srgbClr val="F8F9FA"/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656" y="1618333"/>
            <a:ext cx="342113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Cramer's V</a:t>
            </a:r>
            <a:endParaRPr lang="en-US" sz="160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5656" y="1886657"/>
            <a:ext cx="341275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配对检验统计量归一化后的效应量，范围0-1，越大差异越大</a:t>
            </a:r>
            <a:endParaRPr lang="en-US" sz="16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81140" y="1479978"/>
            <a:ext cx="3630768" cy="712737"/>
          </a:xfrm>
          <a:custGeom>
            <a:avLst/>
            <a:gdLst/>
            <a:ahLst/>
            <a:cxnLst/>
            <a:rect l="l" t="t" r="r" b="b"/>
            <a:pathLst>
              <a:path w="3630768" h="712737">
                <a:moveTo>
                  <a:pt x="67083" y="0"/>
                </a:moveTo>
                <a:lnTo>
                  <a:pt x="3563685" y="0"/>
                </a:lnTo>
                <a:cubicBezTo>
                  <a:pt x="3600734" y="0"/>
                  <a:pt x="3630768" y="30034"/>
                  <a:pt x="3630768" y="67083"/>
                </a:cubicBezTo>
                <a:lnTo>
                  <a:pt x="3630768" y="645654"/>
                </a:lnTo>
                <a:cubicBezTo>
                  <a:pt x="3630768" y="682703"/>
                  <a:pt x="3600734" y="712737"/>
                  <a:pt x="3563685" y="712737"/>
                </a:cubicBezTo>
                <a:lnTo>
                  <a:pt x="67083" y="712737"/>
                </a:lnTo>
                <a:cubicBezTo>
                  <a:pt x="30034" y="712737"/>
                  <a:pt x="0" y="682703"/>
                  <a:pt x="0" y="645654"/>
                </a:cubicBezTo>
                <a:lnTo>
                  <a:pt x="0" y="67083"/>
                </a:lnTo>
                <a:cubicBezTo>
                  <a:pt x="0" y="30059"/>
                  <a:pt x="30059" y="0"/>
                  <a:pt x="67083" y="0"/>
                </a:cubicBezTo>
                <a:close/>
              </a:path>
            </a:pathLst>
          </a:custGeom>
          <a:solidFill>
            <a:srgbClr val="F8F9FA"/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9495" y="1618333"/>
            <a:ext cx="342113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TV距离</a:t>
            </a:r>
            <a:endParaRPr lang="en-US" sz="16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19495" y="1886657"/>
            <a:ext cx="341275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边际分布的Total Variation距离，范围0-1</a:t>
            </a:r>
            <a:endParaRPr lang="en-US" sz="1600" dirty="0">
              <a:latin typeface="+mn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55110" y="1479978"/>
            <a:ext cx="3630768" cy="712737"/>
          </a:xfrm>
          <a:custGeom>
            <a:avLst/>
            <a:gdLst/>
            <a:ahLst/>
            <a:cxnLst/>
            <a:rect l="l" t="t" r="r" b="b"/>
            <a:pathLst>
              <a:path w="3630768" h="712737">
                <a:moveTo>
                  <a:pt x="67083" y="0"/>
                </a:moveTo>
                <a:lnTo>
                  <a:pt x="3563685" y="0"/>
                </a:lnTo>
                <a:cubicBezTo>
                  <a:pt x="3600734" y="0"/>
                  <a:pt x="3630768" y="30034"/>
                  <a:pt x="3630768" y="67083"/>
                </a:cubicBezTo>
                <a:lnTo>
                  <a:pt x="3630768" y="645654"/>
                </a:lnTo>
                <a:cubicBezTo>
                  <a:pt x="3630768" y="682703"/>
                  <a:pt x="3600734" y="712737"/>
                  <a:pt x="3563685" y="712737"/>
                </a:cubicBezTo>
                <a:lnTo>
                  <a:pt x="67083" y="712737"/>
                </a:lnTo>
                <a:cubicBezTo>
                  <a:pt x="30034" y="712737"/>
                  <a:pt x="0" y="682703"/>
                  <a:pt x="0" y="645654"/>
                </a:cubicBezTo>
                <a:lnTo>
                  <a:pt x="0" y="67083"/>
                </a:lnTo>
                <a:cubicBezTo>
                  <a:pt x="0" y="30059"/>
                  <a:pt x="30059" y="0"/>
                  <a:pt x="67083" y="0"/>
                </a:cubicBezTo>
                <a:close/>
              </a:path>
            </a:pathLst>
          </a:custGeom>
          <a:solidFill>
            <a:srgbClr val="F8F9FA"/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465" y="1618333"/>
            <a:ext cx="342113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JS散度</a:t>
            </a:r>
            <a:endParaRPr lang="en-US" sz="160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193465" y="1886657"/>
            <a:ext cx="341275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边际分布的Jensen-Shannon散度，范围0-1</a:t>
            </a:r>
            <a:endParaRPr lang="en-US" sz="1600" dirty="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5406" y="2498773"/>
            <a:ext cx="5693513" cy="3052193"/>
          </a:xfrm>
          <a:custGeom>
            <a:avLst/>
            <a:gdLst/>
            <a:ahLst/>
            <a:cxnLst/>
            <a:rect l="l" t="t" r="r" b="b"/>
            <a:pathLst>
              <a:path w="5693513" h="3052193">
                <a:moveTo>
                  <a:pt x="100631" y="0"/>
                </a:moveTo>
                <a:lnTo>
                  <a:pt x="5592882" y="0"/>
                </a:lnTo>
                <a:cubicBezTo>
                  <a:pt x="5648459" y="0"/>
                  <a:pt x="5693513" y="45054"/>
                  <a:pt x="5693513" y="100631"/>
                </a:cubicBezTo>
                <a:lnTo>
                  <a:pt x="5693513" y="2951562"/>
                </a:lnTo>
                <a:cubicBezTo>
                  <a:pt x="5693513" y="3007139"/>
                  <a:pt x="5648459" y="3052193"/>
                  <a:pt x="5592882" y="3052193"/>
                </a:cubicBezTo>
                <a:lnTo>
                  <a:pt x="100631" y="3052193"/>
                </a:lnTo>
                <a:cubicBezTo>
                  <a:pt x="45054" y="3052193"/>
                  <a:pt x="0" y="3007139"/>
                  <a:pt x="0" y="2951562"/>
                </a:cubicBezTo>
                <a:lnTo>
                  <a:pt x="0" y="100631"/>
                </a:lnTo>
                <a:cubicBezTo>
                  <a:pt x="0" y="45091"/>
                  <a:pt x="45091" y="0"/>
                  <a:pt x="10063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311" dist="335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4072" y="2700017"/>
            <a:ext cx="167703" cy="167703"/>
          </a:xfrm>
          <a:custGeom>
            <a:avLst/>
            <a:gdLst/>
            <a:ahLst/>
            <a:cxnLst/>
            <a:rect l="l" t="t" r="r" b="b"/>
            <a:pathLst>
              <a:path w="167703" h="167703">
                <a:moveTo>
                  <a:pt x="76154" y="1703"/>
                </a:moveTo>
                <a:cubicBezTo>
                  <a:pt x="81035" y="-557"/>
                  <a:pt x="86668" y="-557"/>
                  <a:pt x="91549" y="1703"/>
                </a:cubicBezTo>
                <a:lnTo>
                  <a:pt x="163150" y="34785"/>
                </a:lnTo>
                <a:cubicBezTo>
                  <a:pt x="165934" y="36063"/>
                  <a:pt x="167703" y="38847"/>
                  <a:pt x="167703" y="41926"/>
                </a:cubicBezTo>
                <a:cubicBezTo>
                  <a:pt x="167703" y="45005"/>
                  <a:pt x="165934" y="47789"/>
                  <a:pt x="163150" y="49066"/>
                </a:cubicBezTo>
                <a:lnTo>
                  <a:pt x="91549" y="82148"/>
                </a:lnTo>
                <a:cubicBezTo>
                  <a:pt x="86668" y="84408"/>
                  <a:pt x="81035" y="84408"/>
                  <a:pt x="76154" y="82148"/>
                </a:cubicBezTo>
                <a:lnTo>
                  <a:pt x="4553" y="49066"/>
                </a:lnTo>
                <a:cubicBezTo>
                  <a:pt x="1769" y="47756"/>
                  <a:pt x="0" y="44972"/>
                  <a:pt x="0" y="41926"/>
                </a:cubicBezTo>
                <a:cubicBezTo>
                  <a:pt x="0" y="38880"/>
                  <a:pt x="1769" y="36063"/>
                  <a:pt x="4553" y="34785"/>
                </a:cubicBezTo>
                <a:lnTo>
                  <a:pt x="76154" y="1703"/>
                </a:lnTo>
                <a:close/>
                <a:moveTo>
                  <a:pt x="15755" y="71536"/>
                </a:moveTo>
                <a:lnTo>
                  <a:pt x="69570" y="96396"/>
                </a:lnTo>
                <a:cubicBezTo>
                  <a:pt x="78643" y="100589"/>
                  <a:pt x="89092" y="100589"/>
                  <a:pt x="98165" y="96396"/>
                </a:cubicBezTo>
                <a:lnTo>
                  <a:pt x="151981" y="71536"/>
                </a:lnTo>
                <a:lnTo>
                  <a:pt x="163150" y="76711"/>
                </a:lnTo>
                <a:cubicBezTo>
                  <a:pt x="165934" y="77988"/>
                  <a:pt x="167703" y="80773"/>
                  <a:pt x="167703" y="83851"/>
                </a:cubicBezTo>
                <a:cubicBezTo>
                  <a:pt x="167703" y="86930"/>
                  <a:pt x="165934" y="89714"/>
                  <a:pt x="163150" y="90992"/>
                </a:cubicBezTo>
                <a:lnTo>
                  <a:pt x="91549" y="124074"/>
                </a:lnTo>
                <a:cubicBezTo>
                  <a:pt x="86668" y="126334"/>
                  <a:pt x="81035" y="126334"/>
                  <a:pt x="76154" y="124074"/>
                </a:cubicBezTo>
                <a:lnTo>
                  <a:pt x="4553" y="90992"/>
                </a:lnTo>
                <a:cubicBezTo>
                  <a:pt x="1769" y="89682"/>
                  <a:pt x="0" y="86898"/>
                  <a:pt x="0" y="83851"/>
                </a:cubicBezTo>
                <a:cubicBezTo>
                  <a:pt x="0" y="80805"/>
                  <a:pt x="1769" y="77988"/>
                  <a:pt x="4553" y="76711"/>
                </a:cubicBezTo>
                <a:lnTo>
                  <a:pt x="15722" y="71536"/>
                </a:lnTo>
                <a:close/>
                <a:moveTo>
                  <a:pt x="4553" y="118637"/>
                </a:moveTo>
                <a:lnTo>
                  <a:pt x="15722" y="113461"/>
                </a:lnTo>
                <a:lnTo>
                  <a:pt x="69538" y="138322"/>
                </a:lnTo>
                <a:cubicBezTo>
                  <a:pt x="78611" y="142515"/>
                  <a:pt x="89059" y="142515"/>
                  <a:pt x="98132" y="138322"/>
                </a:cubicBezTo>
                <a:lnTo>
                  <a:pt x="151948" y="113461"/>
                </a:lnTo>
                <a:lnTo>
                  <a:pt x="163117" y="118637"/>
                </a:lnTo>
                <a:cubicBezTo>
                  <a:pt x="165901" y="119914"/>
                  <a:pt x="167670" y="122698"/>
                  <a:pt x="167670" y="125777"/>
                </a:cubicBezTo>
                <a:cubicBezTo>
                  <a:pt x="167670" y="128856"/>
                  <a:pt x="165901" y="131640"/>
                  <a:pt x="163117" y="132918"/>
                </a:cubicBezTo>
                <a:lnTo>
                  <a:pt x="91516" y="166000"/>
                </a:lnTo>
                <a:cubicBezTo>
                  <a:pt x="86636" y="168260"/>
                  <a:pt x="81002" y="168260"/>
                  <a:pt x="76121" y="166000"/>
                </a:cubicBezTo>
                <a:lnTo>
                  <a:pt x="4553" y="132918"/>
                </a:lnTo>
                <a:cubicBezTo>
                  <a:pt x="1769" y="131607"/>
                  <a:pt x="0" y="128823"/>
                  <a:pt x="0" y="125777"/>
                </a:cubicBezTo>
                <a:cubicBezTo>
                  <a:pt x="0" y="122731"/>
                  <a:pt x="1769" y="119914"/>
                  <a:pt x="4553" y="11863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0" name="Text 18"/>
          <p:cNvSpPr/>
          <p:nvPr/>
        </p:nvSpPr>
        <p:spPr>
          <a:xfrm>
            <a:off x="813359" y="2666476"/>
            <a:ext cx="1635103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维度层面平均effect</a:t>
            </a:r>
            <a:endParaRPr lang="en-US" sz="1600" dirty="0">
              <a:latin typeface="+mn-ea"/>
            </a:endParaRPr>
          </a:p>
        </p:txBody>
      </p:sp>
      <p:pic>
        <p:nvPicPr>
          <p:cNvPr id="21" name="Image 0" descr="https://kimi-img.moonshot.cn/pub/slides/26-02-11-18:18:34-d665euiliqu0vps3hmk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109" y="3035422"/>
            <a:ext cx="4628600" cy="2347840"/>
          </a:xfrm>
          <a:prstGeom prst="roundRect">
            <a:avLst>
              <a:gd name="adj" fmla="val 0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6163998" y="2498773"/>
            <a:ext cx="5693513" cy="3052193"/>
          </a:xfrm>
          <a:custGeom>
            <a:avLst/>
            <a:gdLst/>
            <a:ahLst/>
            <a:cxnLst/>
            <a:rect l="l" t="t" r="r" b="b"/>
            <a:pathLst>
              <a:path w="5693513" h="3052193">
                <a:moveTo>
                  <a:pt x="100631" y="0"/>
                </a:moveTo>
                <a:lnTo>
                  <a:pt x="5592882" y="0"/>
                </a:lnTo>
                <a:cubicBezTo>
                  <a:pt x="5648459" y="0"/>
                  <a:pt x="5693513" y="45054"/>
                  <a:pt x="5693513" y="100631"/>
                </a:cubicBezTo>
                <a:lnTo>
                  <a:pt x="5693513" y="2951562"/>
                </a:lnTo>
                <a:cubicBezTo>
                  <a:pt x="5693513" y="3007139"/>
                  <a:pt x="5648459" y="3052193"/>
                  <a:pt x="5592882" y="3052193"/>
                </a:cubicBezTo>
                <a:lnTo>
                  <a:pt x="100631" y="3052193"/>
                </a:lnTo>
                <a:cubicBezTo>
                  <a:pt x="45054" y="3052193"/>
                  <a:pt x="0" y="3007139"/>
                  <a:pt x="0" y="2951562"/>
                </a:cubicBezTo>
                <a:lnTo>
                  <a:pt x="0" y="100631"/>
                </a:lnTo>
                <a:cubicBezTo>
                  <a:pt x="0" y="45091"/>
                  <a:pt x="45091" y="0"/>
                  <a:pt x="10063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0311" dist="335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31701" y="2700017"/>
            <a:ext cx="209629" cy="167703"/>
          </a:xfrm>
          <a:custGeom>
            <a:avLst/>
            <a:gdLst/>
            <a:ahLst/>
            <a:cxnLst/>
            <a:rect l="l" t="t" r="r" b="b"/>
            <a:pathLst>
              <a:path w="209629" h="167703">
                <a:moveTo>
                  <a:pt x="125777" y="10481"/>
                </a:moveTo>
                <a:lnTo>
                  <a:pt x="167703" y="10481"/>
                </a:lnTo>
                <a:cubicBezTo>
                  <a:pt x="173500" y="10481"/>
                  <a:pt x="178184" y="15165"/>
                  <a:pt x="178184" y="20963"/>
                </a:cubicBezTo>
                <a:cubicBezTo>
                  <a:pt x="178184" y="26760"/>
                  <a:pt x="173500" y="31444"/>
                  <a:pt x="167703" y="31444"/>
                </a:cubicBezTo>
                <a:lnTo>
                  <a:pt x="130494" y="31444"/>
                </a:lnTo>
                <a:cubicBezTo>
                  <a:pt x="128791" y="39895"/>
                  <a:pt x="122993" y="46872"/>
                  <a:pt x="115296" y="50213"/>
                </a:cubicBezTo>
                <a:lnTo>
                  <a:pt x="115296" y="146740"/>
                </a:lnTo>
                <a:lnTo>
                  <a:pt x="167703" y="146740"/>
                </a:lnTo>
                <a:cubicBezTo>
                  <a:pt x="173500" y="146740"/>
                  <a:pt x="178184" y="151424"/>
                  <a:pt x="178184" y="157221"/>
                </a:cubicBezTo>
                <a:cubicBezTo>
                  <a:pt x="178184" y="163019"/>
                  <a:pt x="173500" y="167703"/>
                  <a:pt x="167703" y="167703"/>
                </a:cubicBezTo>
                <a:lnTo>
                  <a:pt x="41926" y="167703"/>
                </a:lnTo>
                <a:cubicBezTo>
                  <a:pt x="36128" y="167703"/>
                  <a:pt x="31444" y="163019"/>
                  <a:pt x="31444" y="157221"/>
                </a:cubicBezTo>
                <a:cubicBezTo>
                  <a:pt x="31444" y="151424"/>
                  <a:pt x="36128" y="146740"/>
                  <a:pt x="41926" y="146740"/>
                </a:cubicBezTo>
                <a:lnTo>
                  <a:pt x="94333" y="146740"/>
                </a:lnTo>
                <a:lnTo>
                  <a:pt x="94333" y="50213"/>
                </a:lnTo>
                <a:cubicBezTo>
                  <a:pt x="86636" y="46839"/>
                  <a:pt x="80838" y="39862"/>
                  <a:pt x="79135" y="31444"/>
                </a:cubicBezTo>
                <a:lnTo>
                  <a:pt x="41926" y="31444"/>
                </a:lnTo>
                <a:cubicBezTo>
                  <a:pt x="36128" y="31444"/>
                  <a:pt x="31444" y="26760"/>
                  <a:pt x="31444" y="20963"/>
                </a:cubicBezTo>
                <a:cubicBezTo>
                  <a:pt x="31444" y="15165"/>
                  <a:pt x="36128" y="10481"/>
                  <a:pt x="41926" y="10481"/>
                </a:cubicBezTo>
                <a:lnTo>
                  <a:pt x="83851" y="10481"/>
                </a:lnTo>
                <a:cubicBezTo>
                  <a:pt x="88634" y="4127"/>
                  <a:pt x="96233" y="0"/>
                  <a:pt x="104814" y="0"/>
                </a:cubicBezTo>
                <a:cubicBezTo>
                  <a:pt x="113396" y="0"/>
                  <a:pt x="120995" y="4127"/>
                  <a:pt x="125777" y="10481"/>
                </a:cubicBezTo>
                <a:close/>
                <a:moveTo>
                  <a:pt x="143989" y="104814"/>
                </a:moveTo>
                <a:lnTo>
                  <a:pt x="191417" y="104814"/>
                </a:lnTo>
                <a:lnTo>
                  <a:pt x="167703" y="64133"/>
                </a:lnTo>
                <a:lnTo>
                  <a:pt x="143989" y="104814"/>
                </a:lnTo>
                <a:close/>
                <a:moveTo>
                  <a:pt x="167703" y="136259"/>
                </a:moveTo>
                <a:cubicBezTo>
                  <a:pt x="147100" y="136259"/>
                  <a:pt x="129970" y="125122"/>
                  <a:pt x="126432" y="110415"/>
                </a:cubicBezTo>
                <a:cubicBezTo>
                  <a:pt x="125581" y="106812"/>
                  <a:pt x="126760" y="103111"/>
                  <a:pt x="128627" y="99901"/>
                </a:cubicBezTo>
                <a:lnTo>
                  <a:pt x="159809" y="46446"/>
                </a:lnTo>
                <a:cubicBezTo>
                  <a:pt x="161447" y="43629"/>
                  <a:pt x="164460" y="41926"/>
                  <a:pt x="167703" y="41926"/>
                </a:cubicBezTo>
                <a:cubicBezTo>
                  <a:pt x="170946" y="41926"/>
                  <a:pt x="173959" y="43662"/>
                  <a:pt x="175597" y="46446"/>
                </a:cubicBezTo>
                <a:lnTo>
                  <a:pt x="206779" y="99901"/>
                </a:lnTo>
                <a:cubicBezTo>
                  <a:pt x="208646" y="103111"/>
                  <a:pt x="209825" y="106812"/>
                  <a:pt x="208974" y="110415"/>
                </a:cubicBezTo>
                <a:cubicBezTo>
                  <a:pt x="205436" y="125089"/>
                  <a:pt x="188305" y="136259"/>
                  <a:pt x="167703" y="136259"/>
                </a:cubicBezTo>
                <a:close/>
                <a:moveTo>
                  <a:pt x="41533" y="64133"/>
                </a:moveTo>
                <a:lnTo>
                  <a:pt x="17818" y="104814"/>
                </a:lnTo>
                <a:lnTo>
                  <a:pt x="65280" y="104814"/>
                </a:lnTo>
                <a:lnTo>
                  <a:pt x="41533" y="64133"/>
                </a:lnTo>
                <a:close/>
                <a:moveTo>
                  <a:pt x="295" y="110415"/>
                </a:moveTo>
                <a:cubicBezTo>
                  <a:pt x="-557" y="106812"/>
                  <a:pt x="622" y="103111"/>
                  <a:pt x="2489" y="99901"/>
                </a:cubicBezTo>
                <a:lnTo>
                  <a:pt x="33672" y="46446"/>
                </a:lnTo>
                <a:cubicBezTo>
                  <a:pt x="35309" y="43629"/>
                  <a:pt x="38323" y="41926"/>
                  <a:pt x="41565" y="41926"/>
                </a:cubicBezTo>
                <a:cubicBezTo>
                  <a:pt x="44808" y="41926"/>
                  <a:pt x="47822" y="43662"/>
                  <a:pt x="49459" y="46446"/>
                </a:cubicBezTo>
                <a:lnTo>
                  <a:pt x="80642" y="99901"/>
                </a:lnTo>
                <a:cubicBezTo>
                  <a:pt x="82509" y="103111"/>
                  <a:pt x="83688" y="106812"/>
                  <a:pt x="82836" y="110415"/>
                </a:cubicBezTo>
                <a:cubicBezTo>
                  <a:pt x="79299" y="125089"/>
                  <a:pt x="62168" y="136259"/>
                  <a:pt x="41565" y="136259"/>
                </a:cubicBezTo>
                <a:cubicBezTo>
                  <a:pt x="20963" y="136259"/>
                  <a:pt x="3832" y="125122"/>
                  <a:pt x="295" y="110415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4" name="Text 21"/>
          <p:cNvSpPr/>
          <p:nvPr/>
        </p:nvSpPr>
        <p:spPr>
          <a:xfrm>
            <a:off x="6641952" y="2666476"/>
            <a:ext cx="284256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模型规模效应：qwen-3b vs qwen-7b</a:t>
            </a:r>
            <a:endParaRPr lang="en-US" sz="1600" dirty="0">
              <a:latin typeface="+mn-ea"/>
            </a:endParaRPr>
          </a:p>
        </p:txBody>
      </p:sp>
      <p:pic>
        <p:nvPicPr>
          <p:cNvPr id="25" name="Image 1" descr="https://kimi-img.moonshot.cn/pub/slides/26-02-11-18:18:35-d665euvpfahc6kgk8ld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1701" y="3035422"/>
            <a:ext cx="4628600" cy="2347840"/>
          </a:xfrm>
          <a:prstGeom prst="roundRect">
            <a:avLst>
              <a:gd name="adj" fmla="val 0"/>
            </a:avLst>
          </a:prstGeom>
        </p:spPr>
      </p:pic>
      <p:sp>
        <p:nvSpPr>
          <p:cNvPr id="26" name="Shape 22"/>
          <p:cNvSpPr/>
          <p:nvPr/>
        </p:nvSpPr>
        <p:spPr>
          <a:xfrm>
            <a:off x="335406" y="5685128"/>
            <a:ext cx="5693513" cy="1006217"/>
          </a:xfrm>
          <a:custGeom>
            <a:avLst/>
            <a:gdLst/>
            <a:ahLst/>
            <a:cxnLst/>
            <a:rect l="l" t="t" r="r" b="b"/>
            <a:pathLst>
              <a:path w="5693513" h="1006217">
                <a:moveTo>
                  <a:pt x="100622" y="0"/>
                </a:moveTo>
                <a:lnTo>
                  <a:pt x="5592891" y="0"/>
                </a:lnTo>
                <a:cubicBezTo>
                  <a:pt x="5648463" y="0"/>
                  <a:pt x="5693513" y="45050"/>
                  <a:pt x="5693513" y="100622"/>
                </a:cubicBezTo>
                <a:lnTo>
                  <a:pt x="5693513" y="905596"/>
                </a:lnTo>
                <a:cubicBezTo>
                  <a:pt x="5693513" y="961167"/>
                  <a:pt x="5648463" y="1006217"/>
                  <a:pt x="5592891" y="1006217"/>
                </a:cubicBezTo>
                <a:lnTo>
                  <a:pt x="100622" y="1006217"/>
                </a:lnTo>
                <a:cubicBezTo>
                  <a:pt x="45050" y="1006217"/>
                  <a:pt x="0" y="961167"/>
                  <a:pt x="0" y="905596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7" name="Shape 23"/>
          <p:cNvSpPr/>
          <p:nvPr/>
        </p:nvSpPr>
        <p:spPr>
          <a:xfrm>
            <a:off x="509398" y="5861216"/>
            <a:ext cx="113199" cy="150933"/>
          </a:xfrm>
          <a:custGeom>
            <a:avLst/>
            <a:gdLst/>
            <a:ahLst/>
            <a:cxnLst/>
            <a:rect l="l" t="t" r="r" b="b"/>
            <a:pathLst>
              <a:path w="113199" h="150933">
                <a:moveTo>
                  <a:pt x="86344" y="113199"/>
                </a:moveTo>
                <a:cubicBezTo>
                  <a:pt x="88496" y="106626"/>
                  <a:pt x="92800" y="100671"/>
                  <a:pt x="97664" y="95542"/>
                </a:cubicBezTo>
                <a:cubicBezTo>
                  <a:pt x="107304" y="85401"/>
                  <a:pt x="113199" y="71693"/>
                  <a:pt x="113199" y="56600"/>
                </a:cubicBezTo>
                <a:cubicBezTo>
                  <a:pt x="113199" y="25352"/>
                  <a:pt x="87847" y="0"/>
                  <a:pt x="56600" y="0"/>
                </a:cubicBezTo>
                <a:cubicBezTo>
                  <a:pt x="25352" y="0"/>
                  <a:pt x="0" y="25352"/>
                  <a:pt x="0" y="56600"/>
                </a:cubicBezTo>
                <a:cubicBezTo>
                  <a:pt x="0" y="71693"/>
                  <a:pt x="5896" y="85401"/>
                  <a:pt x="15535" y="95542"/>
                </a:cubicBezTo>
                <a:cubicBezTo>
                  <a:pt x="20399" y="100671"/>
                  <a:pt x="24733" y="106626"/>
                  <a:pt x="26855" y="113199"/>
                </a:cubicBezTo>
                <a:lnTo>
                  <a:pt x="86315" y="113199"/>
                </a:lnTo>
                <a:close/>
                <a:moveTo>
                  <a:pt x="84900" y="127349"/>
                </a:moveTo>
                <a:lnTo>
                  <a:pt x="28300" y="127349"/>
                </a:lnTo>
                <a:lnTo>
                  <a:pt x="28300" y="132066"/>
                </a:lnTo>
                <a:cubicBezTo>
                  <a:pt x="28300" y="145096"/>
                  <a:pt x="38853" y="155649"/>
                  <a:pt x="51883" y="155649"/>
                </a:cubicBezTo>
                <a:lnTo>
                  <a:pt x="61316" y="155649"/>
                </a:lnTo>
                <a:cubicBezTo>
                  <a:pt x="74346" y="155649"/>
                  <a:pt x="84900" y="145096"/>
                  <a:pt x="84900" y="132066"/>
                </a:cubicBezTo>
                <a:lnTo>
                  <a:pt x="84900" y="127349"/>
                </a:lnTo>
                <a:close/>
                <a:moveTo>
                  <a:pt x="54241" y="33017"/>
                </a:moveTo>
                <a:cubicBezTo>
                  <a:pt x="42509" y="33017"/>
                  <a:pt x="33017" y="42509"/>
                  <a:pt x="33017" y="54241"/>
                </a:cubicBezTo>
                <a:cubicBezTo>
                  <a:pt x="33017" y="58162"/>
                  <a:pt x="29862" y="61316"/>
                  <a:pt x="25942" y="61316"/>
                </a:cubicBezTo>
                <a:cubicBezTo>
                  <a:pt x="22021" y="61316"/>
                  <a:pt x="18867" y="58162"/>
                  <a:pt x="18867" y="54241"/>
                </a:cubicBezTo>
                <a:cubicBezTo>
                  <a:pt x="18867" y="34697"/>
                  <a:pt x="34697" y="18867"/>
                  <a:pt x="54241" y="18867"/>
                </a:cubicBezTo>
                <a:cubicBezTo>
                  <a:pt x="58162" y="18867"/>
                  <a:pt x="61316" y="22021"/>
                  <a:pt x="61316" y="25942"/>
                </a:cubicBezTo>
                <a:cubicBezTo>
                  <a:pt x="61316" y="29862"/>
                  <a:pt x="58162" y="33017"/>
                  <a:pt x="54241" y="33017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8" name="Text 24"/>
          <p:cNvSpPr/>
          <p:nvPr/>
        </p:nvSpPr>
        <p:spPr>
          <a:xfrm>
            <a:off x="758856" y="5819290"/>
            <a:ext cx="687582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+mn-ea"/>
                <a:cs typeface="MiSans" pitchFamily="34" charset="-120"/>
              </a:rPr>
              <a:t>关键发现</a:t>
            </a:r>
            <a:endParaRPr lang="en-US" sz="1600" dirty="0">
              <a:latin typeface="+mn-ea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69568" y="6121155"/>
            <a:ext cx="5492270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effect与训练样本规模</a:t>
            </a:r>
            <a:r>
              <a:rPr lang="en-US" sz="1056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非单调关系</a:t>
            </a:r>
            <a:r>
              <a:rPr lang="en-US" sz="1056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（information样本最多但effect最小），说明数据质量、维度与任务匹配度更关键</a:t>
            </a:r>
            <a:endParaRPr lang="en-US" sz="1600" dirty="0">
              <a:latin typeface="+mn-ea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6163998" y="5685128"/>
            <a:ext cx="5693513" cy="1006217"/>
          </a:xfrm>
          <a:custGeom>
            <a:avLst/>
            <a:gdLst/>
            <a:ahLst/>
            <a:cxnLst/>
            <a:rect l="l" t="t" r="r" b="b"/>
            <a:pathLst>
              <a:path w="5693513" h="1006217">
                <a:moveTo>
                  <a:pt x="100622" y="0"/>
                </a:moveTo>
                <a:lnTo>
                  <a:pt x="5592891" y="0"/>
                </a:lnTo>
                <a:cubicBezTo>
                  <a:pt x="5648463" y="0"/>
                  <a:pt x="5693513" y="45050"/>
                  <a:pt x="5693513" y="100622"/>
                </a:cubicBezTo>
                <a:lnTo>
                  <a:pt x="5693513" y="905596"/>
                </a:lnTo>
                <a:cubicBezTo>
                  <a:pt x="5693513" y="961167"/>
                  <a:pt x="5648463" y="1006217"/>
                  <a:pt x="5592891" y="1006217"/>
                </a:cubicBezTo>
                <a:lnTo>
                  <a:pt x="100622" y="1006217"/>
                </a:lnTo>
                <a:cubicBezTo>
                  <a:pt x="45050" y="1006217"/>
                  <a:pt x="0" y="961167"/>
                  <a:pt x="0" y="905596"/>
                </a:cubicBezTo>
                <a:lnTo>
                  <a:pt x="0" y="100622"/>
                </a:lnTo>
                <a:cubicBezTo>
                  <a:pt x="0" y="45087"/>
                  <a:pt x="45087" y="0"/>
                  <a:pt x="100622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1" name="Shape 27"/>
          <p:cNvSpPr/>
          <p:nvPr/>
        </p:nvSpPr>
        <p:spPr>
          <a:xfrm>
            <a:off x="6319123" y="5861216"/>
            <a:ext cx="150933" cy="150933"/>
          </a:xfrm>
          <a:custGeom>
            <a:avLst/>
            <a:gdLst/>
            <a:ahLst/>
            <a:cxnLst/>
            <a:rect l="l" t="t" r="r" b="b"/>
            <a:pathLst>
              <a:path w="150933" h="150933">
                <a:moveTo>
                  <a:pt x="18867" y="18867"/>
                </a:moveTo>
                <a:cubicBezTo>
                  <a:pt x="18867" y="13649"/>
                  <a:pt x="14651" y="9433"/>
                  <a:pt x="9433" y="9433"/>
                </a:cubicBezTo>
                <a:cubicBezTo>
                  <a:pt x="4216" y="9433"/>
                  <a:pt x="0" y="13649"/>
                  <a:pt x="0" y="18867"/>
                </a:cubicBezTo>
                <a:lnTo>
                  <a:pt x="0" y="117916"/>
                </a:lnTo>
                <a:cubicBezTo>
                  <a:pt x="0" y="130946"/>
                  <a:pt x="10553" y="141499"/>
                  <a:pt x="23583" y="141499"/>
                </a:cubicBezTo>
                <a:lnTo>
                  <a:pt x="141499" y="141499"/>
                </a:lnTo>
                <a:cubicBezTo>
                  <a:pt x="146717" y="141499"/>
                  <a:pt x="150933" y="137284"/>
                  <a:pt x="150933" y="132066"/>
                </a:cubicBezTo>
                <a:cubicBezTo>
                  <a:pt x="150933" y="126848"/>
                  <a:pt x="146717" y="122633"/>
                  <a:pt x="141499" y="122633"/>
                </a:cubicBezTo>
                <a:lnTo>
                  <a:pt x="23583" y="122633"/>
                </a:lnTo>
                <a:cubicBezTo>
                  <a:pt x="20989" y="122633"/>
                  <a:pt x="18867" y="120510"/>
                  <a:pt x="18867" y="117916"/>
                </a:cubicBezTo>
                <a:lnTo>
                  <a:pt x="18867" y="18867"/>
                </a:lnTo>
                <a:close/>
                <a:moveTo>
                  <a:pt x="138728" y="44395"/>
                </a:moveTo>
                <a:cubicBezTo>
                  <a:pt x="142413" y="40711"/>
                  <a:pt x="142413" y="34726"/>
                  <a:pt x="138728" y="31041"/>
                </a:cubicBezTo>
                <a:cubicBezTo>
                  <a:pt x="135043" y="27357"/>
                  <a:pt x="129059" y="27357"/>
                  <a:pt x="125374" y="31041"/>
                </a:cubicBezTo>
                <a:lnTo>
                  <a:pt x="94333" y="62112"/>
                </a:lnTo>
                <a:lnTo>
                  <a:pt x="77412" y="45221"/>
                </a:lnTo>
                <a:cubicBezTo>
                  <a:pt x="73727" y="41536"/>
                  <a:pt x="67743" y="41536"/>
                  <a:pt x="64058" y="45221"/>
                </a:cubicBezTo>
                <a:lnTo>
                  <a:pt x="35758" y="73521"/>
                </a:lnTo>
                <a:cubicBezTo>
                  <a:pt x="32073" y="77206"/>
                  <a:pt x="32073" y="83190"/>
                  <a:pt x="35758" y="86875"/>
                </a:cubicBezTo>
                <a:cubicBezTo>
                  <a:pt x="39443" y="90560"/>
                  <a:pt x="45427" y="90560"/>
                  <a:pt x="49112" y="86875"/>
                </a:cubicBezTo>
                <a:lnTo>
                  <a:pt x="70750" y="65237"/>
                </a:lnTo>
                <a:lnTo>
                  <a:pt x="87671" y="82158"/>
                </a:lnTo>
                <a:cubicBezTo>
                  <a:pt x="91355" y="85843"/>
                  <a:pt x="97340" y="85843"/>
                  <a:pt x="101025" y="82158"/>
                </a:cubicBezTo>
                <a:lnTo>
                  <a:pt x="138758" y="444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6587448" y="5819290"/>
            <a:ext cx="997832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+mn-ea"/>
                <a:cs typeface="MiSans" pitchFamily="34" charset="-120"/>
              </a:rPr>
              <a:t>模型规模结论</a:t>
            </a:r>
            <a:endParaRPr lang="en-US" sz="1600" dirty="0">
              <a:latin typeface="+mn-ea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6298161" y="6121155"/>
            <a:ext cx="5492270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qwen-7b在四个维度、三种指标上均</a:t>
            </a:r>
            <a:r>
              <a:rPr lang="en-US" sz="1056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小于</a:t>
            </a:r>
            <a:r>
              <a:rPr lang="en-US" sz="1056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qwen-3b，支持"</a:t>
            </a:r>
            <a:r>
              <a:rPr lang="en-US" sz="1056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大模型更稳定</a:t>
            </a:r>
            <a:r>
              <a:rPr lang="en-US" sz="1056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，需要更强训练信号才能产生更大偏移"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04</a:t>
            </a:r>
            <a:endParaRPr lang="en-US" sz="16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6300" y="381000"/>
            <a:ext cx="579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err="1">
                <a:solidFill>
                  <a:srgbClr val="2C3E50"/>
                </a:solidFill>
                <a:latin typeface="+mn-ea"/>
                <a:cs typeface="Noto Sans SC" pitchFamily="34" charset="-120"/>
              </a:rPr>
              <a:t>性能</a:t>
            </a:r>
            <a:r>
              <a:rPr lang="zh-CN" altLang="en-US" sz="27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变</a:t>
            </a:r>
            <a:r>
              <a:rPr lang="en-US" sz="2700" b="1" dirty="0" err="1">
                <a:solidFill>
                  <a:srgbClr val="2C3E50"/>
                </a:solidFill>
                <a:latin typeface="+mn-ea"/>
                <a:cs typeface="Noto Sans SC" pitchFamily="34" charset="-120"/>
              </a:rPr>
              <a:t>化：decision维度的领域分化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76300" y="838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066800"/>
            <a:ext cx="11430000" cy="895350"/>
          </a:xfrm>
          <a:custGeom>
            <a:avLst/>
            <a:gdLst/>
            <a:ahLst/>
            <a:cxnLst/>
            <a:rect l="l" t="t" r="r" b="b"/>
            <a:pathLst>
              <a:path w="11430000" h="895350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781050"/>
                </a:lnTo>
                <a:cubicBezTo>
                  <a:pt x="11430000" y="844176"/>
                  <a:pt x="11378826" y="895350"/>
                  <a:pt x="11315700" y="895350"/>
                </a:cubicBezTo>
                <a:lnTo>
                  <a:pt x="114300" y="895350"/>
                </a:lnTo>
                <a:cubicBezTo>
                  <a:pt x="51174" y="895350"/>
                  <a:pt x="0" y="844176"/>
                  <a:pt x="0" y="7810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557213" y="1257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85825" y="1219200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+mn-ea"/>
                <a:cs typeface="MiSans" pitchFamily="34" charset="-120"/>
              </a:rPr>
              <a:t>关键区分</a:t>
            </a:r>
            <a:endParaRPr lang="en-US" sz="16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3400" y="1562100"/>
            <a:ext cx="11201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显著性（p-value）表示"</a:t>
            </a:r>
            <a:r>
              <a:rPr lang="en-US" sz="12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差异可靠</a:t>
            </a:r>
            <a:r>
              <a:rPr lang="en-US" sz="12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"，</a:t>
            </a:r>
            <a:r>
              <a:rPr lang="en-US" sz="12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不等价于</a:t>
            </a:r>
            <a:r>
              <a:rPr lang="en-US" sz="12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"</a:t>
            </a:r>
            <a:r>
              <a:rPr lang="en-US" sz="12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性能更好</a:t>
            </a:r>
            <a:r>
              <a:rPr lang="en-US" sz="12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"。需额外考察Accuracy与Macro-F1变化：ΔAcc = Acc</a:t>
            </a:r>
            <a:r>
              <a:rPr lang="en-US" sz="9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tuned</a:t>
            </a:r>
            <a:r>
              <a:rPr lang="en-US" sz="12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 - Acc</a:t>
            </a:r>
            <a:r>
              <a:rPr lang="en-US" sz="9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base</a:t>
            </a:r>
            <a:endParaRPr lang="en-US" sz="160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1000" y="2133600"/>
            <a:ext cx="5638800" cy="3009900"/>
          </a:xfrm>
          <a:custGeom>
            <a:avLst/>
            <a:gdLst/>
            <a:ahLst/>
            <a:cxnLst/>
            <a:rect l="l" t="t" r="r" b="b"/>
            <a:pathLst>
              <a:path w="5638800" h="30099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2895614"/>
                </a:lnTo>
                <a:cubicBezTo>
                  <a:pt x="5638800" y="2958732"/>
                  <a:pt x="5587632" y="3009900"/>
                  <a:pt x="5524514" y="3009900"/>
                </a:cubicBezTo>
                <a:lnTo>
                  <a:pt x="114286" y="3009900"/>
                </a:lnTo>
                <a:cubicBezTo>
                  <a:pt x="51168" y="3009900"/>
                  <a:pt x="0" y="2958732"/>
                  <a:pt x="0" y="289561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1000" y="213360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07219" y="2381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35719"/>
                </a:lnTo>
                <a:close/>
                <a:moveTo>
                  <a:pt x="17859" y="136922"/>
                </a:moveTo>
                <a:lnTo>
                  <a:pt x="17859" y="148828"/>
                </a:lnTo>
                <a:cubicBezTo>
                  <a:pt x="17859" y="152102"/>
                  <a:pt x="20538" y="154781"/>
                  <a:pt x="23812" y="154781"/>
                </a:cubicBezTo>
                <a:lnTo>
                  <a:pt x="35719" y="154781"/>
                </a:lnTo>
                <a:cubicBezTo>
                  <a:pt x="38993" y="154781"/>
                  <a:pt x="41672" y="152102"/>
                  <a:pt x="41672" y="148828"/>
                </a:cubicBezTo>
                <a:lnTo>
                  <a:pt x="41672" y="136922"/>
                </a:lnTo>
                <a:cubicBezTo>
                  <a:pt x="41672" y="133648"/>
                  <a:pt x="38993" y="130969"/>
                  <a:pt x="35719" y="130969"/>
                </a:cubicBezTo>
                <a:lnTo>
                  <a:pt x="23812" y="130969"/>
                </a:lnTo>
                <a:cubicBezTo>
                  <a:pt x="20538" y="130969"/>
                  <a:pt x="17859" y="133648"/>
                  <a:pt x="17859" y="136922"/>
                </a:cubicBezTo>
                <a:close/>
                <a:moveTo>
                  <a:pt x="130969" y="130969"/>
                </a:moveTo>
                <a:cubicBezTo>
                  <a:pt x="127695" y="130969"/>
                  <a:pt x="125016" y="133648"/>
                  <a:pt x="125016" y="136922"/>
                </a:cubicBezTo>
                <a:lnTo>
                  <a:pt x="125016" y="148828"/>
                </a:lnTo>
                <a:cubicBezTo>
                  <a:pt x="125016" y="152102"/>
                  <a:pt x="127695" y="154781"/>
                  <a:pt x="130969" y="154781"/>
                </a:cubicBezTo>
                <a:lnTo>
                  <a:pt x="142875" y="154781"/>
                </a:lnTo>
                <a:cubicBezTo>
                  <a:pt x="146149" y="154781"/>
                  <a:pt x="148828" y="152102"/>
                  <a:pt x="148828" y="148828"/>
                </a:cubicBezTo>
                <a:lnTo>
                  <a:pt x="148828" y="136922"/>
                </a:lnTo>
                <a:cubicBezTo>
                  <a:pt x="148828" y="133648"/>
                  <a:pt x="146149" y="130969"/>
                  <a:pt x="142875" y="130969"/>
                </a:cubicBezTo>
                <a:lnTo>
                  <a:pt x="130969" y="130969"/>
                </a:lnTo>
                <a:close/>
                <a:moveTo>
                  <a:pt x="17859" y="89297"/>
                </a:moveTo>
                <a:lnTo>
                  <a:pt x="17859" y="101203"/>
                </a:lnTo>
                <a:cubicBezTo>
                  <a:pt x="17859" y="104477"/>
                  <a:pt x="20538" y="107156"/>
                  <a:pt x="23812" y="107156"/>
                </a:cubicBezTo>
                <a:lnTo>
                  <a:pt x="35719" y="107156"/>
                </a:lnTo>
                <a:cubicBezTo>
                  <a:pt x="38993" y="107156"/>
                  <a:pt x="41672" y="104477"/>
                  <a:pt x="41672" y="101203"/>
                </a:cubicBezTo>
                <a:lnTo>
                  <a:pt x="41672" y="89297"/>
                </a:lnTo>
                <a:cubicBezTo>
                  <a:pt x="41672" y="86023"/>
                  <a:pt x="38993" y="83344"/>
                  <a:pt x="35719" y="83344"/>
                </a:cubicBezTo>
                <a:lnTo>
                  <a:pt x="23812" y="83344"/>
                </a:lnTo>
                <a:cubicBezTo>
                  <a:pt x="20538" y="83344"/>
                  <a:pt x="17859" y="86023"/>
                  <a:pt x="17859" y="89297"/>
                </a:cubicBezTo>
                <a:close/>
                <a:moveTo>
                  <a:pt x="130969" y="83344"/>
                </a:moveTo>
                <a:cubicBezTo>
                  <a:pt x="127695" y="83344"/>
                  <a:pt x="125016" y="86023"/>
                  <a:pt x="125016" y="89297"/>
                </a:cubicBezTo>
                <a:lnTo>
                  <a:pt x="125016" y="101203"/>
                </a:lnTo>
                <a:cubicBezTo>
                  <a:pt x="125016" y="104477"/>
                  <a:pt x="127695" y="107156"/>
                  <a:pt x="130969" y="107156"/>
                </a:cubicBezTo>
                <a:lnTo>
                  <a:pt x="142875" y="107156"/>
                </a:lnTo>
                <a:cubicBezTo>
                  <a:pt x="146149" y="107156"/>
                  <a:pt x="148828" y="104477"/>
                  <a:pt x="148828" y="101203"/>
                </a:cubicBezTo>
                <a:lnTo>
                  <a:pt x="148828" y="89297"/>
                </a:lnTo>
                <a:cubicBezTo>
                  <a:pt x="148828" y="86023"/>
                  <a:pt x="146149" y="83344"/>
                  <a:pt x="142875" y="83344"/>
                </a:cubicBezTo>
                <a:lnTo>
                  <a:pt x="130969" y="83344"/>
                </a:lnTo>
                <a:close/>
                <a:moveTo>
                  <a:pt x="17859" y="41672"/>
                </a:moveTo>
                <a:lnTo>
                  <a:pt x="17859" y="53578"/>
                </a:lnTo>
                <a:cubicBezTo>
                  <a:pt x="17859" y="56852"/>
                  <a:pt x="20538" y="59531"/>
                  <a:pt x="23812" y="59531"/>
                </a:cubicBezTo>
                <a:lnTo>
                  <a:pt x="35719" y="59531"/>
                </a:lnTo>
                <a:cubicBezTo>
                  <a:pt x="38993" y="59531"/>
                  <a:pt x="41672" y="56852"/>
                  <a:pt x="41672" y="53578"/>
                </a:cubicBezTo>
                <a:lnTo>
                  <a:pt x="41672" y="41672"/>
                </a:lnTo>
                <a:cubicBezTo>
                  <a:pt x="41672" y="38398"/>
                  <a:pt x="38993" y="35719"/>
                  <a:pt x="35719" y="35719"/>
                </a:cubicBezTo>
                <a:lnTo>
                  <a:pt x="23812" y="35719"/>
                </a:lnTo>
                <a:cubicBezTo>
                  <a:pt x="20538" y="35719"/>
                  <a:pt x="17859" y="38398"/>
                  <a:pt x="17859" y="41672"/>
                </a:cubicBezTo>
                <a:close/>
                <a:moveTo>
                  <a:pt x="130969" y="35719"/>
                </a:moveTo>
                <a:cubicBezTo>
                  <a:pt x="127695" y="35719"/>
                  <a:pt x="125016" y="38398"/>
                  <a:pt x="125016" y="41672"/>
                </a:cubicBezTo>
                <a:lnTo>
                  <a:pt x="125016" y="53578"/>
                </a:lnTo>
                <a:cubicBezTo>
                  <a:pt x="125016" y="56852"/>
                  <a:pt x="127695" y="59531"/>
                  <a:pt x="130969" y="59531"/>
                </a:cubicBezTo>
                <a:lnTo>
                  <a:pt x="142875" y="59531"/>
                </a:lnTo>
                <a:cubicBezTo>
                  <a:pt x="146149" y="59531"/>
                  <a:pt x="148828" y="56852"/>
                  <a:pt x="148828" y="53578"/>
                </a:cubicBezTo>
                <a:lnTo>
                  <a:pt x="148828" y="41672"/>
                </a:lnTo>
                <a:cubicBezTo>
                  <a:pt x="148828" y="38398"/>
                  <a:pt x="146149" y="35719"/>
                  <a:pt x="142875" y="35719"/>
                </a:cubicBezTo>
                <a:lnTo>
                  <a:pt x="130969" y="35719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923925" y="234315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电影域：F上升、T下降</a:t>
            </a:r>
            <a:endParaRPr lang="en-US" sz="16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76263" y="2767013"/>
            <a:ext cx="5248275" cy="1400175"/>
          </a:xfrm>
          <a:custGeom>
            <a:avLst/>
            <a:gdLst/>
            <a:ahLst/>
            <a:cxnLst/>
            <a:rect l="l" t="t" r="r" b="b"/>
            <a:pathLst>
              <a:path w="5248275" h="1400175">
                <a:moveTo>
                  <a:pt x="76198" y="0"/>
                </a:moveTo>
                <a:lnTo>
                  <a:pt x="5172077" y="0"/>
                </a:lnTo>
                <a:cubicBezTo>
                  <a:pt x="5214160" y="0"/>
                  <a:pt x="5248275" y="34115"/>
                  <a:pt x="5248275" y="76198"/>
                </a:cubicBezTo>
                <a:lnTo>
                  <a:pt x="5248275" y="1323977"/>
                </a:lnTo>
                <a:cubicBezTo>
                  <a:pt x="5248275" y="1366060"/>
                  <a:pt x="5214160" y="1400175"/>
                  <a:pt x="51720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25" y="2771775"/>
          <a:ext cx="5238749" cy="1390652"/>
        </p:xfrm>
        <a:graphic>
          <a:graphicData uri="http://schemas.openxmlformats.org/drawingml/2006/table">
            <a:tbl>
              <a:tblPr/>
              <a:tblGrid>
                <a:gridCol w="1140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F: ΔAcc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F: ΔF1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T: ΔAcc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T: ΔF1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llama-3b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+1.91%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+1.87%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-5.43%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-5.03%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+2.07%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+2.17%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-2.12%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-2.31%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+0.84%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+0.69%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-1.35%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-1.11%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90550" y="4314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7" name="Text 14"/>
          <p:cNvSpPr/>
          <p:nvPr/>
        </p:nvSpPr>
        <p:spPr>
          <a:xfrm>
            <a:off x="771525" y="4286250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三个模型家族呈现一致模式</a:t>
            </a:r>
            <a:endParaRPr lang="en-US" sz="1600" dirty="0">
              <a:latin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72200" y="2133600"/>
            <a:ext cx="5638800" cy="3009900"/>
          </a:xfrm>
          <a:custGeom>
            <a:avLst/>
            <a:gdLst/>
            <a:ahLst/>
            <a:cxnLst/>
            <a:rect l="l" t="t" r="r" b="b"/>
            <a:pathLst>
              <a:path w="5638800" h="30099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2895614"/>
                </a:lnTo>
                <a:cubicBezTo>
                  <a:pt x="5638800" y="2958732"/>
                  <a:pt x="5587632" y="3009900"/>
                  <a:pt x="5524514" y="3009900"/>
                </a:cubicBezTo>
                <a:lnTo>
                  <a:pt x="114286" y="3009900"/>
                </a:lnTo>
                <a:cubicBezTo>
                  <a:pt x="51168" y="3009900"/>
                  <a:pt x="0" y="2958732"/>
                  <a:pt x="0" y="289561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213360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0" name="Shape 17"/>
          <p:cNvSpPr/>
          <p:nvPr/>
        </p:nvSpPr>
        <p:spPr>
          <a:xfrm>
            <a:off x="6386513" y="2381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1" name="Text 18"/>
          <p:cNvSpPr/>
          <p:nvPr/>
        </p:nvSpPr>
        <p:spPr>
          <a:xfrm>
            <a:off x="6715125" y="234315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心理健康域：T上升、F下降</a:t>
            </a:r>
            <a:endParaRPr lang="en-US" sz="1600" dirty="0">
              <a:latin typeface="+mn-ea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367463" y="2767013"/>
            <a:ext cx="5248275" cy="1400175"/>
          </a:xfrm>
          <a:custGeom>
            <a:avLst/>
            <a:gdLst/>
            <a:ahLst/>
            <a:cxnLst/>
            <a:rect l="l" t="t" r="r" b="b"/>
            <a:pathLst>
              <a:path w="5248275" h="1400175">
                <a:moveTo>
                  <a:pt x="76198" y="0"/>
                </a:moveTo>
                <a:lnTo>
                  <a:pt x="5172077" y="0"/>
                </a:lnTo>
                <a:cubicBezTo>
                  <a:pt x="5214160" y="0"/>
                  <a:pt x="5248275" y="34115"/>
                  <a:pt x="5248275" y="76198"/>
                </a:cubicBezTo>
                <a:lnTo>
                  <a:pt x="5248275" y="1323977"/>
                </a:lnTo>
                <a:cubicBezTo>
                  <a:pt x="5248275" y="1366060"/>
                  <a:pt x="5214160" y="1400175"/>
                  <a:pt x="51720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2225" y="2771775"/>
          <a:ext cx="5238750" cy="139065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T: ΔAcc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T: ΔF1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F: ΔAcc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F: ΔF1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llama-3b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+1.13%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+1.26%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-3.73%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-6.28%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+2.06%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+2.75%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-2.86%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-2.87%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+2.75%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+2.86%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-3.08%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-3.28%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381750" y="4314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25" name="Text 21"/>
          <p:cNvSpPr/>
          <p:nvPr/>
        </p:nvSpPr>
        <p:spPr>
          <a:xfrm>
            <a:off x="6562725" y="4286250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与电影域呈现相反模式</a:t>
            </a:r>
            <a:endParaRPr lang="en-US" sz="1600" dirty="0">
              <a:latin typeface="+mn-ea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381000" y="5295900"/>
            <a:ext cx="5638800" cy="1181100"/>
          </a:xfrm>
          <a:custGeom>
            <a:avLst/>
            <a:gdLst/>
            <a:ahLst/>
            <a:cxnLst/>
            <a:rect l="l" t="t" r="r" b="b"/>
            <a:pathLst>
              <a:path w="5638800" h="1181100">
                <a:moveTo>
                  <a:pt x="114295" y="0"/>
                </a:moveTo>
                <a:lnTo>
                  <a:pt x="5524505" y="0"/>
                </a:lnTo>
                <a:cubicBezTo>
                  <a:pt x="5587628" y="0"/>
                  <a:pt x="5638800" y="51172"/>
                  <a:pt x="5638800" y="114295"/>
                </a:cubicBezTo>
                <a:lnTo>
                  <a:pt x="5638800" y="1066805"/>
                </a:lnTo>
                <a:cubicBezTo>
                  <a:pt x="5638800" y="1129928"/>
                  <a:pt x="5587628" y="1181100"/>
                  <a:pt x="5524505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57213" y="5495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28" name="Text 24"/>
          <p:cNvSpPr/>
          <p:nvPr/>
        </p:nvSpPr>
        <p:spPr>
          <a:xfrm>
            <a:off x="862013" y="544830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+mn-ea"/>
                <a:cs typeface="MiSans" pitchFamily="34" charset="-120"/>
              </a:rPr>
              <a:t>金融域表现</a:t>
            </a:r>
            <a:endParaRPr lang="en-US" sz="1600" dirty="0">
              <a:latin typeface="+mn-ea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33400" y="5829300"/>
            <a:ext cx="5410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F端与T端的变化相对</a:t>
            </a:r>
            <a:r>
              <a:rPr lang="en-US" sz="1200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温和</a:t>
            </a:r>
            <a:r>
              <a:rPr lang="en-US" sz="1200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，没有出现电影域和心理健康域那样明显的分化模式</a:t>
            </a:r>
            <a:endParaRPr lang="en-US" sz="1600" dirty="0">
              <a:latin typeface="+mn-ea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6172200" y="5295900"/>
            <a:ext cx="5638800" cy="1181100"/>
          </a:xfrm>
          <a:custGeom>
            <a:avLst/>
            <a:gdLst/>
            <a:ahLst/>
            <a:cxnLst/>
            <a:rect l="l" t="t" r="r" b="b"/>
            <a:pathLst>
              <a:path w="5638800" h="1181100">
                <a:moveTo>
                  <a:pt x="114295" y="0"/>
                </a:moveTo>
                <a:lnTo>
                  <a:pt x="5524505" y="0"/>
                </a:lnTo>
                <a:cubicBezTo>
                  <a:pt x="5587628" y="0"/>
                  <a:pt x="5638800" y="51172"/>
                  <a:pt x="5638800" y="114295"/>
                </a:cubicBezTo>
                <a:lnTo>
                  <a:pt x="5638800" y="1066805"/>
                </a:lnTo>
                <a:cubicBezTo>
                  <a:pt x="5638800" y="1129928"/>
                  <a:pt x="5587628" y="1181100"/>
                  <a:pt x="5524505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1" name="Shape 27"/>
          <p:cNvSpPr/>
          <p:nvPr/>
        </p:nvSpPr>
        <p:spPr>
          <a:xfrm>
            <a:off x="6369844" y="54959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2" name="Text 28"/>
          <p:cNvSpPr/>
          <p:nvPr/>
        </p:nvSpPr>
        <p:spPr>
          <a:xfrm>
            <a:off x="6653213" y="5448300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+mn-ea"/>
                <a:cs typeface="MiSans" pitchFamily="34" charset="-120"/>
              </a:rPr>
              <a:t>核心结论</a:t>
            </a:r>
            <a:endParaRPr lang="en-US" sz="1600" dirty="0">
              <a:latin typeface="+mn-ea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6324600" y="5829300"/>
            <a:ext cx="541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decision维度同时在</a:t>
            </a:r>
            <a:r>
              <a:rPr lang="en-US" sz="1200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Accuracy</a:t>
            </a:r>
            <a:r>
              <a:rPr lang="en-US" sz="12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与</a:t>
            </a:r>
            <a:r>
              <a:rPr lang="en-US" sz="1200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Macro-F1</a:t>
            </a:r>
            <a:r>
              <a:rPr lang="en-US" sz="12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上表现一致，更像"</a:t>
            </a:r>
            <a:r>
              <a:rPr lang="en-US" sz="12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领域适配差异</a:t>
            </a:r>
            <a:r>
              <a:rPr lang="en-US" sz="1200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"，而非偶然波动或只靠偏向多数类撑起的假提升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376878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34479" y="376878"/>
            <a:ext cx="461675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04</a:t>
            </a:r>
            <a:endParaRPr lang="en-US" sz="16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6819" y="376878"/>
            <a:ext cx="5379932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 err="1">
                <a:solidFill>
                  <a:srgbClr val="2C3E50"/>
                </a:solidFill>
                <a:latin typeface="+mn-ea"/>
                <a:cs typeface="Noto Sans SC" pitchFamily="34" charset="-120"/>
              </a:rPr>
              <a:t>性能</a:t>
            </a:r>
            <a:r>
              <a:rPr lang="zh-CN" altLang="en-US" sz="2671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变</a:t>
            </a:r>
            <a:r>
              <a:rPr lang="en-US" sz="2671" b="1" dirty="0" err="1">
                <a:solidFill>
                  <a:srgbClr val="2C3E50"/>
                </a:solidFill>
                <a:latin typeface="+mn-ea"/>
                <a:cs typeface="Noto Sans SC" pitchFamily="34" charset="-120"/>
              </a:rPr>
              <a:t>化：energy维度与机制解释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6819" y="829131"/>
            <a:ext cx="753756" cy="37688"/>
          </a:xfrm>
          <a:custGeom>
            <a:avLst/>
            <a:gdLst/>
            <a:ahLst/>
            <a:cxnLst/>
            <a:rect l="l" t="t" r="r" b="b"/>
            <a:pathLst>
              <a:path w="753756" h="37688">
                <a:moveTo>
                  <a:pt x="0" y="0"/>
                </a:moveTo>
                <a:lnTo>
                  <a:pt x="753756" y="0"/>
                </a:lnTo>
                <a:lnTo>
                  <a:pt x="753756" y="37688"/>
                </a:lnTo>
                <a:lnTo>
                  <a:pt x="0" y="37688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376878" y="1074102"/>
            <a:ext cx="5643747" cy="2619301"/>
          </a:xfrm>
          <a:custGeom>
            <a:avLst/>
            <a:gdLst/>
            <a:ahLst/>
            <a:cxnLst/>
            <a:rect l="l" t="t" r="r" b="b"/>
            <a:pathLst>
              <a:path w="5643747" h="2619301">
                <a:moveTo>
                  <a:pt x="37688" y="0"/>
                </a:moveTo>
                <a:lnTo>
                  <a:pt x="5606059" y="0"/>
                </a:lnTo>
                <a:cubicBezTo>
                  <a:pt x="5626873" y="0"/>
                  <a:pt x="5643747" y="16873"/>
                  <a:pt x="5643747" y="37688"/>
                </a:cubicBezTo>
                <a:lnTo>
                  <a:pt x="5643747" y="2506226"/>
                </a:lnTo>
                <a:cubicBezTo>
                  <a:pt x="5643747" y="2568676"/>
                  <a:pt x="5593121" y="2619301"/>
                  <a:pt x="5530671" y="2619301"/>
                </a:cubicBezTo>
                <a:lnTo>
                  <a:pt x="113075" y="2619301"/>
                </a:lnTo>
                <a:cubicBezTo>
                  <a:pt x="50626" y="2619301"/>
                  <a:pt x="0" y="2568676"/>
                  <a:pt x="0" y="2506226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6878" y="1074102"/>
            <a:ext cx="5643747" cy="37688"/>
          </a:xfrm>
          <a:custGeom>
            <a:avLst/>
            <a:gdLst/>
            <a:ahLst/>
            <a:cxnLst/>
            <a:rect l="l" t="t" r="r" b="b"/>
            <a:pathLst>
              <a:path w="5643747" h="37688">
                <a:moveTo>
                  <a:pt x="37688" y="0"/>
                </a:moveTo>
                <a:lnTo>
                  <a:pt x="5606059" y="0"/>
                </a:lnTo>
                <a:cubicBezTo>
                  <a:pt x="5626873" y="0"/>
                  <a:pt x="5643747" y="16873"/>
                  <a:pt x="5643747" y="37688"/>
                </a:cubicBezTo>
                <a:lnTo>
                  <a:pt x="5643747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" name="Shape 6"/>
          <p:cNvSpPr/>
          <p:nvPr/>
        </p:nvSpPr>
        <p:spPr>
          <a:xfrm>
            <a:off x="600649" y="1319073"/>
            <a:ext cx="164884" cy="188439"/>
          </a:xfrm>
          <a:custGeom>
            <a:avLst/>
            <a:gdLst/>
            <a:ahLst/>
            <a:cxnLst/>
            <a:rect l="l" t="t" r="r" b="b"/>
            <a:pathLst>
              <a:path w="164884" h="188439">
                <a:moveTo>
                  <a:pt x="0" y="35332"/>
                </a:moveTo>
                <a:cubicBezTo>
                  <a:pt x="0" y="22340"/>
                  <a:pt x="10563" y="11777"/>
                  <a:pt x="23555" y="11777"/>
                </a:cubicBezTo>
                <a:lnTo>
                  <a:pt x="141329" y="11777"/>
                </a:lnTo>
                <a:cubicBezTo>
                  <a:pt x="154321" y="11777"/>
                  <a:pt x="164884" y="22340"/>
                  <a:pt x="164884" y="35332"/>
                </a:cubicBezTo>
                <a:lnTo>
                  <a:pt x="164884" y="153107"/>
                </a:lnTo>
                <a:cubicBezTo>
                  <a:pt x="164884" y="166099"/>
                  <a:pt x="154321" y="176662"/>
                  <a:pt x="141329" y="176662"/>
                </a:cubicBezTo>
                <a:lnTo>
                  <a:pt x="23555" y="176662"/>
                </a:lnTo>
                <a:cubicBezTo>
                  <a:pt x="10563" y="176662"/>
                  <a:pt x="0" y="166099"/>
                  <a:pt x="0" y="153107"/>
                </a:cubicBezTo>
                <a:lnTo>
                  <a:pt x="0" y="35332"/>
                </a:lnTo>
                <a:close/>
                <a:moveTo>
                  <a:pt x="17666" y="135440"/>
                </a:moveTo>
                <a:lnTo>
                  <a:pt x="17666" y="147218"/>
                </a:lnTo>
                <a:cubicBezTo>
                  <a:pt x="17666" y="150457"/>
                  <a:pt x="20316" y="153107"/>
                  <a:pt x="23555" y="153107"/>
                </a:cubicBezTo>
                <a:lnTo>
                  <a:pt x="35332" y="153107"/>
                </a:lnTo>
                <a:cubicBezTo>
                  <a:pt x="38571" y="153107"/>
                  <a:pt x="41221" y="150457"/>
                  <a:pt x="41221" y="147218"/>
                </a:cubicBezTo>
                <a:lnTo>
                  <a:pt x="41221" y="135440"/>
                </a:lnTo>
                <a:cubicBezTo>
                  <a:pt x="41221" y="132202"/>
                  <a:pt x="38571" y="129552"/>
                  <a:pt x="35332" y="129552"/>
                </a:cubicBezTo>
                <a:lnTo>
                  <a:pt x="23555" y="129552"/>
                </a:lnTo>
                <a:cubicBezTo>
                  <a:pt x="20316" y="129552"/>
                  <a:pt x="17666" y="132202"/>
                  <a:pt x="17666" y="135440"/>
                </a:cubicBezTo>
                <a:close/>
                <a:moveTo>
                  <a:pt x="129552" y="129552"/>
                </a:moveTo>
                <a:cubicBezTo>
                  <a:pt x="126313" y="129552"/>
                  <a:pt x="123663" y="132202"/>
                  <a:pt x="123663" y="135440"/>
                </a:cubicBezTo>
                <a:lnTo>
                  <a:pt x="123663" y="147218"/>
                </a:lnTo>
                <a:cubicBezTo>
                  <a:pt x="123663" y="150457"/>
                  <a:pt x="126313" y="153107"/>
                  <a:pt x="129552" y="153107"/>
                </a:cubicBezTo>
                <a:lnTo>
                  <a:pt x="141329" y="153107"/>
                </a:lnTo>
                <a:cubicBezTo>
                  <a:pt x="144568" y="153107"/>
                  <a:pt x="147218" y="150457"/>
                  <a:pt x="147218" y="147218"/>
                </a:cubicBezTo>
                <a:lnTo>
                  <a:pt x="147218" y="135440"/>
                </a:lnTo>
                <a:cubicBezTo>
                  <a:pt x="147218" y="132202"/>
                  <a:pt x="144568" y="129552"/>
                  <a:pt x="141329" y="129552"/>
                </a:cubicBezTo>
                <a:lnTo>
                  <a:pt x="129552" y="129552"/>
                </a:lnTo>
                <a:close/>
                <a:moveTo>
                  <a:pt x="17666" y="88331"/>
                </a:moveTo>
                <a:lnTo>
                  <a:pt x="17666" y="100108"/>
                </a:lnTo>
                <a:cubicBezTo>
                  <a:pt x="17666" y="103347"/>
                  <a:pt x="20316" y="105997"/>
                  <a:pt x="23555" y="105997"/>
                </a:cubicBezTo>
                <a:lnTo>
                  <a:pt x="35332" y="105997"/>
                </a:lnTo>
                <a:cubicBezTo>
                  <a:pt x="38571" y="105997"/>
                  <a:pt x="41221" y="103347"/>
                  <a:pt x="41221" y="100108"/>
                </a:cubicBezTo>
                <a:lnTo>
                  <a:pt x="41221" y="88331"/>
                </a:lnTo>
                <a:cubicBezTo>
                  <a:pt x="41221" y="85092"/>
                  <a:pt x="38571" y="82442"/>
                  <a:pt x="35332" y="82442"/>
                </a:cubicBezTo>
                <a:lnTo>
                  <a:pt x="23555" y="82442"/>
                </a:lnTo>
                <a:cubicBezTo>
                  <a:pt x="20316" y="82442"/>
                  <a:pt x="17666" y="85092"/>
                  <a:pt x="17666" y="88331"/>
                </a:cubicBezTo>
                <a:close/>
                <a:moveTo>
                  <a:pt x="129552" y="82442"/>
                </a:moveTo>
                <a:cubicBezTo>
                  <a:pt x="126313" y="82442"/>
                  <a:pt x="123663" y="85092"/>
                  <a:pt x="123663" y="88331"/>
                </a:cubicBezTo>
                <a:lnTo>
                  <a:pt x="123663" y="100108"/>
                </a:lnTo>
                <a:cubicBezTo>
                  <a:pt x="123663" y="103347"/>
                  <a:pt x="126313" y="105997"/>
                  <a:pt x="129552" y="105997"/>
                </a:cubicBezTo>
                <a:lnTo>
                  <a:pt x="141329" y="105997"/>
                </a:lnTo>
                <a:cubicBezTo>
                  <a:pt x="144568" y="105997"/>
                  <a:pt x="147218" y="103347"/>
                  <a:pt x="147218" y="100108"/>
                </a:cubicBezTo>
                <a:lnTo>
                  <a:pt x="147218" y="88331"/>
                </a:lnTo>
                <a:cubicBezTo>
                  <a:pt x="147218" y="85092"/>
                  <a:pt x="144568" y="82442"/>
                  <a:pt x="141329" y="82442"/>
                </a:cubicBezTo>
                <a:lnTo>
                  <a:pt x="129552" y="82442"/>
                </a:lnTo>
                <a:close/>
                <a:moveTo>
                  <a:pt x="17666" y="41221"/>
                </a:moveTo>
                <a:lnTo>
                  <a:pt x="17666" y="52998"/>
                </a:lnTo>
                <a:cubicBezTo>
                  <a:pt x="17666" y="56237"/>
                  <a:pt x="20316" y="58887"/>
                  <a:pt x="23555" y="58887"/>
                </a:cubicBezTo>
                <a:lnTo>
                  <a:pt x="35332" y="58887"/>
                </a:lnTo>
                <a:cubicBezTo>
                  <a:pt x="38571" y="58887"/>
                  <a:pt x="41221" y="56237"/>
                  <a:pt x="41221" y="52998"/>
                </a:cubicBezTo>
                <a:lnTo>
                  <a:pt x="41221" y="41221"/>
                </a:lnTo>
                <a:cubicBezTo>
                  <a:pt x="41221" y="37982"/>
                  <a:pt x="38571" y="35332"/>
                  <a:pt x="35332" y="35332"/>
                </a:cubicBezTo>
                <a:lnTo>
                  <a:pt x="23555" y="35332"/>
                </a:lnTo>
                <a:cubicBezTo>
                  <a:pt x="20316" y="35332"/>
                  <a:pt x="17666" y="37982"/>
                  <a:pt x="17666" y="41221"/>
                </a:cubicBezTo>
                <a:close/>
                <a:moveTo>
                  <a:pt x="129552" y="35332"/>
                </a:moveTo>
                <a:cubicBezTo>
                  <a:pt x="126313" y="35332"/>
                  <a:pt x="123663" y="37982"/>
                  <a:pt x="123663" y="41221"/>
                </a:cubicBezTo>
                <a:lnTo>
                  <a:pt x="123663" y="52998"/>
                </a:lnTo>
                <a:cubicBezTo>
                  <a:pt x="123663" y="56237"/>
                  <a:pt x="126313" y="58887"/>
                  <a:pt x="129552" y="58887"/>
                </a:cubicBezTo>
                <a:lnTo>
                  <a:pt x="141329" y="58887"/>
                </a:lnTo>
                <a:cubicBezTo>
                  <a:pt x="144568" y="58887"/>
                  <a:pt x="147218" y="56237"/>
                  <a:pt x="147218" y="52998"/>
                </a:cubicBezTo>
                <a:lnTo>
                  <a:pt x="147218" y="41221"/>
                </a:lnTo>
                <a:cubicBezTo>
                  <a:pt x="147218" y="37982"/>
                  <a:pt x="144568" y="35332"/>
                  <a:pt x="141329" y="35332"/>
                </a:cubicBezTo>
                <a:lnTo>
                  <a:pt x="129552" y="35332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913929" y="1281385"/>
            <a:ext cx="309039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energy (E/I) 在电影域的稳定模式</a:t>
            </a:r>
            <a:endParaRPr lang="en-US" sz="160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0028" y="1700662"/>
            <a:ext cx="5257447" cy="1385026"/>
          </a:xfrm>
          <a:custGeom>
            <a:avLst/>
            <a:gdLst/>
            <a:ahLst/>
            <a:cxnLst/>
            <a:rect l="l" t="t" r="r" b="b"/>
            <a:pathLst>
              <a:path w="5257447" h="1385026">
                <a:moveTo>
                  <a:pt x="75373" y="0"/>
                </a:moveTo>
                <a:lnTo>
                  <a:pt x="5182074" y="0"/>
                </a:lnTo>
                <a:cubicBezTo>
                  <a:pt x="5223701" y="0"/>
                  <a:pt x="5257447" y="33746"/>
                  <a:pt x="5257447" y="75373"/>
                </a:cubicBezTo>
                <a:lnTo>
                  <a:pt x="5257447" y="1309653"/>
                </a:lnTo>
                <a:cubicBezTo>
                  <a:pt x="5257447" y="1351281"/>
                  <a:pt x="5223701" y="1385026"/>
                  <a:pt x="5182074" y="1385026"/>
                </a:cubicBezTo>
                <a:lnTo>
                  <a:pt x="75373" y="1385026"/>
                </a:lnTo>
                <a:cubicBezTo>
                  <a:pt x="33746" y="1385026"/>
                  <a:pt x="0" y="1351281"/>
                  <a:pt x="0" y="1309653"/>
                </a:cubicBezTo>
                <a:lnTo>
                  <a:pt x="0" y="75373"/>
                </a:lnTo>
                <a:cubicBezTo>
                  <a:pt x="0" y="33746"/>
                  <a:pt x="33746" y="0"/>
                  <a:pt x="7537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739" y="1705372"/>
          <a:ext cx="5248024" cy="1375604"/>
        </p:xfrm>
        <a:graphic>
          <a:graphicData uri="http://schemas.openxmlformats.org/drawingml/2006/table">
            <a:tbl>
              <a:tblPr/>
              <a:tblGrid>
                <a:gridCol w="189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901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模型家族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E: ΔAcc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I: ΔAcc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90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llama-3b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+2.08%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-1.63%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90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qwen-3b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+2.03%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-1.72%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90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qwen-7b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A6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+0.43%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B2C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-0.41%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5376" marR="75376" marT="75376" marB="753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84161" y="3269416"/>
            <a:ext cx="131907" cy="131907"/>
          </a:xfrm>
          <a:custGeom>
            <a:avLst/>
            <a:gdLst/>
            <a:ahLst/>
            <a:cxnLst/>
            <a:rect l="l" t="t" r="r" b="b"/>
            <a:pathLst>
              <a:path w="131907" h="131907">
                <a:moveTo>
                  <a:pt x="65954" y="131907"/>
                </a:moveTo>
                <a:cubicBezTo>
                  <a:pt x="102354" y="131907"/>
                  <a:pt x="131907" y="102354"/>
                  <a:pt x="131907" y="65954"/>
                </a:cubicBezTo>
                <a:cubicBezTo>
                  <a:pt x="131907" y="29553"/>
                  <a:pt x="102354" y="0"/>
                  <a:pt x="65954" y="0"/>
                </a:cubicBezTo>
                <a:cubicBezTo>
                  <a:pt x="29553" y="0"/>
                  <a:pt x="0" y="29553"/>
                  <a:pt x="0" y="65954"/>
                </a:cubicBezTo>
                <a:cubicBezTo>
                  <a:pt x="0" y="102354"/>
                  <a:pt x="29553" y="131907"/>
                  <a:pt x="65954" y="131907"/>
                </a:cubicBezTo>
                <a:close/>
                <a:moveTo>
                  <a:pt x="87698" y="54798"/>
                </a:moveTo>
                <a:lnTo>
                  <a:pt x="67087" y="87775"/>
                </a:lnTo>
                <a:cubicBezTo>
                  <a:pt x="66005" y="89501"/>
                  <a:pt x="64150" y="90583"/>
                  <a:pt x="62115" y="90686"/>
                </a:cubicBezTo>
                <a:cubicBezTo>
                  <a:pt x="60080" y="90789"/>
                  <a:pt x="58122" y="89862"/>
                  <a:pt x="56911" y="88213"/>
                </a:cubicBezTo>
                <a:lnTo>
                  <a:pt x="44544" y="71725"/>
                </a:lnTo>
                <a:cubicBezTo>
                  <a:pt x="42483" y="68994"/>
                  <a:pt x="43050" y="65129"/>
                  <a:pt x="45781" y="63068"/>
                </a:cubicBezTo>
                <a:cubicBezTo>
                  <a:pt x="48512" y="61007"/>
                  <a:pt x="52376" y="61574"/>
                  <a:pt x="54438" y="64305"/>
                </a:cubicBezTo>
                <a:lnTo>
                  <a:pt x="61394" y="73580"/>
                </a:lnTo>
                <a:lnTo>
                  <a:pt x="77212" y="48254"/>
                </a:lnTo>
                <a:cubicBezTo>
                  <a:pt x="79016" y="45369"/>
                  <a:pt x="82828" y="44467"/>
                  <a:pt x="85740" y="46296"/>
                </a:cubicBezTo>
                <a:cubicBezTo>
                  <a:pt x="88651" y="48126"/>
                  <a:pt x="89527" y="51913"/>
                  <a:pt x="87698" y="54824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3" name="Text 10"/>
          <p:cNvSpPr/>
          <p:nvPr/>
        </p:nvSpPr>
        <p:spPr>
          <a:xfrm>
            <a:off x="762872" y="3241150"/>
            <a:ext cx="513526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三个模型家族都呈现一致模式：E上升、I下降</a:t>
            </a:r>
            <a:endParaRPr lang="en-US" sz="1600" dirty="0">
              <a:latin typeface="+mn-e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72406" y="1074102"/>
            <a:ext cx="5643747" cy="2619301"/>
          </a:xfrm>
          <a:custGeom>
            <a:avLst/>
            <a:gdLst/>
            <a:ahLst/>
            <a:cxnLst/>
            <a:rect l="l" t="t" r="r" b="b"/>
            <a:pathLst>
              <a:path w="5643747" h="2619301">
                <a:moveTo>
                  <a:pt x="37688" y="0"/>
                </a:moveTo>
                <a:lnTo>
                  <a:pt x="5606059" y="0"/>
                </a:lnTo>
                <a:cubicBezTo>
                  <a:pt x="5626873" y="0"/>
                  <a:pt x="5643747" y="16873"/>
                  <a:pt x="5643747" y="37688"/>
                </a:cubicBezTo>
                <a:lnTo>
                  <a:pt x="5643747" y="2506226"/>
                </a:lnTo>
                <a:cubicBezTo>
                  <a:pt x="5643747" y="2568676"/>
                  <a:pt x="5593121" y="2619301"/>
                  <a:pt x="5530671" y="2619301"/>
                </a:cubicBezTo>
                <a:lnTo>
                  <a:pt x="113075" y="2619301"/>
                </a:lnTo>
                <a:cubicBezTo>
                  <a:pt x="50626" y="2619301"/>
                  <a:pt x="0" y="2568676"/>
                  <a:pt x="0" y="2506226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406" y="1074102"/>
            <a:ext cx="5643747" cy="37688"/>
          </a:xfrm>
          <a:custGeom>
            <a:avLst/>
            <a:gdLst/>
            <a:ahLst/>
            <a:cxnLst/>
            <a:rect l="l" t="t" r="r" b="b"/>
            <a:pathLst>
              <a:path w="5643747" h="37688">
                <a:moveTo>
                  <a:pt x="37688" y="0"/>
                </a:moveTo>
                <a:lnTo>
                  <a:pt x="5606059" y="0"/>
                </a:lnTo>
                <a:cubicBezTo>
                  <a:pt x="5626873" y="0"/>
                  <a:pt x="5643747" y="16873"/>
                  <a:pt x="5643747" y="37688"/>
                </a:cubicBezTo>
                <a:lnTo>
                  <a:pt x="5643747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6" name="Shape 13"/>
          <p:cNvSpPr/>
          <p:nvPr/>
        </p:nvSpPr>
        <p:spPr>
          <a:xfrm>
            <a:off x="6384400" y="1319073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94219" y="188439"/>
                </a:moveTo>
                <a:cubicBezTo>
                  <a:pt x="146221" y="188439"/>
                  <a:pt x="188439" y="146221"/>
                  <a:pt x="188439" y="94219"/>
                </a:cubicBezTo>
                <a:cubicBezTo>
                  <a:pt x="188439" y="42218"/>
                  <a:pt x="146221" y="0"/>
                  <a:pt x="94219" y="0"/>
                </a:cubicBezTo>
                <a:cubicBezTo>
                  <a:pt x="42218" y="0"/>
                  <a:pt x="0" y="42218"/>
                  <a:pt x="0" y="94219"/>
                </a:cubicBezTo>
                <a:cubicBezTo>
                  <a:pt x="0" y="146221"/>
                  <a:pt x="42218" y="188439"/>
                  <a:pt x="94219" y="188439"/>
                </a:cubicBezTo>
                <a:close/>
                <a:moveTo>
                  <a:pt x="61832" y="85386"/>
                </a:moveTo>
                <a:lnTo>
                  <a:pt x="126607" y="85386"/>
                </a:lnTo>
                <a:cubicBezTo>
                  <a:pt x="131502" y="85386"/>
                  <a:pt x="135440" y="89324"/>
                  <a:pt x="135440" y="94219"/>
                </a:cubicBezTo>
                <a:cubicBezTo>
                  <a:pt x="135440" y="99114"/>
                  <a:pt x="131502" y="103053"/>
                  <a:pt x="126607" y="103053"/>
                </a:cubicBezTo>
                <a:lnTo>
                  <a:pt x="61832" y="103053"/>
                </a:lnTo>
                <a:cubicBezTo>
                  <a:pt x="56937" y="103053"/>
                  <a:pt x="52998" y="99114"/>
                  <a:pt x="52998" y="94219"/>
                </a:cubicBezTo>
                <a:cubicBezTo>
                  <a:pt x="52998" y="89324"/>
                  <a:pt x="56937" y="85386"/>
                  <a:pt x="61832" y="85386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7" name="Text 14"/>
          <p:cNvSpPr/>
          <p:nvPr/>
        </p:nvSpPr>
        <p:spPr>
          <a:xfrm>
            <a:off x="6709457" y="1281385"/>
            <a:ext cx="320346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information与execution：规律更弱</a:t>
            </a:r>
            <a:endParaRPr lang="en-US" sz="1600" dirty="0">
              <a:latin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360845" y="1695951"/>
            <a:ext cx="5266869" cy="744334"/>
          </a:xfrm>
          <a:custGeom>
            <a:avLst/>
            <a:gdLst/>
            <a:ahLst/>
            <a:cxnLst/>
            <a:rect l="l" t="t" r="r" b="b"/>
            <a:pathLst>
              <a:path w="5266869" h="744334">
                <a:moveTo>
                  <a:pt x="75379" y="0"/>
                </a:moveTo>
                <a:lnTo>
                  <a:pt x="5191490" y="0"/>
                </a:lnTo>
                <a:cubicBezTo>
                  <a:pt x="5233120" y="0"/>
                  <a:pt x="5266869" y="33748"/>
                  <a:pt x="5266869" y="75379"/>
                </a:cubicBezTo>
                <a:lnTo>
                  <a:pt x="5266869" y="668955"/>
                </a:lnTo>
                <a:cubicBezTo>
                  <a:pt x="5266869" y="710558"/>
                  <a:pt x="5233093" y="744334"/>
                  <a:pt x="5191490" y="744334"/>
                </a:cubicBezTo>
                <a:lnTo>
                  <a:pt x="75379" y="744334"/>
                </a:lnTo>
                <a:cubicBezTo>
                  <a:pt x="33748" y="744334"/>
                  <a:pt x="0" y="710586"/>
                  <a:pt x="0" y="668955"/>
                </a:cubicBezTo>
                <a:lnTo>
                  <a:pt x="0" y="75379"/>
                </a:lnTo>
                <a:cubicBezTo>
                  <a:pt x="0" y="33776"/>
                  <a:pt x="33776" y="0"/>
                  <a:pt x="7537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Text 16"/>
          <p:cNvSpPr/>
          <p:nvPr/>
        </p:nvSpPr>
        <p:spPr>
          <a:xfrm>
            <a:off x="6473908" y="1809014"/>
            <a:ext cx="511611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information (N/S)</a:t>
            </a:r>
            <a:endParaRPr lang="en-US" sz="1600" dirty="0">
              <a:latin typeface="+mn-ea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73908" y="2110516"/>
            <a:ext cx="5106696" cy="21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在部分模型/数据集上可以看到一端占优，但</a:t>
            </a:r>
            <a:r>
              <a:rPr lang="en-US" sz="1039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跨领域稳定性弱于decision/energy</a:t>
            </a:r>
            <a:endParaRPr lang="en-US" sz="1600" dirty="0">
              <a:latin typeface="+mn-ea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360845" y="2550992"/>
            <a:ext cx="5266869" cy="961039"/>
          </a:xfrm>
          <a:custGeom>
            <a:avLst/>
            <a:gdLst/>
            <a:ahLst/>
            <a:cxnLst/>
            <a:rect l="l" t="t" r="r" b="b"/>
            <a:pathLst>
              <a:path w="5266869" h="961039">
                <a:moveTo>
                  <a:pt x="75374" y="0"/>
                </a:moveTo>
                <a:lnTo>
                  <a:pt x="5191494" y="0"/>
                </a:lnTo>
                <a:cubicBezTo>
                  <a:pt x="5233122" y="0"/>
                  <a:pt x="5266869" y="33746"/>
                  <a:pt x="5266869" y="75374"/>
                </a:cubicBezTo>
                <a:lnTo>
                  <a:pt x="5266869" y="885664"/>
                </a:lnTo>
                <a:cubicBezTo>
                  <a:pt x="5266869" y="927292"/>
                  <a:pt x="5233122" y="961039"/>
                  <a:pt x="5191494" y="961039"/>
                </a:cubicBezTo>
                <a:lnTo>
                  <a:pt x="75374" y="961039"/>
                </a:lnTo>
                <a:cubicBezTo>
                  <a:pt x="33746" y="961039"/>
                  <a:pt x="0" y="927292"/>
                  <a:pt x="0" y="885664"/>
                </a:cubicBezTo>
                <a:lnTo>
                  <a:pt x="0" y="75374"/>
                </a:lnTo>
                <a:cubicBezTo>
                  <a:pt x="0" y="33774"/>
                  <a:pt x="33774" y="0"/>
                  <a:pt x="7537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Text 19"/>
          <p:cNvSpPr/>
          <p:nvPr/>
        </p:nvSpPr>
        <p:spPr>
          <a:xfrm>
            <a:off x="6473908" y="2664056"/>
            <a:ext cx="511611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execution (J/P)</a:t>
            </a:r>
            <a:endParaRPr lang="en-US" sz="1600" dirty="0">
              <a:latin typeface="+mn-ea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73908" y="2965558"/>
            <a:ext cx="5106696" cy="43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整体变化更小、tie更常见；更可能需要引入</a:t>
            </a:r>
            <a:r>
              <a:rPr lang="en-US" sz="1039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行为型指标</a:t>
            </a: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（格式遵循、拒答倾向、啰嗦程度等）才能建立稳定映射</a:t>
            </a:r>
            <a:endParaRPr lang="en-US" sz="1600" dirty="0">
              <a:latin typeface="+mn-ea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6878" y="3804110"/>
            <a:ext cx="11438244" cy="3015023"/>
          </a:xfrm>
          <a:custGeom>
            <a:avLst/>
            <a:gdLst/>
            <a:ahLst/>
            <a:cxnLst/>
            <a:rect l="l" t="t" r="r" b="b"/>
            <a:pathLst>
              <a:path w="11438244" h="3015023">
                <a:moveTo>
                  <a:pt x="113063" y="0"/>
                </a:moveTo>
                <a:lnTo>
                  <a:pt x="11325181" y="0"/>
                </a:lnTo>
                <a:cubicBezTo>
                  <a:pt x="11387624" y="0"/>
                  <a:pt x="11438244" y="50620"/>
                  <a:pt x="11438244" y="113063"/>
                </a:cubicBezTo>
                <a:lnTo>
                  <a:pt x="11438244" y="2901960"/>
                </a:lnTo>
                <a:cubicBezTo>
                  <a:pt x="11438244" y="2964403"/>
                  <a:pt x="11387624" y="3015023"/>
                  <a:pt x="11325181" y="3015023"/>
                </a:cubicBezTo>
                <a:lnTo>
                  <a:pt x="113063" y="3015023"/>
                </a:lnTo>
                <a:cubicBezTo>
                  <a:pt x="50620" y="3015023"/>
                  <a:pt x="0" y="2964403"/>
                  <a:pt x="0" y="290196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5317" y="4072637"/>
            <a:ext cx="235549" cy="188439"/>
          </a:xfrm>
          <a:custGeom>
            <a:avLst/>
            <a:gdLst/>
            <a:ahLst/>
            <a:cxnLst/>
            <a:rect l="l" t="t" r="r" b="b"/>
            <a:pathLst>
              <a:path w="235549" h="188439">
                <a:moveTo>
                  <a:pt x="153070" y="77473"/>
                </a:moveTo>
                <a:cubicBezTo>
                  <a:pt x="157560" y="76259"/>
                  <a:pt x="162271" y="78394"/>
                  <a:pt x="164295" y="82552"/>
                </a:cubicBezTo>
                <a:lnTo>
                  <a:pt x="171141" y="96391"/>
                </a:lnTo>
                <a:cubicBezTo>
                  <a:pt x="174932" y="96906"/>
                  <a:pt x="178649" y="97937"/>
                  <a:pt x="182145" y="99372"/>
                </a:cubicBezTo>
                <a:lnTo>
                  <a:pt x="195027" y="90797"/>
                </a:lnTo>
                <a:cubicBezTo>
                  <a:pt x="198891" y="88220"/>
                  <a:pt x="204007" y="88736"/>
                  <a:pt x="207283" y="92011"/>
                </a:cubicBezTo>
                <a:lnTo>
                  <a:pt x="214349" y="99078"/>
                </a:lnTo>
                <a:cubicBezTo>
                  <a:pt x="217625" y="102353"/>
                  <a:pt x="218140" y="107506"/>
                  <a:pt x="215564" y="111334"/>
                </a:cubicBezTo>
                <a:lnTo>
                  <a:pt x="206988" y="124178"/>
                </a:lnTo>
                <a:cubicBezTo>
                  <a:pt x="207688" y="125908"/>
                  <a:pt x="208313" y="127712"/>
                  <a:pt x="208829" y="129589"/>
                </a:cubicBezTo>
                <a:cubicBezTo>
                  <a:pt x="209344" y="131466"/>
                  <a:pt x="209675" y="133306"/>
                  <a:pt x="209933" y="135183"/>
                </a:cubicBezTo>
                <a:lnTo>
                  <a:pt x="223808" y="142028"/>
                </a:lnTo>
                <a:cubicBezTo>
                  <a:pt x="227967" y="144090"/>
                  <a:pt x="230102" y="148801"/>
                  <a:pt x="228887" y="153254"/>
                </a:cubicBezTo>
                <a:lnTo>
                  <a:pt x="226311" y="162897"/>
                </a:lnTo>
                <a:cubicBezTo>
                  <a:pt x="225096" y="167350"/>
                  <a:pt x="220937" y="170368"/>
                  <a:pt x="216300" y="170074"/>
                </a:cubicBezTo>
                <a:lnTo>
                  <a:pt x="200842" y="169080"/>
                </a:lnTo>
                <a:cubicBezTo>
                  <a:pt x="198523" y="172061"/>
                  <a:pt x="195837" y="174821"/>
                  <a:pt x="192782" y="177177"/>
                </a:cubicBezTo>
                <a:lnTo>
                  <a:pt x="193776" y="192598"/>
                </a:lnTo>
                <a:cubicBezTo>
                  <a:pt x="194070" y="197235"/>
                  <a:pt x="191052" y="201431"/>
                  <a:pt x="186599" y="202609"/>
                </a:cubicBezTo>
                <a:lnTo>
                  <a:pt x="176956" y="205185"/>
                </a:lnTo>
                <a:cubicBezTo>
                  <a:pt x="172466" y="206400"/>
                  <a:pt x="167792" y="204265"/>
                  <a:pt x="165731" y="200106"/>
                </a:cubicBezTo>
                <a:lnTo>
                  <a:pt x="158885" y="186267"/>
                </a:lnTo>
                <a:cubicBezTo>
                  <a:pt x="155094" y="185752"/>
                  <a:pt x="151377" y="184722"/>
                  <a:pt x="147880" y="183286"/>
                </a:cubicBezTo>
                <a:lnTo>
                  <a:pt x="134999" y="191862"/>
                </a:lnTo>
                <a:cubicBezTo>
                  <a:pt x="131134" y="194438"/>
                  <a:pt x="126019" y="193923"/>
                  <a:pt x="122743" y="190647"/>
                </a:cubicBezTo>
                <a:lnTo>
                  <a:pt x="115676" y="183581"/>
                </a:lnTo>
                <a:cubicBezTo>
                  <a:pt x="112401" y="180305"/>
                  <a:pt x="111886" y="175189"/>
                  <a:pt x="114462" y="171325"/>
                </a:cubicBezTo>
                <a:lnTo>
                  <a:pt x="123037" y="158443"/>
                </a:lnTo>
                <a:cubicBezTo>
                  <a:pt x="122338" y="156713"/>
                  <a:pt x="121712" y="154910"/>
                  <a:pt x="121197" y="153033"/>
                </a:cubicBezTo>
                <a:cubicBezTo>
                  <a:pt x="120682" y="151156"/>
                  <a:pt x="120351" y="149279"/>
                  <a:pt x="120093" y="147439"/>
                </a:cubicBezTo>
                <a:lnTo>
                  <a:pt x="106218" y="140593"/>
                </a:lnTo>
                <a:cubicBezTo>
                  <a:pt x="102059" y="138532"/>
                  <a:pt x="99961" y="133821"/>
                  <a:pt x="101139" y="129368"/>
                </a:cubicBezTo>
                <a:lnTo>
                  <a:pt x="103715" y="119725"/>
                </a:lnTo>
                <a:cubicBezTo>
                  <a:pt x="104930" y="115272"/>
                  <a:pt x="109088" y="112254"/>
                  <a:pt x="113726" y="112548"/>
                </a:cubicBezTo>
                <a:lnTo>
                  <a:pt x="129147" y="113542"/>
                </a:lnTo>
                <a:cubicBezTo>
                  <a:pt x="131466" y="110561"/>
                  <a:pt x="134152" y="107800"/>
                  <a:pt x="137207" y="105445"/>
                </a:cubicBezTo>
                <a:lnTo>
                  <a:pt x="136213" y="90061"/>
                </a:lnTo>
                <a:cubicBezTo>
                  <a:pt x="135919" y="85423"/>
                  <a:pt x="138937" y="81227"/>
                  <a:pt x="143390" y="80050"/>
                </a:cubicBezTo>
                <a:lnTo>
                  <a:pt x="153033" y="77473"/>
                </a:lnTo>
                <a:close/>
                <a:moveTo>
                  <a:pt x="165031" y="125135"/>
                </a:moveTo>
                <a:cubicBezTo>
                  <a:pt x="156094" y="125145"/>
                  <a:pt x="148846" y="132410"/>
                  <a:pt x="148856" y="141348"/>
                </a:cubicBezTo>
                <a:cubicBezTo>
                  <a:pt x="148866" y="150285"/>
                  <a:pt x="156130" y="157533"/>
                  <a:pt x="165068" y="157523"/>
                </a:cubicBezTo>
                <a:cubicBezTo>
                  <a:pt x="174006" y="157513"/>
                  <a:pt x="181254" y="150249"/>
                  <a:pt x="181244" y="141311"/>
                </a:cubicBezTo>
                <a:cubicBezTo>
                  <a:pt x="181234" y="132373"/>
                  <a:pt x="173969" y="125125"/>
                  <a:pt x="165031" y="125135"/>
                </a:cubicBezTo>
                <a:close/>
                <a:moveTo>
                  <a:pt x="82773" y="-16746"/>
                </a:moveTo>
                <a:lnTo>
                  <a:pt x="92416" y="-14170"/>
                </a:lnTo>
                <a:cubicBezTo>
                  <a:pt x="96869" y="-12955"/>
                  <a:pt x="99887" y="-8759"/>
                  <a:pt x="99593" y="-4159"/>
                </a:cubicBezTo>
                <a:lnTo>
                  <a:pt x="98599" y="11225"/>
                </a:lnTo>
                <a:cubicBezTo>
                  <a:pt x="101654" y="13581"/>
                  <a:pt x="104341" y="16304"/>
                  <a:pt x="106659" y="19322"/>
                </a:cubicBezTo>
                <a:lnTo>
                  <a:pt x="122117" y="18329"/>
                </a:lnTo>
                <a:cubicBezTo>
                  <a:pt x="126718" y="18034"/>
                  <a:pt x="130914" y="21052"/>
                  <a:pt x="132128" y="25506"/>
                </a:cubicBezTo>
                <a:lnTo>
                  <a:pt x="134704" y="35148"/>
                </a:lnTo>
                <a:cubicBezTo>
                  <a:pt x="135882" y="39602"/>
                  <a:pt x="133784" y="44313"/>
                  <a:pt x="129625" y="46374"/>
                </a:cubicBezTo>
                <a:lnTo>
                  <a:pt x="115750" y="53219"/>
                </a:lnTo>
                <a:cubicBezTo>
                  <a:pt x="115492" y="55096"/>
                  <a:pt x="115124" y="56973"/>
                  <a:pt x="114646" y="58814"/>
                </a:cubicBezTo>
                <a:cubicBezTo>
                  <a:pt x="114168" y="60654"/>
                  <a:pt x="113505" y="62494"/>
                  <a:pt x="112806" y="64224"/>
                </a:cubicBezTo>
                <a:lnTo>
                  <a:pt x="121381" y="77105"/>
                </a:lnTo>
                <a:cubicBezTo>
                  <a:pt x="123957" y="80970"/>
                  <a:pt x="123442" y="86086"/>
                  <a:pt x="120167" y="89361"/>
                </a:cubicBezTo>
                <a:lnTo>
                  <a:pt x="113100" y="96428"/>
                </a:lnTo>
                <a:cubicBezTo>
                  <a:pt x="109825" y="99703"/>
                  <a:pt x="104709" y="100219"/>
                  <a:pt x="100844" y="97642"/>
                </a:cubicBezTo>
                <a:lnTo>
                  <a:pt x="87963" y="89067"/>
                </a:lnTo>
                <a:cubicBezTo>
                  <a:pt x="84466" y="90502"/>
                  <a:pt x="80749" y="91533"/>
                  <a:pt x="76958" y="92048"/>
                </a:cubicBezTo>
                <a:lnTo>
                  <a:pt x="70113" y="105886"/>
                </a:lnTo>
                <a:cubicBezTo>
                  <a:pt x="68051" y="110045"/>
                  <a:pt x="63341" y="112143"/>
                  <a:pt x="58887" y="110966"/>
                </a:cubicBezTo>
                <a:lnTo>
                  <a:pt x="49244" y="108389"/>
                </a:lnTo>
                <a:cubicBezTo>
                  <a:pt x="44754" y="107175"/>
                  <a:pt x="41773" y="102979"/>
                  <a:pt x="42068" y="98378"/>
                </a:cubicBezTo>
                <a:lnTo>
                  <a:pt x="43061" y="82957"/>
                </a:lnTo>
                <a:cubicBezTo>
                  <a:pt x="40006" y="80602"/>
                  <a:pt x="37320" y="77878"/>
                  <a:pt x="35001" y="74860"/>
                </a:cubicBezTo>
                <a:lnTo>
                  <a:pt x="19543" y="75854"/>
                </a:lnTo>
                <a:cubicBezTo>
                  <a:pt x="14943" y="76148"/>
                  <a:pt x="10747" y="73131"/>
                  <a:pt x="9532" y="68677"/>
                </a:cubicBezTo>
                <a:lnTo>
                  <a:pt x="6956" y="59034"/>
                </a:lnTo>
                <a:cubicBezTo>
                  <a:pt x="5778" y="54581"/>
                  <a:pt x="7876" y="49870"/>
                  <a:pt x="12035" y="47809"/>
                </a:cubicBezTo>
                <a:lnTo>
                  <a:pt x="25910" y="40963"/>
                </a:lnTo>
                <a:cubicBezTo>
                  <a:pt x="26168" y="39086"/>
                  <a:pt x="26536" y="37246"/>
                  <a:pt x="27014" y="35369"/>
                </a:cubicBezTo>
                <a:cubicBezTo>
                  <a:pt x="27530" y="33492"/>
                  <a:pt x="28119" y="31689"/>
                  <a:pt x="28855" y="29959"/>
                </a:cubicBezTo>
                <a:lnTo>
                  <a:pt x="20279" y="17114"/>
                </a:lnTo>
                <a:cubicBezTo>
                  <a:pt x="17703" y="13250"/>
                  <a:pt x="18218" y="8134"/>
                  <a:pt x="21494" y="4858"/>
                </a:cubicBezTo>
                <a:lnTo>
                  <a:pt x="28560" y="-2208"/>
                </a:lnTo>
                <a:cubicBezTo>
                  <a:pt x="31836" y="-5484"/>
                  <a:pt x="36952" y="-5999"/>
                  <a:pt x="40816" y="-3423"/>
                </a:cubicBezTo>
                <a:lnTo>
                  <a:pt x="53698" y="5153"/>
                </a:lnTo>
                <a:cubicBezTo>
                  <a:pt x="57194" y="3717"/>
                  <a:pt x="60911" y="2687"/>
                  <a:pt x="64702" y="2171"/>
                </a:cubicBezTo>
                <a:lnTo>
                  <a:pt x="71548" y="-11667"/>
                </a:lnTo>
                <a:cubicBezTo>
                  <a:pt x="73609" y="-15826"/>
                  <a:pt x="78283" y="-17924"/>
                  <a:pt x="82773" y="-16746"/>
                </a:cubicBezTo>
                <a:close/>
                <a:moveTo>
                  <a:pt x="70812" y="30916"/>
                </a:moveTo>
                <a:cubicBezTo>
                  <a:pt x="61874" y="30916"/>
                  <a:pt x="54618" y="38172"/>
                  <a:pt x="54618" y="47110"/>
                </a:cubicBezTo>
                <a:cubicBezTo>
                  <a:pt x="54618" y="56047"/>
                  <a:pt x="61874" y="63304"/>
                  <a:pt x="70812" y="63304"/>
                </a:cubicBezTo>
                <a:cubicBezTo>
                  <a:pt x="79750" y="63304"/>
                  <a:pt x="87006" y="56047"/>
                  <a:pt x="87006" y="47110"/>
                </a:cubicBezTo>
                <a:cubicBezTo>
                  <a:pt x="87006" y="38172"/>
                  <a:pt x="79750" y="30916"/>
                  <a:pt x="70812" y="3091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Text 23"/>
          <p:cNvSpPr/>
          <p:nvPr/>
        </p:nvSpPr>
        <p:spPr>
          <a:xfrm>
            <a:off x="913929" y="4034949"/>
            <a:ext cx="278889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机制解释：基于MBTI含义的理解</a:t>
            </a:r>
            <a:endParaRPr lang="en-US" sz="1600" dirty="0">
              <a:latin typeface="+mn-ea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70028" y="4454226"/>
            <a:ext cx="3580340" cy="1629997"/>
          </a:xfrm>
          <a:custGeom>
            <a:avLst/>
            <a:gdLst/>
            <a:ahLst/>
            <a:cxnLst/>
            <a:rect l="l" t="t" r="r" b="b"/>
            <a:pathLst>
              <a:path w="3580340" h="1629997">
                <a:moveTo>
                  <a:pt x="75371" y="0"/>
                </a:moveTo>
                <a:lnTo>
                  <a:pt x="3504969" y="0"/>
                </a:lnTo>
                <a:cubicBezTo>
                  <a:pt x="3546595" y="0"/>
                  <a:pt x="3580340" y="33745"/>
                  <a:pt x="3580340" y="75371"/>
                </a:cubicBezTo>
                <a:lnTo>
                  <a:pt x="3580340" y="1554626"/>
                </a:lnTo>
                <a:cubicBezTo>
                  <a:pt x="3580340" y="1596252"/>
                  <a:pt x="3546595" y="1629997"/>
                  <a:pt x="3504969" y="1629997"/>
                </a:cubicBezTo>
                <a:lnTo>
                  <a:pt x="75371" y="1629997"/>
                </a:lnTo>
                <a:cubicBezTo>
                  <a:pt x="33745" y="1629997"/>
                  <a:pt x="0" y="1596252"/>
                  <a:pt x="0" y="1554626"/>
                </a:cubicBezTo>
                <a:lnTo>
                  <a:pt x="0" y="75371"/>
                </a:lnTo>
                <a:cubicBezTo>
                  <a:pt x="0" y="33745"/>
                  <a:pt x="33745" y="0"/>
                  <a:pt x="75371" y="0"/>
                </a:cubicBezTo>
                <a:close/>
              </a:path>
            </a:pathLst>
          </a:custGeom>
          <a:solidFill>
            <a:srgbClr val="E74C3C">
              <a:alpha val="5098"/>
            </a:srgbClr>
          </a:solidFill>
          <a:ln w="12700">
            <a:solidFill>
              <a:srgbClr val="E74C3C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5490" y="4609688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188439" y="0"/>
                </a:moveTo>
                <a:lnTo>
                  <a:pt x="188439" y="0"/>
                </a:lnTo>
                <a:cubicBezTo>
                  <a:pt x="292511" y="0"/>
                  <a:pt x="376878" y="84367"/>
                  <a:pt x="376878" y="188439"/>
                </a:cubicBezTo>
                <a:lnTo>
                  <a:pt x="376878" y="188439"/>
                </a:lnTo>
                <a:cubicBezTo>
                  <a:pt x="376878" y="292511"/>
                  <a:pt x="292511" y="376878"/>
                  <a:pt x="188439" y="376878"/>
                </a:cubicBezTo>
                <a:lnTo>
                  <a:pt x="188439" y="376878"/>
                </a:lnTo>
                <a:cubicBezTo>
                  <a:pt x="84367" y="376878"/>
                  <a:pt x="0" y="292511"/>
                  <a:pt x="0" y="188439"/>
                </a:cubicBezTo>
                <a:lnTo>
                  <a:pt x="0" y="188439"/>
                </a:lnTo>
                <a:cubicBezTo>
                  <a:pt x="0" y="84367"/>
                  <a:pt x="84367" y="0"/>
                  <a:pt x="188439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9" name="Text 26"/>
          <p:cNvSpPr/>
          <p:nvPr/>
        </p:nvSpPr>
        <p:spPr>
          <a:xfrm>
            <a:off x="687802" y="4609688"/>
            <a:ext cx="452253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1</a:t>
            </a:r>
            <a:endParaRPr lang="en-US" sz="1600" dirty="0">
              <a:latin typeface="+mn-ea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177743" y="4666219"/>
            <a:ext cx="147924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C3E50"/>
                </a:solidFill>
                <a:latin typeface="+mn-ea"/>
                <a:cs typeface="MiSans" pitchFamily="34" charset="-120"/>
              </a:rPr>
              <a:t>decision领域分化</a:t>
            </a:r>
            <a:endParaRPr lang="en-US" sz="1600" dirty="0">
              <a:latin typeface="+mn-ea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25490" y="5099629"/>
            <a:ext cx="333536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电影域：</a:t>
            </a: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情绪分类依赖"情绪线索敏感度"，F端更贴近</a:t>
            </a:r>
            <a:endParaRPr lang="en-US" sz="1600" dirty="0">
              <a:latin typeface="+mn-ea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25490" y="5363444"/>
            <a:ext cx="333536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心理健康域：</a:t>
            </a: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任务像"状态识别"，T端更契合规则化判断</a:t>
            </a:r>
            <a:endParaRPr lang="en-US" sz="1600" dirty="0">
              <a:latin typeface="+mn-ea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308038" y="4454226"/>
            <a:ext cx="3580340" cy="1629997"/>
          </a:xfrm>
          <a:custGeom>
            <a:avLst/>
            <a:gdLst/>
            <a:ahLst/>
            <a:cxnLst/>
            <a:rect l="l" t="t" r="r" b="b"/>
            <a:pathLst>
              <a:path w="3580340" h="1629997">
                <a:moveTo>
                  <a:pt x="75371" y="0"/>
                </a:moveTo>
                <a:lnTo>
                  <a:pt x="3504969" y="0"/>
                </a:lnTo>
                <a:cubicBezTo>
                  <a:pt x="3546595" y="0"/>
                  <a:pt x="3580340" y="33745"/>
                  <a:pt x="3580340" y="75371"/>
                </a:cubicBezTo>
                <a:lnTo>
                  <a:pt x="3580340" y="1554626"/>
                </a:lnTo>
                <a:cubicBezTo>
                  <a:pt x="3580340" y="1596252"/>
                  <a:pt x="3546595" y="1629997"/>
                  <a:pt x="3504969" y="1629997"/>
                </a:cubicBezTo>
                <a:lnTo>
                  <a:pt x="75371" y="1629997"/>
                </a:lnTo>
                <a:cubicBezTo>
                  <a:pt x="33745" y="1629997"/>
                  <a:pt x="0" y="1596252"/>
                  <a:pt x="0" y="1554626"/>
                </a:cubicBezTo>
                <a:lnTo>
                  <a:pt x="0" y="75371"/>
                </a:lnTo>
                <a:cubicBezTo>
                  <a:pt x="0" y="33745"/>
                  <a:pt x="33745" y="0"/>
                  <a:pt x="75371" y="0"/>
                </a:cubicBezTo>
                <a:close/>
              </a:path>
            </a:pathLst>
          </a:custGeom>
          <a:solidFill>
            <a:srgbClr val="2C3E50">
              <a:alpha val="5098"/>
            </a:srgbClr>
          </a:solidFill>
          <a:ln w="1270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63500" y="4609688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188439" y="0"/>
                </a:moveTo>
                <a:lnTo>
                  <a:pt x="188439" y="0"/>
                </a:lnTo>
                <a:cubicBezTo>
                  <a:pt x="292511" y="0"/>
                  <a:pt x="376878" y="84367"/>
                  <a:pt x="376878" y="188439"/>
                </a:cubicBezTo>
                <a:lnTo>
                  <a:pt x="376878" y="188439"/>
                </a:lnTo>
                <a:cubicBezTo>
                  <a:pt x="376878" y="292511"/>
                  <a:pt x="292511" y="376878"/>
                  <a:pt x="188439" y="376878"/>
                </a:cubicBezTo>
                <a:lnTo>
                  <a:pt x="188439" y="376878"/>
                </a:lnTo>
                <a:cubicBezTo>
                  <a:pt x="84367" y="376878"/>
                  <a:pt x="0" y="292511"/>
                  <a:pt x="0" y="188439"/>
                </a:cubicBezTo>
                <a:lnTo>
                  <a:pt x="0" y="188439"/>
                </a:lnTo>
                <a:cubicBezTo>
                  <a:pt x="0" y="84367"/>
                  <a:pt x="84367" y="0"/>
                  <a:pt x="1884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5" name="Text 32"/>
          <p:cNvSpPr/>
          <p:nvPr/>
        </p:nvSpPr>
        <p:spPr>
          <a:xfrm>
            <a:off x="4425813" y="4609688"/>
            <a:ext cx="452253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2</a:t>
            </a:r>
            <a:endParaRPr lang="en-US" sz="1600" dirty="0">
              <a:latin typeface="+mn-ea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915754" y="4666219"/>
            <a:ext cx="1479246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C3E50"/>
                </a:solidFill>
                <a:latin typeface="+mn-ea"/>
                <a:cs typeface="MiSans" pitchFamily="34" charset="-120"/>
              </a:rPr>
              <a:t>energy电影域差异</a:t>
            </a:r>
            <a:endParaRPr lang="en-US" sz="1600" dirty="0">
              <a:latin typeface="+mn-ea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463500" y="5099629"/>
            <a:ext cx="3335369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E端：</a:t>
            </a: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倾向直接确定表达，减少"模棱两可/犹豫"导致的错误</a:t>
            </a:r>
            <a:endParaRPr lang="en-US" sz="1600" dirty="0">
              <a:latin typeface="+mn-ea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463500" y="5551883"/>
            <a:ext cx="3335369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I端：</a:t>
            </a: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倾向内省保守判断，在情绪边界样本上更易偏向负类</a:t>
            </a:r>
            <a:endParaRPr lang="en-US" sz="1600" dirty="0">
              <a:latin typeface="+mn-e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8046049" y="4454226"/>
            <a:ext cx="3580340" cy="1629997"/>
          </a:xfrm>
          <a:custGeom>
            <a:avLst/>
            <a:gdLst/>
            <a:ahLst/>
            <a:cxnLst/>
            <a:rect l="l" t="t" r="r" b="b"/>
            <a:pathLst>
              <a:path w="3580340" h="1629997">
                <a:moveTo>
                  <a:pt x="75371" y="0"/>
                </a:moveTo>
                <a:lnTo>
                  <a:pt x="3504969" y="0"/>
                </a:lnTo>
                <a:cubicBezTo>
                  <a:pt x="3546595" y="0"/>
                  <a:pt x="3580340" y="33745"/>
                  <a:pt x="3580340" y="75371"/>
                </a:cubicBezTo>
                <a:lnTo>
                  <a:pt x="3580340" y="1554626"/>
                </a:lnTo>
                <a:cubicBezTo>
                  <a:pt x="3580340" y="1596252"/>
                  <a:pt x="3546595" y="1629997"/>
                  <a:pt x="3504969" y="1629997"/>
                </a:cubicBezTo>
                <a:lnTo>
                  <a:pt x="75371" y="1629997"/>
                </a:lnTo>
                <a:cubicBezTo>
                  <a:pt x="33745" y="1629997"/>
                  <a:pt x="0" y="1596252"/>
                  <a:pt x="0" y="1554626"/>
                </a:cubicBezTo>
                <a:lnTo>
                  <a:pt x="0" y="75371"/>
                </a:lnTo>
                <a:cubicBezTo>
                  <a:pt x="0" y="33745"/>
                  <a:pt x="33745" y="0"/>
                  <a:pt x="75371" y="0"/>
                </a:cubicBezTo>
                <a:close/>
              </a:path>
            </a:pathLst>
          </a:custGeom>
          <a:solidFill>
            <a:srgbClr val="5D6D7E">
              <a:alpha val="5098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201511" y="4609688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188439" y="0"/>
                </a:moveTo>
                <a:lnTo>
                  <a:pt x="188439" y="0"/>
                </a:lnTo>
                <a:cubicBezTo>
                  <a:pt x="292511" y="0"/>
                  <a:pt x="376878" y="84367"/>
                  <a:pt x="376878" y="188439"/>
                </a:cubicBezTo>
                <a:lnTo>
                  <a:pt x="376878" y="188439"/>
                </a:lnTo>
                <a:cubicBezTo>
                  <a:pt x="376878" y="292511"/>
                  <a:pt x="292511" y="376878"/>
                  <a:pt x="188439" y="376878"/>
                </a:cubicBezTo>
                <a:lnTo>
                  <a:pt x="188439" y="376878"/>
                </a:lnTo>
                <a:cubicBezTo>
                  <a:pt x="84367" y="376878"/>
                  <a:pt x="0" y="292511"/>
                  <a:pt x="0" y="188439"/>
                </a:cubicBezTo>
                <a:lnTo>
                  <a:pt x="0" y="188439"/>
                </a:lnTo>
                <a:cubicBezTo>
                  <a:pt x="0" y="84367"/>
                  <a:pt x="84367" y="0"/>
                  <a:pt x="188439" y="0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1" name="Text 38"/>
          <p:cNvSpPr/>
          <p:nvPr/>
        </p:nvSpPr>
        <p:spPr>
          <a:xfrm>
            <a:off x="8163823" y="4609688"/>
            <a:ext cx="452253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3</a:t>
            </a:r>
            <a:endParaRPr lang="en-US" sz="1600" dirty="0">
              <a:latin typeface="+mn-ea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8653764" y="4666219"/>
            <a:ext cx="1309651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C3E50"/>
                </a:solidFill>
                <a:latin typeface="+mn-ea"/>
                <a:cs typeface="MiSans" pitchFamily="34" charset="-120"/>
              </a:rPr>
              <a:t>N/S与J/P信号弱</a:t>
            </a:r>
            <a:endParaRPr lang="en-US" sz="1600" dirty="0">
              <a:latin typeface="+mn-ea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8201511" y="5099629"/>
            <a:ext cx="333536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N/S：</a:t>
            </a: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偏向"信息抽象层级"，与情绪标签边界绑定弱</a:t>
            </a:r>
            <a:endParaRPr lang="en-US" sz="1600" dirty="0">
              <a:latin typeface="+mn-ea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201511" y="5363444"/>
            <a:ext cx="3335369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J/P：</a:t>
            </a:r>
            <a:r>
              <a:rPr lang="en-US" sz="1039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偏向"输出组织方式"，Accuracy/F1难以捕捉主要差异</a:t>
            </a:r>
            <a:endParaRPr lang="en-US" sz="1600" dirty="0">
              <a:latin typeface="+mn-ea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70028" y="6244396"/>
            <a:ext cx="11051944" cy="423988"/>
          </a:xfrm>
          <a:custGeom>
            <a:avLst/>
            <a:gdLst/>
            <a:ahLst/>
            <a:cxnLst/>
            <a:rect l="l" t="t" r="r" b="b"/>
            <a:pathLst>
              <a:path w="11051944" h="423988">
                <a:moveTo>
                  <a:pt x="75377" y="0"/>
                </a:moveTo>
                <a:lnTo>
                  <a:pt x="10976568" y="0"/>
                </a:lnTo>
                <a:cubicBezTo>
                  <a:pt x="11018197" y="0"/>
                  <a:pt x="11051944" y="33747"/>
                  <a:pt x="11051944" y="75377"/>
                </a:cubicBezTo>
                <a:lnTo>
                  <a:pt x="11051944" y="348611"/>
                </a:lnTo>
                <a:cubicBezTo>
                  <a:pt x="11051944" y="390240"/>
                  <a:pt x="11018197" y="423988"/>
                  <a:pt x="10976568" y="423988"/>
                </a:cubicBezTo>
                <a:lnTo>
                  <a:pt x="75377" y="423988"/>
                </a:lnTo>
                <a:cubicBezTo>
                  <a:pt x="33775" y="423988"/>
                  <a:pt x="0" y="390213"/>
                  <a:pt x="0" y="348611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rgbClr val="F8F9FA"/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6646" y="6390436"/>
            <a:ext cx="131907" cy="131907"/>
          </a:xfrm>
          <a:custGeom>
            <a:avLst/>
            <a:gdLst/>
            <a:ahLst/>
            <a:cxnLst/>
            <a:rect l="l" t="t" r="r" b="b"/>
            <a:pathLst>
              <a:path w="131907" h="131907">
                <a:moveTo>
                  <a:pt x="65954" y="131907"/>
                </a:moveTo>
                <a:cubicBezTo>
                  <a:pt x="102354" y="131907"/>
                  <a:pt x="131907" y="102354"/>
                  <a:pt x="131907" y="65954"/>
                </a:cubicBezTo>
                <a:cubicBezTo>
                  <a:pt x="131907" y="29553"/>
                  <a:pt x="102354" y="0"/>
                  <a:pt x="65954" y="0"/>
                </a:cubicBezTo>
                <a:cubicBezTo>
                  <a:pt x="29553" y="0"/>
                  <a:pt x="0" y="29553"/>
                  <a:pt x="0" y="65954"/>
                </a:cubicBezTo>
                <a:cubicBezTo>
                  <a:pt x="0" y="102354"/>
                  <a:pt x="29553" y="131907"/>
                  <a:pt x="65954" y="131907"/>
                </a:cubicBezTo>
                <a:close/>
                <a:moveTo>
                  <a:pt x="57709" y="41221"/>
                </a:moveTo>
                <a:cubicBezTo>
                  <a:pt x="57709" y="36671"/>
                  <a:pt x="61404" y="32977"/>
                  <a:pt x="65954" y="32977"/>
                </a:cubicBezTo>
                <a:cubicBezTo>
                  <a:pt x="70504" y="32977"/>
                  <a:pt x="74198" y="36671"/>
                  <a:pt x="74198" y="41221"/>
                </a:cubicBezTo>
                <a:cubicBezTo>
                  <a:pt x="74198" y="45771"/>
                  <a:pt x="70504" y="49465"/>
                  <a:pt x="65954" y="49465"/>
                </a:cubicBezTo>
                <a:cubicBezTo>
                  <a:pt x="61404" y="49465"/>
                  <a:pt x="57709" y="45771"/>
                  <a:pt x="57709" y="41221"/>
                </a:cubicBezTo>
                <a:close/>
                <a:moveTo>
                  <a:pt x="55648" y="57709"/>
                </a:moveTo>
                <a:lnTo>
                  <a:pt x="68015" y="57709"/>
                </a:lnTo>
                <a:cubicBezTo>
                  <a:pt x="71441" y="57709"/>
                  <a:pt x="74198" y="60466"/>
                  <a:pt x="74198" y="63893"/>
                </a:cubicBezTo>
                <a:lnTo>
                  <a:pt x="74198" y="86564"/>
                </a:lnTo>
                <a:lnTo>
                  <a:pt x="76259" y="86564"/>
                </a:lnTo>
                <a:cubicBezTo>
                  <a:pt x="79685" y="86564"/>
                  <a:pt x="82442" y="89321"/>
                  <a:pt x="82442" y="92747"/>
                </a:cubicBezTo>
                <a:cubicBezTo>
                  <a:pt x="82442" y="96174"/>
                  <a:pt x="79685" y="98930"/>
                  <a:pt x="76259" y="98930"/>
                </a:cubicBezTo>
                <a:lnTo>
                  <a:pt x="55648" y="98930"/>
                </a:lnTo>
                <a:cubicBezTo>
                  <a:pt x="52222" y="98930"/>
                  <a:pt x="49465" y="96174"/>
                  <a:pt x="49465" y="92747"/>
                </a:cubicBezTo>
                <a:cubicBezTo>
                  <a:pt x="49465" y="89321"/>
                  <a:pt x="52222" y="86564"/>
                  <a:pt x="55648" y="86564"/>
                </a:cubicBezTo>
                <a:lnTo>
                  <a:pt x="61832" y="86564"/>
                </a:lnTo>
                <a:lnTo>
                  <a:pt x="61832" y="70076"/>
                </a:lnTo>
                <a:lnTo>
                  <a:pt x="55648" y="70076"/>
                </a:lnTo>
                <a:cubicBezTo>
                  <a:pt x="52222" y="70076"/>
                  <a:pt x="49465" y="67319"/>
                  <a:pt x="49465" y="63893"/>
                </a:cubicBezTo>
                <a:cubicBezTo>
                  <a:pt x="49465" y="60466"/>
                  <a:pt x="52222" y="57709"/>
                  <a:pt x="55648" y="57709"/>
                </a:cubicBez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47" name="Text 44"/>
          <p:cNvSpPr/>
          <p:nvPr/>
        </p:nvSpPr>
        <p:spPr>
          <a:xfrm>
            <a:off x="885357" y="6362170"/>
            <a:ext cx="1068479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 err="1">
                <a:solidFill>
                  <a:srgbClr val="5D6D7E"/>
                </a:solidFill>
                <a:latin typeface="+mn-ea"/>
                <a:cs typeface="Noto Sans SC" pitchFamily="34" charset="-120"/>
              </a:rPr>
              <a:t>上述解释是基于MBTI维度含义的</a:t>
            </a:r>
            <a:r>
              <a:rPr lang="zh-CN" altLang="en-US" sz="1039" b="1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初步</a:t>
            </a:r>
            <a:r>
              <a:rPr lang="en-US" sz="1039" b="1" dirty="0" err="1">
                <a:solidFill>
                  <a:srgbClr val="5D6D7E"/>
                </a:solidFill>
                <a:latin typeface="+mn-ea"/>
                <a:cs typeface="Noto Sans SC" pitchFamily="34" charset="-120"/>
              </a:rPr>
              <a:t>解释</a:t>
            </a:r>
            <a:r>
              <a:rPr lang="zh-CN" altLang="en-US" sz="1039" b="1" dirty="0">
                <a:solidFill>
                  <a:srgbClr val="5D6D7E"/>
                </a:solidFill>
                <a:latin typeface="+mn-ea"/>
                <a:cs typeface="Noto Sans SC" pitchFamily="34" charset="-120"/>
              </a:rPr>
              <a:t>，后续需要进一步实验验证。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296" y="376296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333963" y="376296"/>
            <a:ext cx="460963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04</a:t>
            </a:r>
            <a:endParaRPr lang="en-US" sz="160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5481" y="376296"/>
            <a:ext cx="4656667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667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性格</a:t>
            </a:r>
            <a:r>
              <a:rPr lang="en-US" sz="2667" b="1" dirty="0" err="1">
                <a:solidFill>
                  <a:srgbClr val="2C3E50"/>
                </a:solidFill>
                <a:latin typeface="+mn-ea"/>
                <a:cs typeface="Noto Sans SC" pitchFamily="34" charset="-120"/>
              </a:rPr>
              <a:t>应用</a:t>
            </a:r>
            <a:endParaRPr lang="en-US" sz="1600" dirty="0">
              <a:latin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5481" y="827852"/>
            <a:ext cx="752593" cy="37630"/>
          </a:xfrm>
          <a:custGeom>
            <a:avLst/>
            <a:gdLst/>
            <a:ahLst/>
            <a:cxnLst/>
            <a:rect l="l" t="t" r="r" b="b"/>
            <a:pathLst>
              <a:path w="752593" h="37630">
                <a:moveTo>
                  <a:pt x="0" y="0"/>
                </a:moveTo>
                <a:lnTo>
                  <a:pt x="752593" y="0"/>
                </a:lnTo>
                <a:lnTo>
                  <a:pt x="752593" y="37630"/>
                </a:lnTo>
                <a:lnTo>
                  <a:pt x="0" y="37630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0" name="Shape 8"/>
          <p:cNvSpPr/>
          <p:nvPr/>
        </p:nvSpPr>
        <p:spPr>
          <a:xfrm>
            <a:off x="333963" y="1529879"/>
            <a:ext cx="11439407" cy="3798241"/>
          </a:xfrm>
          <a:custGeom>
            <a:avLst/>
            <a:gdLst/>
            <a:ahLst/>
            <a:cxnLst/>
            <a:rect l="l" t="t" r="r" b="b"/>
            <a:pathLst>
              <a:path w="11439407" h="3330222">
                <a:moveTo>
                  <a:pt x="112895" y="0"/>
                </a:moveTo>
                <a:lnTo>
                  <a:pt x="11326513" y="0"/>
                </a:lnTo>
                <a:cubicBezTo>
                  <a:pt x="11388863" y="0"/>
                  <a:pt x="11439407" y="50545"/>
                  <a:pt x="11439407" y="112895"/>
                </a:cubicBezTo>
                <a:lnTo>
                  <a:pt x="11439407" y="3217328"/>
                </a:lnTo>
                <a:cubicBezTo>
                  <a:pt x="11439407" y="3279678"/>
                  <a:pt x="11388863" y="3330222"/>
                  <a:pt x="11326513" y="3330222"/>
                </a:cubicBezTo>
                <a:lnTo>
                  <a:pt x="112895" y="3330222"/>
                </a:lnTo>
                <a:cubicBezTo>
                  <a:pt x="50545" y="3330222"/>
                  <a:pt x="0" y="3279678"/>
                  <a:pt x="0" y="3217328"/>
                </a:cubicBezTo>
                <a:lnTo>
                  <a:pt x="0" y="112895"/>
                </a:lnTo>
                <a:cubicBezTo>
                  <a:pt x="0" y="50545"/>
                  <a:pt x="50545" y="0"/>
                  <a:pt x="1128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444" dist="376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389" y="1755658"/>
            <a:ext cx="164630" cy="188148"/>
          </a:xfrm>
          <a:custGeom>
            <a:avLst/>
            <a:gdLst/>
            <a:ahLst/>
            <a:cxnLst/>
            <a:rect l="l" t="t" r="r" b="b"/>
            <a:pathLst>
              <a:path w="164630" h="188148">
                <a:moveTo>
                  <a:pt x="94074" y="58796"/>
                </a:moveTo>
                <a:lnTo>
                  <a:pt x="94074" y="94074"/>
                </a:lnTo>
                <a:lnTo>
                  <a:pt x="141111" y="94074"/>
                </a:lnTo>
                <a:lnTo>
                  <a:pt x="141111" y="58796"/>
                </a:lnTo>
                <a:lnTo>
                  <a:pt x="94074" y="58796"/>
                </a:lnTo>
                <a:close/>
                <a:moveTo>
                  <a:pt x="70556" y="58796"/>
                </a:moveTo>
                <a:lnTo>
                  <a:pt x="23519" y="58796"/>
                </a:lnTo>
                <a:lnTo>
                  <a:pt x="23519" y="94074"/>
                </a:lnTo>
                <a:lnTo>
                  <a:pt x="70556" y="94074"/>
                </a:lnTo>
                <a:lnTo>
                  <a:pt x="70556" y="58796"/>
                </a:lnTo>
                <a:close/>
                <a:moveTo>
                  <a:pt x="0" y="117593"/>
                </a:moveTo>
                <a:lnTo>
                  <a:pt x="0" y="35278"/>
                </a:lnTo>
                <a:cubicBezTo>
                  <a:pt x="0" y="22306"/>
                  <a:pt x="10547" y="11759"/>
                  <a:pt x="23519" y="11759"/>
                </a:cubicBezTo>
                <a:lnTo>
                  <a:pt x="141111" y="11759"/>
                </a:lnTo>
                <a:cubicBezTo>
                  <a:pt x="154083" y="11759"/>
                  <a:pt x="164630" y="22306"/>
                  <a:pt x="164630" y="35278"/>
                </a:cubicBezTo>
                <a:lnTo>
                  <a:pt x="164630" y="152870"/>
                </a:lnTo>
                <a:cubicBezTo>
                  <a:pt x="164630" y="165842"/>
                  <a:pt x="154083" y="176389"/>
                  <a:pt x="141111" y="176389"/>
                </a:cubicBezTo>
                <a:lnTo>
                  <a:pt x="23519" y="176389"/>
                </a:lnTo>
                <a:cubicBezTo>
                  <a:pt x="10547" y="176389"/>
                  <a:pt x="0" y="165842"/>
                  <a:pt x="0" y="152870"/>
                </a:cubicBezTo>
                <a:lnTo>
                  <a:pt x="0" y="117593"/>
                </a:lnTo>
                <a:close/>
                <a:moveTo>
                  <a:pt x="141111" y="117593"/>
                </a:moveTo>
                <a:lnTo>
                  <a:pt x="94074" y="117593"/>
                </a:lnTo>
                <a:lnTo>
                  <a:pt x="94074" y="152870"/>
                </a:lnTo>
                <a:lnTo>
                  <a:pt x="141111" y="152870"/>
                </a:lnTo>
                <a:lnTo>
                  <a:pt x="141111" y="117593"/>
                </a:lnTo>
                <a:close/>
                <a:moveTo>
                  <a:pt x="70556" y="152870"/>
                </a:moveTo>
                <a:lnTo>
                  <a:pt x="70556" y="117593"/>
                </a:lnTo>
                <a:lnTo>
                  <a:pt x="23519" y="117593"/>
                </a:lnTo>
                <a:lnTo>
                  <a:pt x="23519" y="152870"/>
                </a:lnTo>
                <a:lnTo>
                  <a:pt x="70556" y="15287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870186" y="1718029"/>
            <a:ext cx="3743371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 err="1">
                <a:solidFill>
                  <a:srgbClr val="2C3E50"/>
                </a:solidFill>
                <a:latin typeface="+mn-ea"/>
                <a:cs typeface="Noto Sans SC" pitchFamily="34" charset="-120"/>
              </a:rPr>
              <a:t>任务-性格映射表</a:t>
            </a:r>
            <a:r>
              <a:rPr lang="zh-CN" altLang="en-US" sz="1481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（</a:t>
            </a:r>
            <a:r>
              <a:rPr lang="zh-CN" altLang="en-US" sz="1481" b="1" dirty="0">
                <a:solidFill>
                  <a:srgbClr val="FF0000"/>
                </a:solidFill>
                <a:latin typeface="+mn-ea"/>
                <a:cs typeface="Noto Sans SC" pitchFamily="34" charset="-120"/>
              </a:rPr>
              <a:t>模拟</a:t>
            </a:r>
            <a:r>
              <a:rPr lang="zh-CN" altLang="en-US" sz="1481" b="1" dirty="0">
                <a:solidFill>
                  <a:srgbClr val="2C3E50"/>
                </a:solidFill>
                <a:latin typeface="+mn-ea"/>
                <a:cs typeface="Noto Sans SC" pitchFamily="34" charset="-120"/>
              </a:rPr>
              <a:t>）</a:t>
            </a:r>
            <a:endParaRPr lang="en-US" sz="1600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6815" y="2136658"/>
            <a:ext cx="11053704" cy="2530593"/>
          </a:xfrm>
          <a:custGeom>
            <a:avLst/>
            <a:gdLst/>
            <a:ahLst/>
            <a:cxnLst/>
            <a:rect l="l" t="t" r="r" b="b"/>
            <a:pathLst>
              <a:path w="11053704" h="2530593">
                <a:moveTo>
                  <a:pt x="75260" y="0"/>
                </a:moveTo>
                <a:lnTo>
                  <a:pt x="10978444" y="0"/>
                </a:lnTo>
                <a:cubicBezTo>
                  <a:pt x="11020009" y="0"/>
                  <a:pt x="11053704" y="33695"/>
                  <a:pt x="11053704" y="75260"/>
                </a:cubicBezTo>
                <a:lnTo>
                  <a:pt x="11053704" y="2455333"/>
                </a:lnTo>
                <a:cubicBezTo>
                  <a:pt x="11053704" y="2496898"/>
                  <a:pt x="11020009" y="2530593"/>
                  <a:pt x="10978444" y="2530593"/>
                </a:cubicBezTo>
                <a:lnTo>
                  <a:pt x="75260" y="2530593"/>
                </a:lnTo>
                <a:cubicBezTo>
                  <a:pt x="33695" y="2530593"/>
                  <a:pt x="0" y="2496898"/>
                  <a:pt x="0" y="2455333"/>
                </a:cubicBezTo>
                <a:lnTo>
                  <a:pt x="0" y="75260"/>
                </a:lnTo>
                <a:cubicBezTo>
                  <a:pt x="0" y="33695"/>
                  <a:pt x="33695" y="0"/>
                  <a:pt x="7526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D6D7E">
                <a:alpha val="20000"/>
              </a:srgbClr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936627"/>
              </p:ext>
            </p:extLst>
          </p:nvPr>
        </p:nvGraphicFramePr>
        <p:xfrm>
          <a:off x="531519" y="2141361"/>
          <a:ext cx="11044296" cy="2960982"/>
        </p:xfrm>
        <a:graphic>
          <a:graphicData uri="http://schemas.openxmlformats.org/drawingml/2006/table">
            <a:tbl>
              <a:tblPr/>
              <a:tblGrid>
                <a:gridCol w="367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0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497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任务特征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推荐偏好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原因说明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49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情绪/态度强、主观性强、需要抓语气与立场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decision: 偏F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5D6D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更关注价值与感受线索，可能更贴近情绪判别信号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49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状态识别/风险敏感、需要一致性与规则化判断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decision: 偏T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5D6D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更强调逻辑一致性与规则，可能减少摇摆与漂移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49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需要结构化、可审计输出（步骤/格式/约束多）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execution: 偏J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5D6D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更偏计划与结构（建议用行为指标一起看）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49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需要开放探索、多方案发散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execution: 偏P + information: 偏N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5D6D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更偏灵活与抽象联想（建议用生成质量指标一起看）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49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需要"事实细节"与严格对齐输入证据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C3E5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information: 偏S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5D6D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更偏细节与当下信息（建议用事实一致性指标一起看）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2889" marR="112889" marT="112889" marB="1128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2428875" cy="2428875"/>
          </a:xfrm>
          <a:custGeom>
            <a:avLst/>
            <a:gdLst/>
            <a:ahLst/>
            <a:cxnLst/>
            <a:rect l="l" t="t" r="r" b="b"/>
            <a:pathLst>
              <a:path w="2428875" h="2428875">
                <a:moveTo>
                  <a:pt x="1214438" y="0"/>
                </a:moveTo>
                <a:lnTo>
                  <a:pt x="1214438" y="0"/>
                </a:lnTo>
                <a:cubicBezTo>
                  <a:pt x="1884704" y="0"/>
                  <a:pt x="2428875" y="544171"/>
                  <a:pt x="2428875" y="1214438"/>
                </a:cubicBezTo>
                <a:lnTo>
                  <a:pt x="2428875" y="1214438"/>
                </a:lnTo>
                <a:cubicBezTo>
                  <a:pt x="2428875" y="1884704"/>
                  <a:pt x="1884704" y="2428875"/>
                  <a:pt x="1214438" y="2428875"/>
                </a:cubicBezTo>
                <a:lnTo>
                  <a:pt x="1214438" y="2428875"/>
                </a:lnTo>
                <a:cubicBezTo>
                  <a:pt x="544171" y="2428875"/>
                  <a:pt x="0" y="1884704"/>
                  <a:pt x="0" y="1214438"/>
                </a:cubicBezTo>
                <a:lnTo>
                  <a:pt x="0" y="1214438"/>
                </a:lnTo>
                <a:cubicBezTo>
                  <a:pt x="0" y="544171"/>
                  <a:pt x="544171" y="0"/>
                  <a:pt x="121443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86963" y="4652963"/>
            <a:ext cx="1819275" cy="1819275"/>
          </a:xfrm>
          <a:custGeom>
            <a:avLst/>
            <a:gdLst/>
            <a:ahLst/>
            <a:cxnLst/>
            <a:rect l="l" t="t" r="r" b="b"/>
            <a:pathLst>
              <a:path w="1819275" h="1819275">
                <a:moveTo>
                  <a:pt x="909638" y="0"/>
                </a:moveTo>
                <a:lnTo>
                  <a:pt x="909638" y="0"/>
                </a:lnTo>
                <a:cubicBezTo>
                  <a:pt x="1411680" y="0"/>
                  <a:pt x="1819275" y="407595"/>
                  <a:pt x="1819275" y="909638"/>
                </a:cubicBezTo>
                <a:lnTo>
                  <a:pt x="1819275" y="909638"/>
                </a:lnTo>
                <a:cubicBezTo>
                  <a:pt x="1819275" y="1411680"/>
                  <a:pt x="1411680" y="1819275"/>
                  <a:pt x="909638" y="1819275"/>
                </a:cubicBezTo>
                <a:lnTo>
                  <a:pt x="909638" y="1819275"/>
                </a:lnTo>
                <a:cubicBezTo>
                  <a:pt x="407595" y="1819275"/>
                  <a:pt x="0" y="1411680"/>
                  <a:pt x="0" y="909638"/>
                </a:cubicBezTo>
                <a:lnTo>
                  <a:pt x="0" y="909638"/>
                </a:lnTo>
                <a:cubicBezTo>
                  <a:pt x="0" y="407595"/>
                  <a:pt x="407595" y="0"/>
                  <a:pt x="90963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29563" y="2290763"/>
            <a:ext cx="1209675" cy="1209675"/>
          </a:xfrm>
          <a:custGeom>
            <a:avLst/>
            <a:gdLst/>
            <a:ahLst/>
            <a:cxnLst/>
            <a:rect l="l" t="t" r="r" b="b"/>
            <a:pathLst>
              <a:path w="1209675" h="1209675">
                <a:moveTo>
                  <a:pt x="604838" y="0"/>
                </a:moveTo>
                <a:lnTo>
                  <a:pt x="604838" y="0"/>
                </a:lnTo>
                <a:cubicBezTo>
                  <a:pt x="938656" y="0"/>
                  <a:pt x="1209675" y="271019"/>
                  <a:pt x="1209675" y="604838"/>
                </a:cubicBezTo>
                <a:lnTo>
                  <a:pt x="1209675" y="604838"/>
                </a:lnTo>
                <a:cubicBezTo>
                  <a:pt x="1209675" y="938656"/>
                  <a:pt x="938656" y="1209675"/>
                  <a:pt x="604838" y="1209675"/>
                </a:cubicBezTo>
                <a:lnTo>
                  <a:pt x="604838" y="1209675"/>
                </a:lnTo>
                <a:cubicBezTo>
                  <a:pt x="271019" y="1209675"/>
                  <a:pt x="0" y="938656"/>
                  <a:pt x="0" y="604838"/>
                </a:cubicBezTo>
                <a:lnTo>
                  <a:pt x="0" y="604838"/>
                </a:lnTo>
                <a:cubicBezTo>
                  <a:pt x="0" y="271019"/>
                  <a:pt x="271019" y="0"/>
                  <a:pt x="60483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338138" y="3810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05</a:t>
            </a:r>
            <a:endParaRPr lang="en-US" sz="160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6300" y="381000"/>
            <a:ext cx="1571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研究结论</a:t>
            </a:r>
            <a:endParaRPr lang="en-US" sz="16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1000" y="876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9" name="Shape 7"/>
          <p:cNvSpPr/>
          <p:nvPr/>
        </p:nvSpPr>
        <p:spPr>
          <a:xfrm>
            <a:off x="385763" y="1147763"/>
            <a:ext cx="5610225" cy="1781175"/>
          </a:xfrm>
          <a:custGeom>
            <a:avLst/>
            <a:gdLst/>
            <a:ahLst/>
            <a:cxnLst/>
            <a:rect l="l" t="t" r="r" b="b"/>
            <a:pathLst>
              <a:path w="5610225" h="178117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666877"/>
                </a:lnTo>
                <a:cubicBezTo>
                  <a:pt x="5610225" y="1729960"/>
                  <a:pt x="5559010" y="1781175"/>
                  <a:pt x="5495927" y="1781175"/>
                </a:cubicBezTo>
                <a:lnTo>
                  <a:pt x="114298" y="1781175"/>
                </a:lnTo>
                <a:cubicBezTo>
                  <a:pt x="51215" y="1781175"/>
                  <a:pt x="0" y="1729960"/>
                  <a:pt x="0" y="16668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125" y="1381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561975" y="13811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1</a:t>
            </a:r>
            <a:endParaRPr lang="en-US" sz="160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04925" y="138112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可控性成立</a:t>
            </a:r>
            <a:endParaRPr lang="en-US" sz="16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04925" y="1762125"/>
            <a:ext cx="4533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F0F1">
                    <a:alpha val="80000"/>
                  </a:srgbClr>
                </a:solidFill>
                <a:latin typeface="+mn-ea"/>
                <a:cs typeface="Noto Sans SC" pitchFamily="34" charset="-120"/>
              </a:rPr>
              <a:t>MBTI维度信号能驱动输出分布产生</a:t>
            </a:r>
            <a:r>
              <a:rPr lang="en-US" sz="1200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系统性偏移</a:t>
            </a:r>
            <a:r>
              <a:rPr lang="en-US" sz="1200" dirty="0">
                <a:solidFill>
                  <a:srgbClr val="ECF0F1">
                    <a:alpha val="80000"/>
                  </a:srgbClr>
                </a:solidFill>
                <a:latin typeface="+mn-ea"/>
                <a:cs typeface="Noto Sans SC" pitchFamily="34" charset="-120"/>
              </a:rPr>
              <a:t>，且常表现为</a:t>
            </a:r>
            <a:r>
              <a:rPr lang="en-US" sz="1200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两极化偏移</a:t>
            </a:r>
            <a:endParaRPr lang="en-US" sz="16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96013" y="1147763"/>
            <a:ext cx="5610225" cy="1781175"/>
          </a:xfrm>
          <a:custGeom>
            <a:avLst/>
            <a:gdLst/>
            <a:ahLst/>
            <a:cxnLst/>
            <a:rect l="l" t="t" r="r" b="b"/>
            <a:pathLst>
              <a:path w="5610225" h="178117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666877"/>
                </a:lnTo>
                <a:cubicBezTo>
                  <a:pt x="5610225" y="1729960"/>
                  <a:pt x="5559010" y="1781175"/>
                  <a:pt x="5495927" y="1781175"/>
                </a:cubicBezTo>
                <a:lnTo>
                  <a:pt x="114298" y="1781175"/>
                </a:lnTo>
                <a:cubicBezTo>
                  <a:pt x="51215" y="1781175"/>
                  <a:pt x="0" y="1729960"/>
                  <a:pt x="0" y="16668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9375" y="1381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6372225" y="13811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2</a:t>
            </a:r>
            <a:endParaRPr lang="en-US" sz="160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15175" y="138112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最可靠维度：decision (F/T)</a:t>
            </a:r>
            <a:endParaRPr lang="en-US" sz="160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15175" y="1762125"/>
            <a:ext cx="4533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F0F1">
                    <a:alpha val="80000"/>
                  </a:srgbClr>
                </a:solidFill>
                <a:latin typeface="+mn-ea"/>
                <a:cs typeface="Noto Sans SC" pitchFamily="34" charset="-120"/>
              </a:rPr>
              <a:t>两极化偏移最稳定（94.4%）、同领域方向最一致（100%）、最容易转化为</a:t>
            </a:r>
            <a:r>
              <a:rPr lang="en-US" sz="1200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可解释的领域性能差异</a:t>
            </a:r>
            <a:endParaRPr lang="en-US" sz="1600" dirty="0">
              <a:latin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5763" y="3128963"/>
            <a:ext cx="5610225" cy="1781175"/>
          </a:xfrm>
          <a:custGeom>
            <a:avLst/>
            <a:gdLst/>
            <a:ahLst/>
            <a:cxnLst/>
            <a:rect l="l" t="t" r="r" b="b"/>
            <a:pathLst>
              <a:path w="5610225" h="178117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666877"/>
                </a:lnTo>
                <a:cubicBezTo>
                  <a:pt x="5610225" y="1729960"/>
                  <a:pt x="5559010" y="1781175"/>
                  <a:pt x="5495927" y="1781175"/>
                </a:cubicBezTo>
                <a:lnTo>
                  <a:pt x="114298" y="1781175"/>
                </a:lnTo>
                <a:cubicBezTo>
                  <a:pt x="51215" y="1781175"/>
                  <a:pt x="0" y="1729960"/>
                  <a:pt x="0" y="16668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125" y="3362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561975" y="33623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3</a:t>
            </a:r>
            <a:endParaRPr lang="en-US" sz="1600" dirty="0">
              <a:latin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04925" y="336232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大</a:t>
            </a:r>
            <a:r>
              <a:rPr lang="zh-CN" altLang="en-US" sz="1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参数量</a:t>
            </a:r>
            <a:r>
              <a:rPr lang="en-US" sz="1500" b="1" dirty="0" err="1">
                <a:solidFill>
                  <a:srgbClr val="ECF0F1"/>
                </a:solidFill>
                <a:latin typeface="+mn-ea"/>
                <a:cs typeface="Noto Sans SC" pitchFamily="34" charset="-120"/>
              </a:rPr>
              <a:t>模型更稳定</a:t>
            </a:r>
            <a:endParaRPr lang="en-US" sz="1600" dirty="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04925" y="3743325"/>
            <a:ext cx="4533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F0F1">
                    <a:alpha val="80000"/>
                  </a:srgbClr>
                </a:solidFill>
                <a:latin typeface="+mn-ea"/>
                <a:cs typeface="Noto Sans SC" pitchFamily="34" charset="-120"/>
              </a:rPr>
              <a:t>在qwen系列中，</a:t>
            </a:r>
            <a:r>
              <a:rPr lang="en-US" sz="1200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7B的偏移幅度系统性小于3B</a:t>
            </a:r>
            <a:r>
              <a:rPr lang="en-US" sz="1200" dirty="0">
                <a:solidFill>
                  <a:srgbClr val="ECF0F1">
                    <a:alpha val="80000"/>
                  </a:srgbClr>
                </a:solidFill>
                <a:latin typeface="+mn-ea"/>
                <a:cs typeface="Noto Sans SC" pitchFamily="34" charset="-120"/>
              </a:rPr>
              <a:t>，需要更强的训练信号才能产生更大偏移</a:t>
            </a:r>
            <a:endParaRPr lang="en-US" sz="1600" dirty="0">
              <a:latin typeface="+mn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96013" y="3128963"/>
            <a:ext cx="5610225" cy="1781175"/>
          </a:xfrm>
          <a:custGeom>
            <a:avLst/>
            <a:gdLst/>
            <a:ahLst/>
            <a:cxnLst/>
            <a:rect l="l" t="t" r="r" b="b"/>
            <a:pathLst>
              <a:path w="5610225" h="178117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666877"/>
                </a:lnTo>
                <a:cubicBezTo>
                  <a:pt x="5610225" y="1729960"/>
                  <a:pt x="5559010" y="1781175"/>
                  <a:pt x="5495927" y="1781175"/>
                </a:cubicBezTo>
                <a:lnTo>
                  <a:pt x="114298" y="1781175"/>
                </a:lnTo>
                <a:cubicBezTo>
                  <a:pt x="51215" y="1781175"/>
                  <a:pt x="0" y="1729960"/>
                  <a:pt x="0" y="16668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9375" y="3362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6372225" y="33623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oto Sans SC" pitchFamily="34" charset="-120"/>
              </a:rPr>
              <a:t>4</a:t>
            </a:r>
            <a:endParaRPr lang="en-US" sz="16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15175" y="336232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对</a:t>
            </a:r>
            <a:r>
              <a:rPr lang="en-US" sz="1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“</a:t>
            </a:r>
            <a:r>
              <a:rPr lang="en-US" sz="1500" b="1" dirty="0" err="1">
                <a:solidFill>
                  <a:srgbClr val="ECF0F1"/>
                </a:solidFill>
                <a:latin typeface="+mn-ea"/>
                <a:cs typeface="Noto Sans SC" pitchFamily="34" charset="-120"/>
              </a:rPr>
              <a:t>偏移</a:t>
            </a:r>
            <a:r>
              <a:rPr lang="en-US" sz="1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”</a:t>
            </a:r>
            <a:r>
              <a:rPr lang="zh-CN" altLang="en-US" sz="1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进行利用</a:t>
            </a:r>
            <a:endParaRPr lang="en-US" sz="1600" dirty="0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15175" y="3743325"/>
            <a:ext cx="4533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ECF0F1">
                    <a:alpha val="80000"/>
                  </a:srgbClr>
                </a:solidFill>
                <a:latin typeface="+mn-ea"/>
                <a:cs typeface="Noto Sans SC" pitchFamily="34" charset="-120"/>
              </a:rPr>
              <a:t>考察性能指标</a:t>
            </a:r>
            <a:r>
              <a:rPr lang="en-US" sz="1200" dirty="0">
                <a:solidFill>
                  <a:srgbClr val="ECF0F1">
                    <a:alpha val="80000"/>
                  </a:srgbClr>
                </a:solidFill>
                <a:latin typeface="+mn-ea"/>
                <a:cs typeface="Noto Sans SC" pitchFamily="34" charset="-120"/>
              </a:rPr>
              <a:t>；</a:t>
            </a:r>
            <a:r>
              <a:rPr lang="zh-CN" altLang="en-US" sz="1200" dirty="0">
                <a:solidFill>
                  <a:srgbClr val="ECF0F1">
                    <a:alpha val="80000"/>
                  </a:srgbClr>
                </a:solidFill>
                <a:latin typeface="+mn-ea"/>
                <a:cs typeface="Noto Sans SC" pitchFamily="34" charset="-120"/>
              </a:rPr>
              <a:t>寻找性能提升和性格之间的对应关系</a:t>
            </a:r>
            <a:endParaRPr lang="en-US" sz="1600" dirty="0">
              <a:latin typeface="+mn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85763" y="5110163"/>
            <a:ext cx="11420475" cy="981075"/>
          </a:xfrm>
          <a:custGeom>
            <a:avLst/>
            <a:gdLst/>
            <a:ahLst/>
            <a:cxnLst/>
            <a:rect l="l" t="t" r="r" b="b"/>
            <a:pathLst>
              <a:path w="11420475" h="981075">
                <a:moveTo>
                  <a:pt x="114295" y="0"/>
                </a:moveTo>
                <a:lnTo>
                  <a:pt x="11306180" y="0"/>
                </a:lnTo>
                <a:cubicBezTo>
                  <a:pt x="11369303" y="0"/>
                  <a:pt x="11420475" y="51172"/>
                  <a:pt x="11420475" y="114295"/>
                </a:cubicBezTo>
                <a:lnTo>
                  <a:pt x="11420475" y="866780"/>
                </a:lnTo>
                <a:cubicBezTo>
                  <a:pt x="11420475" y="929903"/>
                  <a:pt x="11369303" y="981075"/>
                  <a:pt x="11306180" y="981075"/>
                </a:cubicBezTo>
                <a:lnTo>
                  <a:pt x="114295" y="981075"/>
                </a:lnTo>
                <a:cubicBezTo>
                  <a:pt x="51172" y="981075"/>
                  <a:pt x="0" y="929903"/>
                  <a:pt x="0" y="86678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E74C3C">
              <a:alpha val="20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1266" y="54578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1090613" y="5305425"/>
            <a:ext cx="1062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F0F1"/>
                </a:solidFill>
                <a:latin typeface="+mn-ea"/>
                <a:cs typeface="Noto Sans SC" pitchFamily="34" charset="-120"/>
              </a:rPr>
              <a:t>研究意义</a:t>
            </a:r>
            <a:endParaRPr lang="en-US" sz="1600" dirty="0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90613" y="5648325"/>
            <a:ext cx="10601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F0F1">
                    <a:alpha val="90000"/>
                  </a:srgbClr>
                </a:solidFill>
                <a:latin typeface="+mn-ea"/>
                <a:cs typeface="Noto Sans SC" pitchFamily="34" charset="-120"/>
              </a:rPr>
              <a:t>本研究为基于性格偏好微调的大模型应用提供了</a:t>
            </a:r>
            <a:r>
              <a:rPr lang="en-US" sz="1200" b="1" dirty="0">
                <a:solidFill>
                  <a:srgbClr val="E74C3C"/>
                </a:solidFill>
                <a:latin typeface="+mn-ea"/>
                <a:cs typeface="Noto Sans SC" pitchFamily="34" charset="-120"/>
              </a:rPr>
              <a:t>可操作的选型框架</a:t>
            </a:r>
            <a:r>
              <a:rPr lang="en-US" sz="1200" dirty="0">
                <a:solidFill>
                  <a:srgbClr val="ECF0F1">
                    <a:alpha val="90000"/>
                  </a:srgbClr>
                </a:solidFill>
                <a:latin typeface="+mn-ea"/>
                <a:cs typeface="Noto Sans SC" pitchFamily="34" charset="-120"/>
              </a:rPr>
              <a:t>，验证了MBTI维度信号在情绪分析任务中的可控性与实用性</a:t>
            </a:r>
            <a:endParaRPr lang="en-US" sz="1600" dirty="0">
              <a:latin typeface="+mn-ea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508349" y="6315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75009" y="0"/>
                </a:moveTo>
                <a:lnTo>
                  <a:pt x="33337" y="0"/>
                </a:lnTo>
                <a:cubicBezTo>
                  <a:pt x="28728" y="0"/>
                  <a:pt x="25003" y="3724"/>
                  <a:pt x="25003" y="8334"/>
                </a:cubicBezTo>
                <a:cubicBezTo>
                  <a:pt x="25003" y="12944"/>
                  <a:pt x="28728" y="16669"/>
                  <a:pt x="33337" y="16669"/>
                </a:cubicBezTo>
                <a:lnTo>
                  <a:pt x="33337" y="56127"/>
                </a:lnTo>
                <a:lnTo>
                  <a:pt x="1953" y="111030"/>
                </a:lnTo>
                <a:cubicBezTo>
                  <a:pt x="677" y="113295"/>
                  <a:pt x="0" y="115822"/>
                  <a:pt x="0" y="118426"/>
                </a:cubicBezTo>
                <a:cubicBezTo>
                  <a:pt x="0" y="126683"/>
                  <a:pt x="6668" y="133350"/>
                  <a:pt x="14924" y="133350"/>
                </a:cubicBezTo>
                <a:lnTo>
                  <a:pt x="101758" y="133350"/>
                </a:lnTo>
                <a:cubicBezTo>
                  <a:pt x="109988" y="133350"/>
                  <a:pt x="116681" y="126683"/>
                  <a:pt x="116681" y="118426"/>
                </a:cubicBezTo>
                <a:cubicBezTo>
                  <a:pt x="116681" y="115822"/>
                  <a:pt x="116004" y="113269"/>
                  <a:pt x="114728" y="111030"/>
                </a:cubicBezTo>
                <a:lnTo>
                  <a:pt x="83344" y="56127"/>
                </a:lnTo>
                <a:lnTo>
                  <a:pt x="83344" y="16669"/>
                </a:lnTo>
                <a:cubicBezTo>
                  <a:pt x="87954" y="16669"/>
                  <a:pt x="91678" y="12944"/>
                  <a:pt x="91678" y="8334"/>
                </a:cubicBezTo>
                <a:cubicBezTo>
                  <a:pt x="91678" y="3724"/>
                  <a:pt x="87954" y="0"/>
                  <a:pt x="83344" y="0"/>
                </a:cubicBezTo>
                <a:lnTo>
                  <a:pt x="75009" y="0"/>
                </a:lnTo>
                <a:close/>
                <a:moveTo>
                  <a:pt x="50006" y="56127"/>
                </a:moveTo>
                <a:lnTo>
                  <a:pt x="50006" y="16669"/>
                </a:lnTo>
                <a:lnTo>
                  <a:pt x="66675" y="16669"/>
                </a:lnTo>
                <a:lnTo>
                  <a:pt x="66675" y="56127"/>
                </a:lnTo>
                <a:cubicBezTo>
                  <a:pt x="66675" y="59018"/>
                  <a:pt x="67430" y="61883"/>
                  <a:pt x="68863" y="64409"/>
                </a:cubicBezTo>
                <a:lnTo>
                  <a:pt x="79697" y="83344"/>
                </a:lnTo>
                <a:lnTo>
                  <a:pt x="36984" y="83344"/>
                </a:lnTo>
                <a:lnTo>
                  <a:pt x="47818" y="64409"/>
                </a:lnTo>
                <a:cubicBezTo>
                  <a:pt x="49251" y="61883"/>
                  <a:pt x="50006" y="59044"/>
                  <a:pt x="50006" y="56127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2723852" y="628650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F0F1">
                    <a:alpha val="60000"/>
                  </a:srgbClr>
                </a:solidFill>
                <a:latin typeface="+mn-ea"/>
                <a:cs typeface="Noto Sans SC" pitchFamily="34" charset="-120"/>
              </a:rPr>
              <a:t>实验设置：3模型 × 4维度 × 6数据集</a:t>
            </a:r>
            <a:endParaRPr lang="en-US" sz="1600" dirty="0">
              <a:latin typeface="+mn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238155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6" name="Text 34"/>
          <p:cNvSpPr/>
          <p:nvPr/>
        </p:nvSpPr>
        <p:spPr>
          <a:xfrm>
            <a:off x="5461992" y="6286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F0F1">
                    <a:alpha val="60000"/>
                  </a:srgbClr>
                </a:solidFill>
                <a:latin typeface="+mn-ea"/>
                <a:cs typeface="Noto Sans SC" pitchFamily="34" charset="-120"/>
              </a:rPr>
              <a:t>显著性验证：97.2% (280/288)</a:t>
            </a:r>
            <a:endParaRPr lang="en-US" sz="1600" dirty="0">
              <a:latin typeface="+mn-ea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626102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7583" y="0"/>
                </a:moveTo>
                <a:lnTo>
                  <a:pt x="95923" y="0"/>
                </a:lnTo>
                <a:cubicBezTo>
                  <a:pt x="102825" y="0"/>
                  <a:pt x="108451" y="5678"/>
                  <a:pt x="108191" y="12554"/>
                </a:cubicBezTo>
                <a:cubicBezTo>
                  <a:pt x="108139" y="13934"/>
                  <a:pt x="108086" y="15314"/>
                  <a:pt x="108008" y="16669"/>
                </a:cubicBezTo>
                <a:lnTo>
                  <a:pt x="120927" y="16669"/>
                </a:lnTo>
                <a:cubicBezTo>
                  <a:pt x="127724" y="16669"/>
                  <a:pt x="133715" y="22294"/>
                  <a:pt x="133194" y="29639"/>
                </a:cubicBezTo>
                <a:cubicBezTo>
                  <a:pt x="131240" y="56648"/>
                  <a:pt x="117437" y="71493"/>
                  <a:pt x="102461" y="79255"/>
                </a:cubicBezTo>
                <a:cubicBezTo>
                  <a:pt x="98346" y="81390"/>
                  <a:pt x="94152" y="82979"/>
                  <a:pt x="90168" y="84151"/>
                </a:cubicBezTo>
                <a:cubicBezTo>
                  <a:pt x="84906" y="91600"/>
                  <a:pt x="79437" y="95533"/>
                  <a:pt x="75088" y="97642"/>
                </a:cubicBezTo>
                <a:lnTo>
                  <a:pt x="75088" y="116681"/>
                </a:lnTo>
                <a:lnTo>
                  <a:pt x="91756" y="116681"/>
                </a:lnTo>
                <a:cubicBezTo>
                  <a:pt x="96366" y="116681"/>
                  <a:pt x="100091" y="120406"/>
                  <a:pt x="100091" y="125016"/>
                </a:cubicBezTo>
                <a:cubicBezTo>
                  <a:pt x="100091" y="129626"/>
                  <a:pt x="96366" y="133350"/>
                  <a:pt x="91756" y="133350"/>
                </a:cubicBezTo>
                <a:lnTo>
                  <a:pt x="41750" y="133350"/>
                </a:lnTo>
                <a:cubicBezTo>
                  <a:pt x="37140" y="133350"/>
                  <a:pt x="33416" y="129626"/>
                  <a:pt x="33416" y="125016"/>
                </a:cubicBezTo>
                <a:cubicBezTo>
                  <a:pt x="33416" y="120406"/>
                  <a:pt x="37140" y="116681"/>
                  <a:pt x="41750" y="116681"/>
                </a:cubicBezTo>
                <a:lnTo>
                  <a:pt x="58419" y="116681"/>
                </a:lnTo>
                <a:lnTo>
                  <a:pt x="58419" y="97642"/>
                </a:lnTo>
                <a:cubicBezTo>
                  <a:pt x="54252" y="95637"/>
                  <a:pt x="49069" y="91913"/>
                  <a:pt x="44016" y="85063"/>
                </a:cubicBezTo>
                <a:cubicBezTo>
                  <a:pt x="39224" y="83813"/>
                  <a:pt x="34015" y="81911"/>
                  <a:pt x="28936" y="79046"/>
                </a:cubicBezTo>
                <a:cubicBezTo>
                  <a:pt x="14846" y="71155"/>
                  <a:pt x="2136" y="56283"/>
                  <a:pt x="313" y="29587"/>
                </a:cubicBezTo>
                <a:cubicBezTo>
                  <a:pt x="-182" y="22268"/>
                  <a:pt x="5782" y="16643"/>
                  <a:pt x="12580" y="16643"/>
                </a:cubicBezTo>
                <a:lnTo>
                  <a:pt x="25498" y="16643"/>
                </a:lnTo>
                <a:cubicBezTo>
                  <a:pt x="25420" y="15288"/>
                  <a:pt x="25368" y="13934"/>
                  <a:pt x="25316" y="12528"/>
                </a:cubicBezTo>
                <a:cubicBezTo>
                  <a:pt x="25055" y="5626"/>
                  <a:pt x="30681" y="-26"/>
                  <a:pt x="37583" y="-26"/>
                </a:cubicBezTo>
                <a:close/>
                <a:moveTo>
                  <a:pt x="26436" y="29170"/>
                </a:moveTo>
                <a:lnTo>
                  <a:pt x="12788" y="29170"/>
                </a:lnTo>
                <a:cubicBezTo>
                  <a:pt x="14403" y="51230"/>
                  <a:pt x="24534" y="62273"/>
                  <a:pt x="34978" y="68134"/>
                </a:cubicBezTo>
                <a:cubicBezTo>
                  <a:pt x="31228" y="58419"/>
                  <a:pt x="28129" y="45735"/>
                  <a:pt x="26436" y="29170"/>
                </a:cubicBezTo>
                <a:close/>
                <a:moveTo>
                  <a:pt x="98971" y="66883"/>
                </a:moveTo>
                <a:cubicBezTo>
                  <a:pt x="109519" y="60685"/>
                  <a:pt x="119051" y="49668"/>
                  <a:pt x="120666" y="29170"/>
                </a:cubicBezTo>
                <a:lnTo>
                  <a:pt x="107045" y="29170"/>
                </a:lnTo>
                <a:cubicBezTo>
                  <a:pt x="105430" y="45032"/>
                  <a:pt x="102513" y="57351"/>
                  <a:pt x="98971" y="66883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7849939" y="628650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F0F1">
                    <a:alpha val="60000"/>
                  </a:srgbClr>
                </a:solidFill>
                <a:latin typeface="+mn-ea"/>
                <a:cs typeface="Noto Sans SC" pitchFamily="34" charset="-120"/>
              </a:rPr>
              <a:t>核心发现：decision维度最稳定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1147</Words>
  <Application>Microsoft Office PowerPoint</Application>
  <PresentationFormat>宽屏</PresentationFormat>
  <Paragraphs>397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MiSans</vt:lpstr>
      <vt:lpstr>Noto Sans SC</vt:lpstr>
      <vt:lpstr>Arial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MBTI性格微调对情绪分析任务的影响研究</dc:title>
  <dc:subject>MBTI性格微调对情绪分析任务的影响研究</dc:subject>
  <dc:creator>Kimi</dc:creator>
  <cp:lastModifiedBy>BiaopuCloud</cp:lastModifiedBy>
  <cp:revision>7</cp:revision>
  <dcterms:created xsi:type="dcterms:W3CDTF">2026-02-11T10:18:41Z</dcterms:created>
  <dcterms:modified xsi:type="dcterms:W3CDTF">2026-02-11T10:44:26Z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BTI性格微调对情绪分析任务的影响研究","ContentProducer":"001191110108MACG2KBH8F10000","ProduceID":"19c4c1bc-3c32-81c7-8000-000092184bf8","ReservedCode1":"","ContentPropagator":"001191110108MACG2KBH8F20000","PropagateID":"19c4c1bc-3c32-81c7-8000-000092184bf8","R</vt:lpwstr>
  </property>
</Properties>
</file>