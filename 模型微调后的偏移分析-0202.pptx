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12192000"/>
  <p:embeddedFontLst>
    <p:embeddedFont>
      <p:font typeface="MiSans" panose="02010600030101010101" charset="-122"/>
      <p:regular r:id="rId19"/>
    </p:embeddedFont>
    <p:embeddedFont>
      <p:font typeface="Noto Sans SC" panose="02010600030101010101" charset="-122"/>
      <p:regular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微软雅黑" panose="020B0503020204020204" pitchFamily="34" charset="-122"/>
      <p:regular r:id="rId23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0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61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6o4dutmdlxkq/cover_bg.pn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3A5F">
                  <a:alpha val="90000"/>
                </a:srgbClr>
              </a:gs>
              <a:gs pos="50000">
                <a:srgbClr val="1E3A5F">
                  <a:alpha val="75000"/>
                </a:srgbClr>
              </a:gs>
              <a:gs pos="100000">
                <a:srgbClr val="4A90A4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600200"/>
            <a:ext cx="2181225" cy="419100"/>
          </a:xfrm>
          <a:custGeom>
            <a:avLst/>
            <a:gdLst/>
            <a:ahLst/>
            <a:cxnLst/>
            <a:rect l="l" t="t" r="r" b="b"/>
            <a:pathLst>
              <a:path w="2181225" h="419100">
                <a:moveTo>
                  <a:pt x="76201" y="0"/>
                </a:moveTo>
                <a:lnTo>
                  <a:pt x="2105024" y="0"/>
                </a:lnTo>
                <a:cubicBezTo>
                  <a:pt x="2147109" y="0"/>
                  <a:pt x="2181225" y="34116"/>
                  <a:pt x="2181225" y="76201"/>
                </a:cubicBezTo>
                <a:lnTo>
                  <a:pt x="2181225" y="342899"/>
                </a:lnTo>
                <a:cubicBezTo>
                  <a:pt x="2181225" y="384984"/>
                  <a:pt x="2147109" y="419100"/>
                  <a:pt x="21050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676400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RESEARCH REPORT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47900"/>
            <a:ext cx="4457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模型微调后的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偏移分析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191000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方向性、显著性与效应量研究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9575" y="5010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9" name="Text 6"/>
          <p:cNvSpPr/>
          <p:nvPr/>
        </p:nvSpPr>
        <p:spPr>
          <a:xfrm>
            <a:off x="781050" y="49911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系统性偏移验证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371725" y="5010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0"/>
                </a:moveTo>
                <a:cubicBezTo>
                  <a:pt x="66749" y="0"/>
                  <a:pt x="57150" y="9599"/>
                  <a:pt x="57150" y="21431"/>
                </a:cubicBezTo>
                <a:lnTo>
                  <a:pt x="57150" y="114300"/>
                </a:lnTo>
                <a:cubicBezTo>
                  <a:pt x="57150" y="126132"/>
                  <a:pt x="66749" y="135731"/>
                  <a:pt x="78581" y="135731"/>
                </a:cubicBezTo>
                <a:lnTo>
                  <a:pt x="107156" y="135731"/>
                </a:lnTo>
                <a:cubicBezTo>
                  <a:pt x="118988" y="135731"/>
                  <a:pt x="128588" y="126132"/>
                  <a:pt x="128588" y="114300"/>
                </a:cubicBezTo>
                <a:lnTo>
                  <a:pt x="128588" y="85725"/>
                </a:lnTo>
                <a:lnTo>
                  <a:pt x="142875" y="85725"/>
                </a:lnTo>
                <a:cubicBezTo>
                  <a:pt x="174441" y="85725"/>
                  <a:pt x="200025" y="111309"/>
                  <a:pt x="200025" y="142875"/>
                </a:cubicBezTo>
                <a:cubicBezTo>
                  <a:pt x="200025" y="174441"/>
                  <a:pt x="174441" y="200025"/>
                  <a:pt x="142875" y="20002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6410"/>
                  <a:pt x="222215" y="200025"/>
                  <a:pt x="214313" y="200025"/>
                </a:cubicBezTo>
                <a:lnTo>
                  <a:pt x="206767" y="200025"/>
                </a:lnTo>
                <a:cubicBezTo>
                  <a:pt x="220340" y="184845"/>
                  <a:pt x="228600" y="164842"/>
                  <a:pt x="228600" y="142875"/>
                </a:cubicBezTo>
                <a:cubicBezTo>
                  <a:pt x="228600" y="95548"/>
                  <a:pt x="190202" y="57150"/>
                  <a:pt x="142875" y="57150"/>
                </a:cubicBezTo>
                <a:lnTo>
                  <a:pt x="128588" y="57150"/>
                </a:lnTo>
                <a:lnTo>
                  <a:pt x="128588" y="21431"/>
                </a:lnTo>
                <a:cubicBezTo>
                  <a:pt x="128588" y="9599"/>
                  <a:pt x="118988" y="0"/>
                  <a:pt x="107156" y="0"/>
                </a:cubicBezTo>
                <a:lnTo>
                  <a:pt x="78581" y="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32159" y="178594"/>
                </a:lnTo>
                <a:cubicBezTo>
                  <a:pt x="138098" y="178594"/>
                  <a:pt x="142875" y="173816"/>
                  <a:pt x="142875" y="167878"/>
                </a:cubicBezTo>
                <a:cubicBezTo>
                  <a:pt x="142875" y="161940"/>
                  <a:pt x="138098" y="157163"/>
                  <a:pt x="132159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0" y="49911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统计显著性检验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05300" y="50101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0"/>
          <p:cNvSpPr/>
          <p:nvPr/>
        </p:nvSpPr>
        <p:spPr>
          <a:xfrm>
            <a:off x="4705350" y="49911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效应量分析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1314450"/>
            <a:ext cx="3609975" cy="5162550"/>
          </a:xfrm>
          <a:custGeom>
            <a:avLst/>
            <a:gdLst/>
            <a:ahLst/>
            <a:cxnLst/>
            <a:rect l="l" t="t" r="r" b="b"/>
            <a:pathLst>
              <a:path w="3609975" h="5162550">
                <a:moveTo>
                  <a:pt x="152413" y="0"/>
                </a:moveTo>
                <a:lnTo>
                  <a:pt x="3457562" y="0"/>
                </a:lnTo>
                <a:cubicBezTo>
                  <a:pt x="3541737" y="0"/>
                  <a:pt x="3609975" y="68238"/>
                  <a:pt x="3609975" y="152413"/>
                </a:cubicBezTo>
                <a:lnTo>
                  <a:pt x="3609975" y="5010137"/>
                </a:lnTo>
                <a:cubicBezTo>
                  <a:pt x="3609975" y="5094312"/>
                  <a:pt x="3541737" y="5162550"/>
                  <a:pt x="3457562" y="5162550"/>
                </a:cubicBezTo>
                <a:lnTo>
                  <a:pt x="152413" y="5162550"/>
                </a:lnTo>
                <a:cubicBezTo>
                  <a:pt x="68238" y="5162550"/>
                  <a:pt x="0" y="5094312"/>
                  <a:pt x="0" y="5010137"/>
                </a:cubicBezTo>
                <a:lnTo>
                  <a:pt x="0" y="152413"/>
                </a:lnTo>
                <a:cubicBezTo>
                  <a:pt x="0" y="68238"/>
                  <a:pt x="68238" y="0"/>
                  <a:pt x="152413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4A90A4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192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14363" y="161925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47800" y="1657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Shape 6"/>
          <p:cNvSpPr/>
          <p:nvPr/>
        </p:nvSpPr>
        <p:spPr>
          <a:xfrm>
            <a:off x="1600200" y="1809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81541"/>
                </a:moveTo>
                <a:lnTo>
                  <a:pt x="181541" y="224403"/>
                </a:lnTo>
                <a:cubicBezTo>
                  <a:pt x="177433" y="228511"/>
                  <a:pt x="171316" y="229716"/>
                  <a:pt x="165958" y="227484"/>
                </a:cubicBezTo>
                <a:cubicBezTo>
                  <a:pt x="160600" y="225251"/>
                  <a:pt x="157163" y="220072"/>
                  <a:pt x="157163" y="214313"/>
                </a:cubicBezTo>
                <a:lnTo>
                  <a:pt x="157163" y="185738"/>
                </a:ln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157163" y="157163"/>
                </a:lnTo>
                <a:lnTo>
                  <a:pt x="157163" y="128588"/>
                </a:lnTo>
                <a:cubicBezTo>
                  <a:pt x="157163" y="122828"/>
                  <a:pt x="160645" y="117604"/>
                  <a:pt x="166003" y="115372"/>
                </a:cubicBezTo>
                <a:cubicBezTo>
                  <a:pt x="171361" y="113139"/>
                  <a:pt x="177478" y="114389"/>
                  <a:pt x="181585" y="118452"/>
                </a:cubicBezTo>
                <a:lnTo>
                  <a:pt x="224448" y="161315"/>
                </a:lnTo>
                <a:cubicBezTo>
                  <a:pt x="230029" y="166896"/>
                  <a:pt x="230029" y="175959"/>
                  <a:pt x="224448" y="181541"/>
                </a:cubicBezTo>
                <a:close/>
                <a:moveTo>
                  <a:pt x="4197" y="67241"/>
                </a:moveTo>
                <a:cubicBezTo>
                  <a:pt x="-1384" y="61659"/>
                  <a:pt x="-1384" y="52596"/>
                  <a:pt x="4197" y="47015"/>
                </a:cubicBezTo>
                <a:lnTo>
                  <a:pt x="47059" y="4152"/>
                </a:lnTo>
                <a:cubicBezTo>
                  <a:pt x="51167" y="45"/>
                  <a:pt x="57284" y="-1161"/>
                  <a:pt x="62642" y="1072"/>
                </a:cubicBezTo>
                <a:cubicBezTo>
                  <a:pt x="68000" y="3304"/>
                  <a:pt x="71438" y="8528"/>
                  <a:pt x="71438" y="14288"/>
                </a:cubicBezTo>
                <a:lnTo>
                  <a:pt x="71438" y="42863"/>
                </a:lnTo>
                <a:lnTo>
                  <a:pt x="214313" y="42863"/>
                </a:lnTo>
                <a:cubicBezTo>
                  <a:pt x="222215" y="42863"/>
                  <a:pt x="228600" y="49247"/>
                  <a:pt x="228600" y="57150"/>
                </a:cubicBezTo>
                <a:cubicBezTo>
                  <a:pt x="228600" y="65053"/>
                  <a:pt x="222215" y="71438"/>
                  <a:pt x="214313" y="71438"/>
                </a:cubicBezTo>
                <a:lnTo>
                  <a:pt x="71438" y="71438"/>
                </a:lnTo>
                <a:lnTo>
                  <a:pt x="71438" y="100013"/>
                </a:lnTo>
                <a:cubicBezTo>
                  <a:pt x="71438" y="105772"/>
                  <a:pt x="67955" y="110996"/>
                  <a:pt x="62597" y="113228"/>
                </a:cubicBezTo>
                <a:cubicBezTo>
                  <a:pt x="57239" y="115461"/>
                  <a:pt x="51122" y="114211"/>
                  <a:pt x="47015" y="110148"/>
                </a:cubicBezTo>
                <a:lnTo>
                  <a:pt x="4152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5745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偏移现象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952750"/>
            <a:ext cx="3095625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微调后出现可控的方向性偏移，跨数据集呈现一致性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5329238"/>
            <a:ext cx="3000375" cy="9525"/>
          </a:xfrm>
          <a:custGeom>
            <a:avLst/>
            <a:gdLst/>
            <a:ahLst/>
            <a:cxnLst/>
            <a:rect l="l" t="t" r="r" b="b"/>
            <a:pathLst>
              <a:path w="3000375" h="9525">
                <a:moveTo>
                  <a:pt x="0" y="0"/>
                </a:moveTo>
                <a:lnTo>
                  <a:pt x="3000375" y="0"/>
                </a:lnTo>
                <a:lnTo>
                  <a:pt x="3000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09613" y="5610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76312" y="556260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情绪轴标量定义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9613" y="5953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" y="590550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反向偏移统计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92501" y="1314450"/>
            <a:ext cx="3609975" cy="5162550"/>
          </a:xfrm>
          <a:custGeom>
            <a:avLst/>
            <a:gdLst/>
            <a:ahLst/>
            <a:cxnLst/>
            <a:rect l="l" t="t" r="r" b="b"/>
            <a:pathLst>
              <a:path w="3609975" h="5162550">
                <a:moveTo>
                  <a:pt x="152413" y="0"/>
                </a:moveTo>
                <a:lnTo>
                  <a:pt x="3457562" y="0"/>
                </a:lnTo>
                <a:cubicBezTo>
                  <a:pt x="3541737" y="0"/>
                  <a:pt x="3609975" y="68238"/>
                  <a:pt x="3609975" y="152413"/>
                </a:cubicBezTo>
                <a:lnTo>
                  <a:pt x="3609975" y="5010137"/>
                </a:lnTo>
                <a:cubicBezTo>
                  <a:pt x="3609975" y="5094312"/>
                  <a:pt x="3541737" y="5162550"/>
                  <a:pt x="3457562" y="5162550"/>
                </a:cubicBezTo>
                <a:lnTo>
                  <a:pt x="152413" y="5162550"/>
                </a:lnTo>
                <a:cubicBezTo>
                  <a:pt x="68238" y="5162550"/>
                  <a:pt x="0" y="5094312"/>
                  <a:pt x="0" y="5010137"/>
                </a:cubicBezTo>
                <a:lnTo>
                  <a:pt x="0" y="152413"/>
                </a:lnTo>
                <a:cubicBezTo>
                  <a:pt x="0" y="68238"/>
                  <a:pt x="68238" y="0"/>
                  <a:pt x="15241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0A4"/>
              </a:gs>
              <a:gs pos="100000">
                <a:srgbClr val="1E3A5F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7301" y="16192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25863" y="161925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59301" y="1657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5511701" y="1809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97301" y="245745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显著性检验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97301" y="2952750"/>
            <a:ext cx="3095625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偏移不是随机波动，而是统计可靠的差异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97301" y="5329238"/>
            <a:ext cx="3000375" cy="9525"/>
          </a:xfrm>
          <a:custGeom>
            <a:avLst/>
            <a:gdLst/>
            <a:ahLst/>
            <a:cxnLst/>
            <a:rect l="l" t="t" r="r" b="b"/>
            <a:pathLst>
              <a:path w="3000375" h="9525">
                <a:moveTo>
                  <a:pt x="0" y="0"/>
                </a:moveTo>
                <a:lnTo>
                  <a:pt x="3000375" y="0"/>
                </a:lnTo>
                <a:lnTo>
                  <a:pt x="3000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21113" y="5610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87813" y="55626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McNemar检验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21113" y="5953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87813" y="590550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Stuart-Maxwell检验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04150" y="1314450"/>
            <a:ext cx="3609975" cy="5162550"/>
          </a:xfrm>
          <a:custGeom>
            <a:avLst/>
            <a:gdLst/>
            <a:ahLst/>
            <a:cxnLst/>
            <a:rect l="l" t="t" r="r" b="b"/>
            <a:pathLst>
              <a:path w="3609975" h="5162550">
                <a:moveTo>
                  <a:pt x="152413" y="0"/>
                </a:moveTo>
                <a:lnTo>
                  <a:pt x="3457562" y="0"/>
                </a:lnTo>
                <a:cubicBezTo>
                  <a:pt x="3541737" y="0"/>
                  <a:pt x="3609975" y="68238"/>
                  <a:pt x="3609975" y="152413"/>
                </a:cubicBezTo>
                <a:lnTo>
                  <a:pt x="3609975" y="5010137"/>
                </a:lnTo>
                <a:cubicBezTo>
                  <a:pt x="3609975" y="5094312"/>
                  <a:pt x="3541737" y="5162550"/>
                  <a:pt x="3457562" y="5162550"/>
                </a:cubicBezTo>
                <a:lnTo>
                  <a:pt x="152413" y="5162550"/>
                </a:lnTo>
                <a:cubicBezTo>
                  <a:pt x="68238" y="5162550"/>
                  <a:pt x="0" y="5094312"/>
                  <a:pt x="0" y="5010137"/>
                </a:cubicBezTo>
                <a:lnTo>
                  <a:pt x="0" y="152413"/>
                </a:lnTo>
                <a:cubicBezTo>
                  <a:pt x="0" y="68238"/>
                  <a:pt x="68238" y="0"/>
                  <a:pt x="152413" y="0"/>
                </a:cubicBezTo>
                <a:close/>
              </a:path>
            </a:pathLst>
          </a:custGeom>
          <a:gradFill flip="none" rotWithShape="1">
            <a:gsLst>
              <a:gs pos="0">
                <a:srgbClr val="E07A5F"/>
              </a:gs>
              <a:gs pos="100000">
                <a:srgbClr val="1E3A5F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08950" y="16192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437513" y="161925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70950" y="1657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423350" y="1809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146" y="-1116"/>
                </a:moveTo>
                <a:cubicBezTo>
                  <a:pt x="108987" y="-6206"/>
                  <a:pt x="119881" y="-6206"/>
                  <a:pt x="128721" y="-1116"/>
                </a:cubicBezTo>
                <a:lnTo>
                  <a:pt x="207258" y="44202"/>
                </a:lnTo>
                <a:cubicBezTo>
                  <a:pt x="216098" y="49292"/>
                  <a:pt x="221546" y="58757"/>
                  <a:pt x="221546" y="68937"/>
                </a:cubicBezTo>
                <a:lnTo>
                  <a:pt x="221546" y="159574"/>
                </a:lnTo>
                <a:cubicBezTo>
                  <a:pt x="221546" y="169798"/>
                  <a:pt x="216098" y="179219"/>
                  <a:pt x="207258" y="184309"/>
                </a:cubicBezTo>
                <a:lnTo>
                  <a:pt x="128721" y="229716"/>
                </a:lnTo>
                <a:cubicBezTo>
                  <a:pt x="119881" y="234806"/>
                  <a:pt x="108987" y="234806"/>
                  <a:pt x="100146" y="229716"/>
                </a:cubicBezTo>
                <a:lnTo>
                  <a:pt x="21654" y="184398"/>
                </a:lnTo>
                <a:cubicBezTo>
                  <a:pt x="12814" y="179308"/>
                  <a:pt x="7367" y="169843"/>
                  <a:pt x="7367" y="159663"/>
                </a:cubicBezTo>
                <a:lnTo>
                  <a:pt x="7367" y="69026"/>
                </a:lnTo>
                <a:cubicBezTo>
                  <a:pt x="7367" y="58802"/>
                  <a:pt x="12814" y="49381"/>
                  <a:pt x="21654" y="44291"/>
                </a:cubicBezTo>
                <a:lnTo>
                  <a:pt x="100146" y="-1116"/>
                </a:lnTo>
                <a:close/>
                <a:moveTo>
                  <a:pt x="192926" y="159618"/>
                </a:moveTo>
                <a:lnTo>
                  <a:pt x="192926" y="85457"/>
                </a:lnTo>
                <a:lnTo>
                  <a:pt x="128721" y="122515"/>
                </a:lnTo>
                <a:lnTo>
                  <a:pt x="128721" y="196676"/>
                </a:lnTo>
                <a:lnTo>
                  <a:pt x="192926" y="15961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3" name="Text 31"/>
          <p:cNvSpPr/>
          <p:nvPr/>
        </p:nvSpPr>
        <p:spPr>
          <a:xfrm>
            <a:off x="8508950" y="245745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效应量分析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8950" y="2952750"/>
            <a:ext cx="3095625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偏移大小与数据量、模型规模的关系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08950" y="5329238"/>
            <a:ext cx="3000375" cy="9525"/>
          </a:xfrm>
          <a:custGeom>
            <a:avLst/>
            <a:gdLst/>
            <a:ahLst/>
            <a:cxnLst/>
            <a:rect l="l" t="t" r="r" b="b"/>
            <a:pathLst>
              <a:path w="3000375" h="9525">
                <a:moveTo>
                  <a:pt x="0" y="0"/>
                </a:moveTo>
                <a:lnTo>
                  <a:pt x="3000375" y="0"/>
                </a:lnTo>
                <a:lnTo>
                  <a:pt x="3000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532763" y="5610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799463" y="556260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三种效应量指标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32763" y="5953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799463" y="590550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模型规模对比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6o4dutmdlxkq/chapter1_bg.pn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3A5F">
                  <a:alpha val="95000"/>
                </a:srgbClr>
              </a:gs>
              <a:gs pos="50000">
                <a:srgbClr val="1E3A5F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640681"/>
            <a:ext cx="2019300" cy="533400"/>
          </a:xfrm>
          <a:custGeom>
            <a:avLst/>
            <a:gdLst/>
            <a:ahLst/>
            <a:cxnLst/>
            <a:rect l="l" t="t" r="r" b="b"/>
            <a:pathLst>
              <a:path w="2019300" h="533400">
                <a:moveTo>
                  <a:pt x="114302" y="0"/>
                </a:moveTo>
                <a:lnTo>
                  <a:pt x="1904998" y="0"/>
                </a:lnTo>
                <a:cubicBezTo>
                  <a:pt x="1968083" y="0"/>
                  <a:pt x="2019300" y="51217"/>
                  <a:pt x="2019300" y="114302"/>
                </a:cubicBezTo>
                <a:lnTo>
                  <a:pt x="2019300" y="419098"/>
                </a:lnTo>
                <a:cubicBezTo>
                  <a:pt x="2019300" y="482183"/>
                  <a:pt x="1968083" y="533400"/>
                  <a:pt x="19049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754981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9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78881"/>
            <a:ext cx="67437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偏移现象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564731"/>
            <a:ext cx="65436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微调后出现可控的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方向性偏移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64919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9" name="Text 6"/>
          <p:cNvSpPr/>
          <p:nvPr/>
        </p:nvSpPr>
        <p:spPr>
          <a:xfrm>
            <a:off x="1295400" y="4950619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Directional Shift Analysis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偏移方向的度量方法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统一刻画"更偏正 / 更偏负"的情绪轴标量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33500"/>
            <a:ext cx="5581650" cy="4419600"/>
          </a:xfrm>
          <a:custGeom>
            <a:avLst/>
            <a:gdLst/>
            <a:ahLst/>
            <a:cxnLst/>
            <a:rect l="l" t="t" r="r" b="b"/>
            <a:pathLst>
              <a:path w="5581650" h="4419600">
                <a:moveTo>
                  <a:pt x="38100" y="0"/>
                </a:moveTo>
                <a:lnTo>
                  <a:pt x="5467359" y="0"/>
                </a:lnTo>
                <a:cubicBezTo>
                  <a:pt x="5530438" y="0"/>
                  <a:pt x="5581650" y="51212"/>
                  <a:pt x="5581650" y="114291"/>
                </a:cubicBezTo>
                <a:lnTo>
                  <a:pt x="5581650" y="4305309"/>
                </a:lnTo>
                <a:cubicBezTo>
                  <a:pt x="5581650" y="4368430"/>
                  <a:pt x="5530480" y="4419600"/>
                  <a:pt x="5467359" y="4419600"/>
                </a:cubicBezTo>
                <a:lnTo>
                  <a:pt x="38100" y="4419600"/>
                </a:lnTo>
                <a:cubicBezTo>
                  <a:pt x="17072" y="4419600"/>
                  <a:pt x="0" y="4402528"/>
                  <a:pt x="0" y="438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33500"/>
            <a:ext cx="38100" cy="4419600"/>
          </a:xfrm>
          <a:custGeom>
            <a:avLst/>
            <a:gdLst/>
            <a:ahLst/>
            <a:cxnLst/>
            <a:rect l="l" t="t" r="r" b="b"/>
            <a:pathLst>
              <a:path w="38100" h="4419600">
                <a:moveTo>
                  <a:pt x="38100" y="0"/>
                </a:moveTo>
                <a:lnTo>
                  <a:pt x="38100" y="0"/>
                </a:lnTo>
                <a:lnTo>
                  <a:pt x="38100" y="4419600"/>
                </a:lnTo>
                <a:lnTo>
                  <a:pt x="38100" y="4419600"/>
                </a:lnTo>
                <a:cubicBezTo>
                  <a:pt x="17072" y="4419600"/>
                  <a:pt x="0" y="4402528"/>
                  <a:pt x="0" y="438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6" name="Shape 4"/>
          <p:cNvSpPr/>
          <p:nvPr/>
        </p:nvSpPr>
        <p:spPr>
          <a:xfrm>
            <a:off x="661988" y="1600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93360" y="230475"/>
                </a:moveTo>
                <a:cubicBezTo>
                  <a:pt x="85011" y="238824"/>
                  <a:pt x="71438" y="238824"/>
                  <a:pt x="63044" y="230475"/>
                </a:cubicBezTo>
                <a:lnTo>
                  <a:pt x="12546" y="179978"/>
                </a:lnTo>
                <a:cubicBezTo>
                  <a:pt x="4197" y="171629"/>
                  <a:pt x="4197" y="158055"/>
                  <a:pt x="12546" y="149662"/>
                </a:cubicBezTo>
                <a:lnTo>
                  <a:pt x="20136" y="142071"/>
                </a:lnTo>
                <a:lnTo>
                  <a:pt x="52953" y="174888"/>
                </a:lnTo>
                <a:cubicBezTo>
                  <a:pt x="57150" y="179085"/>
                  <a:pt x="63937" y="179085"/>
                  <a:pt x="68089" y="174888"/>
                </a:cubicBezTo>
                <a:cubicBezTo>
                  <a:pt x="72241" y="170691"/>
                  <a:pt x="72286" y="163904"/>
                  <a:pt x="68089" y="159752"/>
                </a:cubicBezTo>
                <a:lnTo>
                  <a:pt x="35272" y="126936"/>
                </a:lnTo>
                <a:lnTo>
                  <a:pt x="50408" y="111800"/>
                </a:lnTo>
                <a:lnTo>
                  <a:pt x="73134" y="134526"/>
                </a:lnTo>
                <a:cubicBezTo>
                  <a:pt x="77331" y="138723"/>
                  <a:pt x="84118" y="138723"/>
                  <a:pt x="88270" y="134526"/>
                </a:cubicBezTo>
                <a:cubicBezTo>
                  <a:pt x="92422" y="130329"/>
                  <a:pt x="92467" y="123542"/>
                  <a:pt x="88270" y="119390"/>
                </a:cubicBezTo>
                <a:lnTo>
                  <a:pt x="65544" y="96664"/>
                </a:lnTo>
                <a:lnTo>
                  <a:pt x="80680" y="81528"/>
                </a:lnTo>
                <a:lnTo>
                  <a:pt x="113496" y="114345"/>
                </a:lnTo>
                <a:cubicBezTo>
                  <a:pt x="117693" y="118542"/>
                  <a:pt x="124480" y="118542"/>
                  <a:pt x="128632" y="114345"/>
                </a:cubicBezTo>
                <a:cubicBezTo>
                  <a:pt x="132784" y="110148"/>
                  <a:pt x="132829" y="103361"/>
                  <a:pt x="128632" y="99209"/>
                </a:cubicBezTo>
                <a:lnTo>
                  <a:pt x="95816" y="66392"/>
                </a:lnTo>
                <a:lnTo>
                  <a:pt x="110951" y="51256"/>
                </a:lnTo>
                <a:lnTo>
                  <a:pt x="133677" y="73982"/>
                </a:lnTo>
                <a:cubicBezTo>
                  <a:pt x="137874" y="78179"/>
                  <a:pt x="144661" y="78179"/>
                  <a:pt x="148813" y="73982"/>
                </a:cubicBezTo>
                <a:cubicBezTo>
                  <a:pt x="152966" y="69786"/>
                  <a:pt x="153010" y="62999"/>
                  <a:pt x="148813" y="58847"/>
                </a:cubicBezTo>
                <a:lnTo>
                  <a:pt x="126087" y="36121"/>
                </a:lnTo>
                <a:lnTo>
                  <a:pt x="141223" y="20985"/>
                </a:lnTo>
                <a:lnTo>
                  <a:pt x="174040" y="53801"/>
                </a:lnTo>
                <a:cubicBezTo>
                  <a:pt x="178237" y="57998"/>
                  <a:pt x="185023" y="57998"/>
                  <a:pt x="189175" y="53801"/>
                </a:cubicBezTo>
                <a:cubicBezTo>
                  <a:pt x="193328" y="49604"/>
                  <a:pt x="193372" y="42818"/>
                  <a:pt x="189175" y="38666"/>
                </a:cubicBezTo>
                <a:lnTo>
                  <a:pt x="156359" y="5849"/>
                </a:lnTo>
                <a:lnTo>
                  <a:pt x="163949" y="-1741"/>
                </a:lnTo>
                <a:cubicBezTo>
                  <a:pt x="172298" y="-10091"/>
                  <a:pt x="185871" y="-10091"/>
                  <a:pt x="194265" y="-1741"/>
                </a:cubicBezTo>
                <a:lnTo>
                  <a:pt x="244897" y="48622"/>
                </a:lnTo>
                <a:cubicBezTo>
                  <a:pt x="253246" y="56971"/>
                  <a:pt x="253246" y="70545"/>
                  <a:pt x="244897" y="78938"/>
                </a:cubicBezTo>
                <a:lnTo>
                  <a:pt x="93360" y="230475"/>
                </a:ln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7" name="Text 5"/>
          <p:cNvSpPr/>
          <p:nvPr/>
        </p:nvSpPr>
        <p:spPr>
          <a:xfrm>
            <a:off x="933450" y="1562100"/>
            <a:ext cx="493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情绪轴标量定义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7700" y="2019300"/>
            <a:ext cx="5105400" cy="952500"/>
          </a:xfrm>
          <a:custGeom>
            <a:avLst/>
            <a:gdLst/>
            <a:ahLst/>
            <a:cxnLst/>
            <a:rect l="l" t="t" r="r" b="b"/>
            <a:pathLst>
              <a:path w="5105400" h="952500">
                <a:moveTo>
                  <a:pt x="76200" y="0"/>
                </a:moveTo>
                <a:lnTo>
                  <a:pt x="5029200" y="0"/>
                </a:lnTo>
                <a:cubicBezTo>
                  <a:pt x="5071256" y="0"/>
                  <a:pt x="5105400" y="34144"/>
                  <a:pt x="5105400" y="76200"/>
                </a:cubicBezTo>
                <a:lnTo>
                  <a:pt x="5105400" y="876300"/>
                </a:lnTo>
                <a:cubicBezTo>
                  <a:pt x="5105400" y="918356"/>
                  <a:pt x="5071256" y="952500"/>
                  <a:pt x="50292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0100" y="217170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二分类/三分类情绪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0100" y="25146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 = p(positive) − p(negative)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7700" y="3124200"/>
            <a:ext cx="5105400" cy="952500"/>
          </a:xfrm>
          <a:custGeom>
            <a:avLst/>
            <a:gdLst/>
            <a:ahLst/>
            <a:cxnLst/>
            <a:rect l="l" t="t" r="r" b="b"/>
            <a:pathLst>
              <a:path w="5105400" h="952500">
                <a:moveTo>
                  <a:pt x="76200" y="0"/>
                </a:moveTo>
                <a:lnTo>
                  <a:pt x="5029200" y="0"/>
                </a:lnTo>
                <a:cubicBezTo>
                  <a:pt x="5071256" y="0"/>
                  <a:pt x="5105400" y="34144"/>
                  <a:pt x="5105400" y="76200"/>
                </a:cubicBezTo>
                <a:lnTo>
                  <a:pt x="5105400" y="876300"/>
                </a:lnTo>
                <a:cubicBezTo>
                  <a:pt x="5105400" y="918356"/>
                  <a:pt x="5071256" y="952500"/>
                  <a:pt x="50292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0100" y="327660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金融情绪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0100" y="36195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 = p(bullish) − p(bearish)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7700" y="4229100"/>
            <a:ext cx="5105400" cy="952500"/>
          </a:xfrm>
          <a:custGeom>
            <a:avLst/>
            <a:gdLst/>
            <a:ahLst/>
            <a:cxnLst/>
            <a:rect l="l" t="t" r="r" b="b"/>
            <a:pathLst>
              <a:path w="5105400" h="952500">
                <a:moveTo>
                  <a:pt x="76200" y="0"/>
                </a:moveTo>
                <a:lnTo>
                  <a:pt x="5029200" y="0"/>
                </a:lnTo>
                <a:cubicBezTo>
                  <a:pt x="5071256" y="0"/>
                  <a:pt x="5105400" y="34144"/>
                  <a:pt x="5105400" y="76200"/>
                </a:cubicBezTo>
                <a:lnTo>
                  <a:pt x="5105400" y="876300"/>
                </a:lnTo>
                <a:cubicBezTo>
                  <a:pt x="5105400" y="918356"/>
                  <a:pt x="5071256" y="952500"/>
                  <a:pt x="50292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0100" y="438150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心理健康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0100" y="47244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 = p(normal) − p(depression)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29350" y="1333500"/>
            <a:ext cx="5581650" cy="4419600"/>
          </a:xfrm>
          <a:custGeom>
            <a:avLst/>
            <a:gdLst/>
            <a:ahLst/>
            <a:cxnLst/>
            <a:rect l="l" t="t" r="r" b="b"/>
            <a:pathLst>
              <a:path w="5581650" h="4419600">
                <a:moveTo>
                  <a:pt x="38100" y="0"/>
                </a:moveTo>
                <a:lnTo>
                  <a:pt x="5467359" y="0"/>
                </a:lnTo>
                <a:cubicBezTo>
                  <a:pt x="5530438" y="0"/>
                  <a:pt x="5581650" y="51212"/>
                  <a:pt x="5581650" y="114291"/>
                </a:cubicBezTo>
                <a:lnTo>
                  <a:pt x="5581650" y="4305309"/>
                </a:lnTo>
                <a:cubicBezTo>
                  <a:pt x="5581650" y="4368430"/>
                  <a:pt x="5530480" y="4419600"/>
                  <a:pt x="5467359" y="4419600"/>
                </a:cubicBezTo>
                <a:lnTo>
                  <a:pt x="38100" y="4419600"/>
                </a:lnTo>
                <a:cubicBezTo>
                  <a:pt x="17072" y="4419600"/>
                  <a:pt x="0" y="4402528"/>
                  <a:pt x="0" y="438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229350" y="1333500"/>
            <a:ext cx="38100" cy="4419600"/>
          </a:xfrm>
          <a:custGeom>
            <a:avLst/>
            <a:gdLst/>
            <a:ahLst/>
            <a:cxnLst/>
            <a:rect l="l" t="t" r="r" b="b"/>
            <a:pathLst>
              <a:path w="38100" h="4419600">
                <a:moveTo>
                  <a:pt x="38100" y="0"/>
                </a:moveTo>
                <a:lnTo>
                  <a:pt x="38100" y="0"/>
                </a:lnTo>
                <a:lnTo>
                  <a:pt x="38100" y="4419600"/>
                </a:lnTo>
                <a:lnTo>
                  <a:pt x="38100" y="4419600"/>
                </a:lnTo>
                <a:cubicBezTo>
                  <a:pt x="17072" y="4419600"/>
                  <a:pt x="0" y="4402528"/>
                  <a:pt x="0" y="438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6505575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6762750" y="1562100"/>
            <a:ext cx="493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相对偏移量 Δs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77000" y="2019300"/>
            <a:ext cx="5105400" cy="1333500"/>
          </a:xfrm>
          <a:custGeom>
            <a:avLst/>
            <a:gdLst/>
            <a:ahLst/>
            <a:cxnLst/>
            <a:rect l="l" t="t" r="r" b="b"/>
            <a:pathLst>
              <a:path w="5105400" h="1333500">
                <a:moveTo>
                  <a:pt x="76196" y="0"/>
                </a:moveTo>
                <a:lnTo>
                  <a:pt x="5029204" y="0"/>
                </a:lnTo>
                <a:cubicBezTo>
                  <a:pt x="5071286" y="0"/>
                  <a:pt x="5105400" y="34114"/>
                  <a:pt x="5105400" y="76196"/>
                </a:cubicBezTo>
                <a:lnTo>
                  <a:pt x="5105400" y="1257304"/>
                </a:lnTo>
                <a:cubicBezTo>
                  <a:pt x="5105400" y="1299386"/>
                  <a:pt x="5071286" y="1333500"/>
                  <a:pt x="5029204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67500" y="2209800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性格模型与base的差异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67500" y="2590800"/>
            <a:ext cx="4724400" cy="571500"/>
          </a:xfrm>
          <a:custGeom>
            <a:avLst/>
            <a:gdLst/>
            <a:ahLst/>
            <a:cxnLst/>
            <a:rect l="l" t="t" r="r" b="b"/>
            <a:pathLst>
              <a:path w="4724400" h="571500">
                <a:moveTo>
                  <a:pt x="76198" y="0"/>
                </a:moveTo>
                <a:lnTo>
                  <a:pt x="4648202" y="0"/>
                </a:lnTo>
                <a:cubicBezTo>
                  <a:pt x="4690285" y="0"/>
                  <a:pt x="4724400" y="34115"/>
                  <a:pt x="4724400" y="76198"/>
                </a:cubicBezTo>
                <a:lnTo>
                  <a:pt x="4724400" y="495302"/>
                </a:lnTo>
                <a:cubicBezTo>
                  <a:pt x="4724400" y="537385"/>
                  <a:pt x="4690285" y="571500"/>
                  <a:pt x="46482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4" name="Text 22"/>
          <p:cNvSpPr/>
          <p:nvPr/>
        </p:nvSpPr>
        <p:spPr>
          <a:xfrm>
            <a:off x="6596063" y="2590800"/>
            <a:ext cx="4867275" cy="571500"/>
          </a:xfrm>
          <a:prstGeom prst="rect">
            <a:avLst/>
          </a:prstGeom>
          <a:noFill/>
          <a:ln/>
        </p:spPr>
        <p:txBody>
          <a:bodyPr wrap="square" lIns="0" tIns="114300" rIns="0" bIns="11430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Δs = s</a:t>
            </a:r>
            <a:r>
              <a:rPr lang="en-US" sz="1688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tuned</a:t>
            </a:r>
            <a:r>
              <a:rPr lang="en-US" sz="2250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− s</a:t>
            </a:r>
            <a:r>
              <a:rPr lang="en-US" sz="1688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77000" y="3505200"/>
            <a:ext cx="5105400" cy="800100"/>
          </a:xfrm>
          <a:custGeom>
            <a:avLst/>
            <a:gdLst/>
            <a:ahLst/>
            <a:cxnLst/>
            <a:rect l="l" t="t" r="r" b="b"/>
            <a:pathLst>
              <a:path w="5105400" h="800100">
                <a:moveTo>
                  <a:pt x="76202" y="0"/>
                </a:moveTo>
                <a:lnTo>
                  <a:pt x="5029198" y="0"/>
                </a:lnTo>
                <a:cubicBezTo>
                  <a:pt x="5071283" y="0"/>
                  <a:pt x="5105400" y="34117"/>
                  <a:pt x="5105400" y="76202"/>
                </a:cubicBezTo>
                <a:lnTo>
                  <a:pt x="5105400" y="723898"/>
                </a:lnTo>
                <a:cubicBezTo>
                  <a:pt x="5105400" y="765983"/>
                  <a:pt x="5071283" y="800100"/>
                  <a:pt x="50291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29400" y="3676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27" name="Shape 25"/>
          <p:cNvSpPr/>
          <p:nvPr/>
        </p:nvSpPr>
        <p:spPr>
          <a:xfrm>
            <a:off x="6786563" y="38100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9846" y="6474"/>
                </a:moveTo>
                <a:cubicBezTo>
                  <a:pt x="75195" y="1823"/>
                  <a:pt x="67642" y="1823"/>
                  <a:pt x="62992" y="6474"/>
                </a:cubicBezTo>
                <a:lnTo>
                  <a:pt x="3460" y="66005"/>
                </a:lnTo>
                <a:cubicBezTo>
                  <a:pt x="-1191" y="70656"/>
                  <a:pt x="-1191" y="78209"/>
                  <a:pt x="3460" y="82860"/>
                </a:cubicBezTo>
                <a:cubicBezTo>
                  <a:pt x="8111" y="87511"/>
                  <a:pt x="15664" y="87511"/>
                  <a:pt x="20315" y="82860"/>
                </a:cubicBezTo>
                <a:lnTo>
                  <a:pt x="59531" y="43644"/>
                </a:lnTo>
                <a:lnTo>
                  <a:pt x="59531" y="181570"/>
                </a:lnTo>
                <a:cubicBezTo>
                  <a:pt x="59531" y="188156"/>
                  <a:pt x="64852" y="193477"/>
                  <a:pt x="71438" y="193477"/>
                </a:cubicBezTo>
                <a:cubicBezTo>
                  <a:pt x="78023" y="193477"/>
                  <a:pt x="83344" y="188156"/>
                  <a:pt x="83344" y="181570"/>
                </a:cubicBezTo>
                <a:lnTo>
                  <a:pt x="83344" y="43644"/>
                </a:lnTo>
                <a:lnTo>
                  <a:pt x="122560" y="82860"/>
                </a:lnTo>
                <a:cubicBezTo>
                  <a:pt x="127211" y="87511"/>
                  <a:pt x="134764" y="87511"/>
                  <a:pt x="139415" y="82860"/>
                </a:cubicBezTo>
                <a:cubicBezTo>
                  <a:pt x="144066" y="78209"/>
                  <a:pt x="144066" y="70656"/>
                  <a:pt x="139415" y="66005"/>
                </a:cubicBezTo>
                <a:lnTo>
                  <a:pt x="79883" y="6474"/>
                </a:ln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28" name="Text 26"/>
          <p:cNvSpPr/>
          <p:nvPr/>
        </p:nvSpPr>
        <p:spPr>
          <a:xfrm>
            <a:off x="7239000" y="3657600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Δs &gt; 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39000" y="39243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相对base更"正向"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77000" y="4419600"/>
            <a:ext cx="5105400" cy="800100"/>
          </a:xfrm>
          <a:custGeom>
            <a:avLst/>
            <a:gdLst/>
            <a:ahLst/>
            <a:cxnLst/>
            <a:rect l="l" t="t" r="r" b="b"/>
            <a:pathLst>
              <a:path w="5105400" h="800100">
                <a:moveTo>
                  <a:pt x="76202" y="0"/>
                </a:moveTo>
                <a:lnTo>
                  <a:pt x="5029198" y="0"/>
                </a:lnTo>
                <a:cubicBezTo>
                  <a:pt x="5071283" y="0"/>
                  <a:pt x="5105400" y="34117"/>
                  <a:pt x="5105400" y="76202"/>
                </a:cubicBezTo>
                <a:lnTo>
                  <a:pt x="5105400" y="723898"/>
                </a:lnTo>
                <a:cubicBezTo>
                  <a:pt x="5105400" y="765983"/>
                  <a:pt x="5071283" y="800100"/>
                  <a:pt x="50291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29400" y="4591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32" name="Shape 30"/>
          <p:cNvSpPr/>
          <p:nvPr/>
        </p:nvSpPr>
        <p:spPr>
          <a:xfrm>
            <a:off x="6786563" y="47244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33" name="Text 31"/>
          <p:cNvSpPr/>
          <p:nvPr/>
        </p:nvSpPr>
        <p:spPr>
          <a:xfrm>
            <a:off x="7239000" y="4572000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Δs &lt; 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39000" y="48387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相对base更"负向"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5905500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457200"/>
                </a:lnTo>
                <a:cubicBezTo>
                  <a:pt x="11430000" y="520284"/>
                  <a:pt x="11378784" y="571500"/>
                  <a:pt x="1131570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581025" y="60960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7" name="Text 35"/>
          <p:cNvSpPr/>
          <p:nvPr/>
        </p:nvSpPr>
        <p:spPr>
          <a:xfrm>
            <a:off x="885825" y="6057900"/>
            <a:ext cx="7458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核心思想：</a:t>
            </a: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通过概率差构建统一的情绪轴，使得不同数据集、不同任务之间的偏移方向具有可比性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反向偏移统计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跨数据集呈现一致性：不跨数据集合并负向语义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11420475" cy="4638675"/>
          </a:xfrm>
          <a:custGeom>
            <a:avLst/>
            <a:gdLst/>
            <a:ahLst/>
            <a:cxnLst/>
            <a:rect l="l" t="t" r="r" b="b"/>
            <a:pathLst>
              <a:path w="11420475" h="4638675">
                <a:moveTo>
                  <a:pt x="114297" y="0"/>
                </a:moveTo>
                <a:lnTo>
                  <a:pt x="11306178" y="0"/>
                </a:lnTo>
                <a:cubicBezTo>
                  <a:pt x="11369303" y="0"/>
                  <a:pt x="11420475" y="51172"/>
                  <a:pt x="11420475" y="114297"/>
                </a:cubicBezTo>
                <a:lnTo>
                  <a:pt x="11420475" y="4524378"/>
                </a:lnTo>
                <a:cubicBezTo>
                  <a:pt x="11420475" y="4587503"/>
                  <a:pt x="11369303" y="4638675"/>
                  <a:pt x="11306178" y="4638675"/>
                </a:cubicBezTo>
                <a:lnTo>
                  <a:pt x="114297" y="4638675"/>
                </a:lnTo>
                <a:cubicBezTo>
                  <a:pt x="51172" y="4638675"/>
                  <a:pt x="0" y="4587503"/>
                  <a:pt x="0" y="452437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352313"/>
              </p:ext>
            </p:extLst>
          </p:nvPr>
        </p:nvGraphicFramePr>
        <p:xfrm>
          <a:off x="390525" y="1266825"/>
          <a:ext cx="11410950" cy="3800472"/>
        </p:xfrm>
        <a:graphic>
          <a:graphicData uri="http://schemas.openxmlformats.org/drawingml/2006/table">
            <a:tbl>
              <a:tblPr/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059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energy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information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decision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execution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59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fiqasa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3/3 (100.0%)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2/3 (66.7%)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3/3 (100.0%)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2/3 (66.7%)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59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imdb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3/3 (100.0%)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3/3 (100.0%)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3/3 (100.0%)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2/3 (66.7%)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059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imdb_sklearn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2/3 (66.7%)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1/3 (33.3%)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3/3 (100.0%)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1/3 (33.3%)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059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mental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1/3 (33.3%)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1/3 (33.3%)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2/3 (66.7%)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0/3 (0.0%)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059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news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3/3 (100.0%)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3/3 (100.0%)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3/3 (100.0%)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0/3 (0.0%)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059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sst2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3/3 (100.0%)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3/3 (100.0%)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3/3 (100.0%)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3/3 (100.0%)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059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chemeClr val="accent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15/18 (83.3%)</a:t>
                      </a:r>
                      <a:endParaRPr lang="en-US" sz="1300" dirty="0">
                        <a:solidFill>
                          <a:schemeClr val="accent6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chemeClr val="accent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13/18 (72.2%)</a:t>
                      </a:r>
                      <a:endParaRPr lang="en-US" sz="1300" dirty="0">
                        <a:solidFill>
                          <a:schemeClr val="accent4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chemeClr val="accent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17/18 (94.4%)</a:t>
                      </a:r>
                      <a:endParaRPr lang="en-US" sz="1300" dirty="0">
                        <a:solidFill>
                          <a:schemeClr val="accent6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F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8/18 (44.4%)</a:t>
                      </a:r>
                      <a:endParaRPr lang="en-US" sz="1300" dirty="0">
                        <a:solidFill>
                          <a:srgbClr val="FF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00050" y="6019800"/>
            <a:ext cx="3686175" cy="457200"/>
          </a:xfrm>
          <a:custGeom>
            <a:avLst/>
            <a:gdLst/>
            <a:ahLst/>
            <a:cxnLst/>
            <a:rect l="l" t="t" r="r" b="b"/>
            <a:pathLst>
              <a:path w="3686175" h="457200">
                <a:moveTo>
                  <a:pt x="38100" y="0"/>
                </a:moveTo>
                <a:lnTo>
                  <a:pt x="3609973" y="0"/>
                </a:lnTo>
                <a:cubicBezTo>
                  <a:pt x="3652058" y="0"/>
                  <a:pt x="3686175" y="34117"/>
                  <a:pt x="3686175" y="76202"/>
                </a:cubicBezTo>
                <a:lnTo>
                  <a:pt x="3686175" y="380998"/>
                </a:lnTo>
                <a:cubicBezTo>
                  <a:pt x="3686175" y="423083"/>
                  <a:pt x="3652058" y="457200"/>
                  <a:pt x="3609973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7" name="Shape 4"/>
          <p:cNvSpPr/>
          <p:nvPr/>
        </p:nvSpPr>
        <p:spPr>
          <a:xfrm>
            <a:off x="400050" y="60198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8" name="Text 5"/>
          <p:cNvSpPr/>
          <p:nvPr/>
        </p:nvSpPr>
        <p:spPr>
          <a:xfrm>
            <a:off x="533400" y="6134100"/>
            <a:ext cx="3514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166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≥80% 高一致性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60800" y="6019800"/>
            <a:ext cx="3686175" cy="457200"/>
          </a:xfrm>
          <a:custGeom>
            <a:avLst/>
            <a:gdLst/>
            <a:ahLst/>
            <a:cxnLst/>
            <a:rect l="l" t="t" r="r" b="b"/>
            <a:pathLst>
              <a:path w="3686175" h="457200">
                <a:moveTo>
                  <a:pt x="38100" y="0"/>
                </a:moveTo>
                <a:lnTo>
                  <a:pt x="3609973" y="0"/>
                </a:lnTo>
                <a:cubicBezTo>
                  <a:pt x="3652058" y="0"/>
                  <a:pt x="3686175" y="34117"/>
                  <a:pt x="3686175" y="76202"/>
                </a:cubicBezTo>
                <a:lnTo>
                  <a:pt x="3686175" y="380998"/>
                </a:lnTo>
                <a:cubicBezTo>
                  <a:pt x="3686175" y="423083"/>
                  <a:pt x="3652058" y="457200"/>
                  <a:pt x="3609973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10" name="Shape 7"/>
          <p:cNvSpPr/>
          <p:nvPr/>
        </p:nvSpPr>
        <p:spPr>
          <a:xfrm>
            <a:off x="4260800" y="60198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11" name="Text 8"/>
          <p:cNvSpPr/>
          <p:nvPr/>
        </p:nvSpPr>
        <p:spPr>
          <a:xfrm>
            <a:off x="4394150" y="6134100"/>
            <a:ext cx="3514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94B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50-80% 中等一致性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21551" y="6019800"/>
            <a:ext cx="3686175" cy="457200"/>
          </a:xfrm>
          <a:custGeom>
            <a:avLst/>
            <a:gdLst/>
            <a:ahLst/>
            <a:cxnLst/>
            <a:rect l="l" t="t" r="r" b="b"/>
            <a:pathLst>
              <a:path w="3686175" h="457200">
                <a:moveTo>
                  <a:pt x="38100" y="0"/>
                </a:moveTo>
                <a:lnTo>
                  <a:pt x="3609973" y="0"/>
                </a:lnTo>
                <a:cubicBezTo>
                  <a:pt x="3652058" y="0"/>
                  <a:pt x="3686175" y="34117"/>
                  <a:pt x="3686175" y="76202"/>
                </a:cubicBezTo>
                <a:lnTo>
                  <a:pt x="3686175" y="380998"/>
                </a:lnTo>
                <a:cubicBezTo>
                  <a:pt x="3686175" y="423083"/>
                  <a:pt x="3652058" y="457200"/>
                  <a:pt x="3609973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13" name="Shape 10"/>
          <p:cNvSpPr/>
          <p:nvPr/>
        </p:nvSpPr>
        <p:spPr>
          <a:xfrm>
            <a:off x="8121551" y="60198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4" name="Text 11"/>
          <p:cNvSpPr/>
          <p:nvPr/>
        </p:nvSpPr>
        <p:spPr>
          <a:xfrm>
            <a:off x="8254901" y="6134100"/>
            <a:ext cx="3514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F07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&lt;50% 低一致性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关键观察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从反向偏移统计中发现的规律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5600700" cy="4267200"/>
          </a:xfrm>
          <a:custGeom>
            <a:avLst/>
            <a:gdLst/>
            <a:ahLst/>
            <a:cxnLst/>
            <a:rect l="l" t="t" r="r" b="b"/>
            <a:pathLst>
              <a:path w="5600700" h="4267200">
                <a:moveTo>
                  <a:pt x="152382" y="0"/>
                </a:moveTo>
                <a:lnTo>
                  <a:pt x="5448318" y="0"/>
                </a:lnTo>
                <a:cubicBezTo>
                  <a:pt x="5532420" y="0"/>
                  <a:pt x="5600700" y="68280"/>
                  <a:pt x="5600700" y="152382"/>
                </a:cubicBezTo>
                <a:lnTo>
                  <a:pt x="5600700" y="4114818"/>
                </a:lnTo>
                <a:cubicBezTo>
                  <a:pt x="5600700" y="4198920"/>
                  <a:pt x="5532420" y="4267200"/>
                  <a:pt x="5448318" y="4267200"/>
                </a:cubicBezTo>
                <a:lnTo>
                  <a:pt x="152382" y="4267200"/>
                </a:lnTo>
                <a:cubicBezTo>
                  <a:pt x="68280" y="4267200"/>
                  <a:pt x="0" y="4198920"/>
                  <a:pt x="0" y="4114818"/>
                </a:cubicBezTo>
                <a:lnTo>
                  <a:pt x="0" y="152382"/>
                </a:lnTo>
                <a:cubicBezTo>
                  <a:pt x="0" y="68280"/>
                  <a:pt x="68280" y="0"/>
                  <a:pt x="152382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4A90A4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38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85825" y="18002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39471" y="37281"/>
                </a:moveTo>
                <a:cubicBezTo>
                  <a:pt x="145275" y="29301"/>
                  <a:pt x="143489" y="18138"/>
                  <a:pt x="135508" y="12334"/>
                </a:cubicBezTo>
                <a:cubicBezTo>
                  <a:pt x="127527" y="6530"/>
                  <a:pt x="116365" y="8316"/>
                  <a:pt x="110561" y="16297"/>
                </a:cubicBezTo>
                <a:lnTo>
                  <a:pt x="51402" y="97613"/>
                </a:lnTo>
                <a:lnTo>
                  <a:pt x="30473" y="76684"/>
                </a:lnTo>
                <a:cubicBezTo>
                  <a:pt x="23496" y="69707"/>
                  <a:pt x="12167" y="69707"/>
                  <a:pt x="5190" y="76684"/>
                </a:cubicBezTo>
                <a:cubicBezTo>
                  <a:pt x="-1786" y="83660"/>
                  <a:pt x="-1786" y="94990"/>
                  <a:pt x="5190" y="101966"/>
                </a:cubicBezTo>
                <a:lnTo>
                  <a:pt x="40909" y="137685"/>
                </a:lnTo>
                <a:cubicBezTo>
                  <a:pt x="44593" y="141368"/>
                  <a:pt x="49727" y="143266"/>
                  <a:pt x="54918" y="142875"/>
                </a:cubicBezTo>
                <a:cubicBezTo>
                  <a:pt x="60108" y="142484"/>
                  <a:pt x="64908" y="139805"/>
                  <a:pt x="67977" y="135564"/>
                </a:cubicBezTo>
                <a:lnTo>
                  <a:pt x="139415" y="37337"/>
                </a:lnTo>
                <a:close/>
                <a:moveTo>
                  <a:pt x="210908" y="113184"/>
                </a:moveTo>
                <a:cubicBezTo>
                  <a:pt x="216712" y="105203"/>
                  <a:pt x="214926" y="94041"/>
                  <a:pt x="206946" y="88236"/>
                </a:cubicBezTo>
                <a:cubicBezTo>
                  <a:pt x="198965" y="82432"/>
                  <a:pt x="187802" y="84218"/>
                  <a:pt x="181998" y="92199"/>
                </a:cubicBezTo>
                <a:lnTo>
                  <a:pt x="87120" y="222628"/>
                </a:lnTo>
                <a:lnTo>
                  <a:pt x="48332" y="183840"/>
                </a:lnTo>
                <a:cubicBezTo>
                  <a:pt x="41356" y="176864"/>
                  <a:pt x="30026" y="176864"/>
                  <a:pt x="23050" y="183840"/>
                </a:cubicBezTo>
                <a:cubicBezTo>
                  <a:pt x="16073" y="190816"/>
                  <a:pt x="16073" y="202146"/>
                  <a:pt x="23050" y="209122"/>
                </a:cubicBezTo>
                <a:lnTo>
                  <a:pt x="76628" y="262700"/>
                </a:lnTo>
                <a:cubicBezTo>
                  <a:pt x="80311" y="266384"/>
                  <a:pt x="85446" y="268281"/>
                  <a:pt x="90636" y="267891"/>
                </a:cubicBezTo>
                <a:cubicBezTo>
                  <a:pt x="95827" y="267500"/>
                  <a:pt x="100626" y="264821"/>
                  <a:pt x="103696" y="260579"/>
                </a:cubicBezTo>
                <a:lnTo>
                  <a:pt x="210852" y="1132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177165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decision维度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476500"/>
            <a:ext cx="4991100" cy="1257300"/>
          </a:xfrm>
          <a:custGeom>
            <a:avLst/>
            <a:gdLst/>
            <a:ahLst/>
            <a:cxnLst/>
            <a:rect l="l" t="t" r="r" b="b"/>
            <a:pathLst>
              <a:path w="4991100" h="1257300">
                <a:moveTo>
                  <a:pt x="114301" y="0"/>
                </a:moveTo>
                <a:lnTo>
                  <a:pt x="4876799" y="0"/>
                </a:lnTo>
                <a:cubicBezTo>
                  <a:pt x="4939883" y="0"/>
                  <a:pt x="4991100" y="51217"/>
                  <a:pt x="4991100" y="114301"/>
                </a:cubicBezTo>
                <a:lnTo>
                  <a:pt x="4991100" y="1142999"/>
                </a:lnTo>
                <a:cubicBezTo>
                  <a:pt x="4991100" y="1206083"/>
                  <a:pt x="4939883" y="1257300"/>
                  <a:pt x="4876799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0510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94.4%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23850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反向偏移比例（17/18）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8897" y="40005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413" y="3962400"/>
            <a:ext cx="3152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</a:t>
            </a: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6个数据集中有5个</a:t>
            </a: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达到100%反向偏移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8897" y="43815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413" y="4343400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呈现</a:t>
            </a: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最稳定的反向偏移</a:t>
            </a: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8897" y="47625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14413" y="472440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跨数据集一致性最高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0300" y="1333500"/>
            <a:ext cx="5600700" cy="4267200"/>
          </a:xfrm>
          <a:custGeom>
            <a:avLst/>
            <a:gdLst/>
            <a:ahLst/>
            <a:cxnLst/>
            <a:rect l="l" t="t" r="r" b="b"/>
            <a:pathLst>
              <a:path w="5600700" h="4267200">
                <a:moveTo>
                  <a:pt x="152382" y="0"/>
                </a:moveTo>
                <a:lnTo>
                  <a:pt x="5448318" y="0"/>
                </a:lnTo>
                <a:cubicBezTo>
                  <a:pt x="5532420" y="0"/>
                  <a:pt x="5600700" y="68280"/>
                  <a:pt x="5600700" y="152382"/>
                </a:cubicBezTo>
                <a:lnTo>
                  <a:pt x="5600700" y="4114818"/>
                </a:lnTo>
                <a:cubicBezTo>
                  <a:pt x="5600700" y="4198920"/>
                  <a:pt x="5532420" y="4267200"/>
                  <a:pt x="5448318" y="4267200"/>
                </a:cubicBezTo>
                <a:lnTo>
                  <a:pt x="152382" y="4267200"/>
                </a:lnTo>
                <a:cubicBezTo>
                  <a:pt x="68280" y="4267200"/>
                  <a:pt x="0" y="4198920"/>
                  <a:pt x="0" y="4114818"/>
                </a:cubicBezTo>
                <a:lnTo>
                  <a:pt x="0" y="152382"/>
                </a:lnTo>
                <a:cubicBezTo>
                  <a:pt x="0" y="68280"/>
                  <a:pt x="68280" y="0"/>
                  <a:pt x="152382" y="0"/>
                </a:cubicBezTo>
                <a:close/>
              </a:path>
            </a:pathLst>
          </a:custGeom>
          <a:gradFill flip="none" rotWithShape="1">
            <a:gsLst>
              <a:gs pos="0">
                <a:srgbClr val="E07A5F"/>
              </a:gs>
              <a:gs pos="100000">
                <a:srgbClr val="1E3A5F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5100" y="1638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79406" y="1800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277100" y="1771650"/>
            <a:ext cx="2124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execution维度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15100" y="2476500"/>
            <a:ext cx="4991100" cy="1257300"/>
          </a:xfrm>
          <a:custGeom>
            <a:avLst/>
            <a:gdLst/>
            <a:ahLst/>
            <a:cxnLst/>
            <a:rect l="l" t="t" r="r" b="b"/>
            <a:pathLst>
              <a:path w="4991100" h="1257300">
                <a:moveTo>
                  <a:pt x="114301" y="0"/>
                </a:moveTo>
                <a:lnTo>
                  <a:pt x="4876799" y="0"/>
                </a:lnTo>
                <a:cubicBezTo>
                  <a:pt x="4939883" y="0"/>
                  <a:pt x="4991100" y="51217"/>
                  <a:pt x="4991100" y="114301"/>
                </a:cubicBezTo>
                <a:lnTo>
                  <a:pt x="4991100" y="1142999"/>
                </a:lnTo>
                <a:cubicBezTo>
                  <a:pt x="4991100" y="1206083"/>
                  <a:pt x="4939883" y="1257300"/>
                  <a:pt x="4876799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743700" y="270510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44.4%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43700" y="323850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反向偏移比例（8/18）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38913" y="4000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43713" y="398145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数据集依赖性最强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38913" y="4381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43713" y="4343400"/>
            <a:ext cx="2943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在mental/news上</a:t>
            </a: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几乎不出现</a:t>
            </a: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（0%）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38913" y="4762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43713" y="472440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在sst2上</a:t>
            </a: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非常稳定</a:t>
            </a: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（100%）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050" y="5829300"/>
            <a:ext cx="11410950" cy="647700"/>
          </a:xfrm>
          <a:custGeom>
            <a:avLst/>
            <a:gdLst/>
            <a:ahLst/>
            <a:cxnLst/>
            <a:rect l="l" t="t" r="r" b="b"/>
            <a:pathLst>
              <a:path w="11410950" h="647700">
                <a:moveTo>
                  <a:pt x="38100" y="0"/>
                </a:moveTo>
                <a:lnTo>
                  <a:pt x="11296650" y="0"/>
                </a:lnTo>
                <a:cubicBezTo>
                  <a:pt x="11359776" y="0"/>
                  <a:pt x="11410950" y="51174"/>
                  <a:pt x="11410950" y="114300"/>
                </a:cubicBezTo>
                <a:lnTo>
                  <a:pt x="11410950" y="533400"/>
                </a:lnTo>
                <a:cubicBezTo>
                  <a:pt x="11410950" y="596526"/>
                  <a:pt x="11359776" y="647700"/>
                  <a:pt x="11296650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1" name="Shape 29"/>
          <p:cNvSpPr/>
          <p:nvPr/>
        </p:nvSpPr>
        <p:spPr>
          <a:xfrm>
            <a:off x="400050" y="58293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2" name="Shape 30"/>
          <p:cNvSpPr/>
          <p:nvPr/>
        </p:nvSpPr>
        <p:spPr>
          <a:xfrm>
            <a:off x="666750" y="60388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3" name="Text 31"/>
          <p:cNvSpPr/>
          <p:nvPr/>
        </p:nvSpPr>
        <p:spPr>
          <a:xfrm>
            <a:off x="1009650" y="6019800"/>
            <a:ext cx="979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启示：</a:t>
            </a:r>
            <a:r>
              <a:rPr lang="en-US" sz="135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不同维度的偏移特性存在显著差异，decision维度具有普适性的反向偏移倾向，而execution维度的偏移更受任务特性影响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6o4dutmdlxkq/chapter2_bg.pn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90A4">
                  <a:alpha val="95000"/>
                </a:srgbClr>
              </a:gs>
              <a:gs pos="50000">
                <a:srgbClr val="1E3A5F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640681"/>
            <a:ext cx="2019300" cy="533400"/>
          </a:xfrm>
          <a:custGeom>
            <a:avLst/>
            <a:gdLst/>
            <a:ahLst/>
            <a:cxnLst/>
            <a:rect l="l" t="t" r="r" b="b"/>
            <a:pathLst>
              <a:path w="2019300" h="533400">
                <a:moveTo>
                  <a:pt x="114302" y="0"/>
                </a:moveTo>
                <a:lnTo>
                  <a:pt x="1904998" y="0"/>
                </a:lnTo>
                <a:cubicBezTo>
                  <a:pt x="1968083" y="0"/>
                  <a:pt x="2019300" y="51217"/>
                  <a:pt x="2019300" y="114302"/>
                </a:cubicBezTo>
                <a:lnTo>
                  <a:pt x="2019300" y="419098"/>
                </a:lnTo>
                <a:cubicBezTo>
                  <a:pt x="2019300" y="482183"/>
                  <a:pt x="1968083" y="533400"/>
                  <a:pt x="19049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754981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9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78881"/>
            <a:ext cx="67437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显著性检验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564731"/>
            <a:ext cx="65436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偏移不是随机波动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而是统计可靠的差异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64919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9" name="Text 6"/>
          <p:cNvSpPr/>
          <p:nvPr/>
        </p:nvSpPr>
        <p:spPr>
          <a:xfrm>
            <a:off x="1295400" y="4950619"/>
            <a:ext cx="2828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Statistical Significance Testing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显著性检验概述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配对检验验证偏移的统计可靠性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6781800" cy="1752600"/>
          </a:xfrm>
          <a:custGeom>
            <a:avLst/>
            <a:gdLst/>
            <a:ahLst/>
            <a:cxnLst/>
            <a:rect l="l" t="t" r="r" b="b"/>
            <a:pathLst>
              <a:path w="6781800" h="1752600">
                <a:moveTo>
                  <a:pt x="38100" y="0"/>
                </a:moveTo>
                <a:lnTo>
                  <a:pt x="6667495" y="0"/>
                </a:lnTo>
                <a:cubicBezTo>
                  <a:pt x="6730624" y="0"/>
                  <a:pt x="6781800" y="51176"/>
                  <a:pt x="6781800" y="114305"/>
                </a:cubicBezTo>
                <a:lnTo>
                  <a:pt x="6781800" y="1638295"/>
                </a:lnTo>
                <a:cubicBezTo>
                  <a:pt x="6781800" y="1701424"/>
                  <a:pt x="6730624" y="1752600"/>
                  <a:pt x="6667495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6" name="Shape 4"/>
          <p:cNvSpPr/>
          <p:nvPr/>
        </p:nvSpPr>
        <p:spPr>
          <a:xfrm>
            <a:off x="645319" y="14859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7" name="Text 5"/>
          <p:cNvSpPr/>
          <p:nvPr/>
        </p:nvSpPr>
        <p:spPr>
          <a:xfrm>
            <a:off x="847725" y="1447800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检验方法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1828800"/>
            <a:ext cx="3114675" cy="990600"/>
          </a:xfrm>
          <a:custGeom>
            <a:avLst/>
            <a:gdLst/>
            <a:ahLst/>
            <a:cxnLst/>
            <a:rect l="l" t="t" r="r" b="b"/>
            <a:pathLst>
              <a:path w="3114675" h="990600">
                <a:moveTo>
                  <a:pt x="76197" y="0"/>
                </a:moveTo>
                <a:lnTo>
                  <a:pt x="3038478" y="0"/>
                </a:lnTo>
                <a:cubicBezTo>
                  <a:pt x="3080560" y="0"/>
                  <a:pt x="3114675" y="34115"/>
                  <a:pt x="3114675" y="76197"/>
                </a:cubicBezTo>
                <a:lnTo>
                  <a:pt x="3114675" y="914403"/>
                </a:lnTo>
                <a:cubicBezTo>
                  <a:pt x="3114675" y="956485"/>
                  <a:pt x="3080560" y="990600"/>
                  <a:pt x="30384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2000" y="1981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0" name="Text 8"/>
          <p:cNvSpPr/>
          <p:nvPr/>
        </p:nvSpPr>
        <p:spPr>
          <a:xfrm>
            <a:off x="723900" y="19812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7300" y="203835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McNemar检验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2438400"/>
            <a:ext cx="288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适用于二分类问题的配对检验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74740" y="1828800"/>
            <a:ext cx="3114675" cy="990600"/>
          </a:xfrm>
          <a:custGeom>
            <a:avLst/>
            <a:gdLst/>
            <a:ahLst/>
            <a:cxnLst/>
            <a:rect l="l" t="t" r="r" b="b"/>
            <a:pathLst>
              <a:path w="3114675" h="990600">
                <a:moveTo>
                  <a:pt x="76197" y="0"/>
                </a:moveTo>
                <a:lnTo>
                  <a:pt x="3038478" y="0"/>
                </a:lnTo>
                <a:cubicBezTo>
                  <a:pt x="3080560" y="0"/>
                  <a:pt x="3114675" y="34115"/>
                  <a:pt x="3114675" y="76197"/>
                </a:cubicBezTo>
                <a:lnTo>
                  <a:pt x="3114675" y="914403"/>
                </a:lnTo>
                <a:cubicBezTo>
                  <a:pt x="3114675" y="956485"/>
                  <a:pt x="3080560" y="990600"/>
                  <a:pt x="30384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27140" y="1981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3989040" y="19812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2440" y="203835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Stuart-Maxwell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27140" y="2438400"/>
            <a:ext cx="288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适用于多分类问题的推广形式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3167063"/>
            <a:ext cx="6791325" cy="2600325"/>
          </a:xfrm>
          <a:custGeom>
            <a:avLst/>
            <a:gdLst/>
            <a:ahLst/>
            <a:cxnLst/>
            <a:rect l="l" t="t" r="r" b="b"/>
            <a:pathLst>
              <a:path w="6791325" h="2600325">
                <a:moveTo>
                  <a:pt x="114310" y="0"/>
                </a:moveTo>
                <a:lnTo>
                  <a:pt x="6677015" y="0"/>
                </a:lnTo>
                <a:cubicBezTo>
                  <a:pt x="6740147" y="0"/>
                  <a:pt x="6791325" y="51178"/>
                  <a:pt x="6791325" y="114310"/>
                </a:cubicBezTo>
                <a:lnTo>
                  <a:pt x="6791325" y="2486015"/>
                </a:lnTo>
                <a:cubicBezTo>
                  <a:pt x="6791325" y="2549147"/>
                  <a:pt x="6740147" y="2600325"/>
                  <a:pt x="6677015" y="2600325"/>
                </a:cubicBezTo>
                <a:lnTo>
                  <a:pt x="114310" y="2600325"/>
                </a:lnTo>
                <a:cubicBezTo>
                  <a:pt x="51178" y="2600325"/>
                  <a:pt x="0" y="2549147"/>
                  <a:pt x="0" y="2486015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8650" y="34004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19150" y="3362325"/>
            <a:ext cx="625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检验结果概览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1025" y="3743325"/>
            <a:ext cx="6400800" cy="533400"/>
          </a:xfrm>
          <a:custGeom>
            <a:avLst/>
            <a:gdLst/>
            <a:ahLst/>
            <a:cxnLst/>
            <a:rect l="l" t="t" r="r" b="b"/>
            <a:pathLst>
              <a:path w="6400800" h="533400">
                <a:moveTo>
                  <a:pt x="76202" y="0"/>
                </a:moveTo>
                <a:lnTo>
                  <a:pt x="6324598" y="0"/>
                </a:lnTo>
                <a:cubicBezTo>
                  <a:pt x="6366683" y="0"/>
                  <a:pt x="6400800" y="34117"/>
                  <a:pt x="6400800" y="76202"/>
                </a:cubicBezTo>
                <a:lnTo>
                  <a:pt x="6400800" y="457198"/>
                </a:lnTo>
                <a:cubicBezTo>
                  <a:pt x="6400800" y="499283"/>
                  <a:pt x="6366683" y="533400"/>
                  <a:pt x="63245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695325" y="389572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总检验条目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0686" y="3857625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312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0075" y="4391025"/>
            <a:ext cx="6381750" cy="533400"/>
          </a:xfrm>
          <a:custGeom>
            <a:avLst/>
            <a:gdLst/>
            <a:ahLst/>
            <a:cxnLst/>
            <a:rect l="l" t="t" r="r" b="b"/>
            <a:pathLst>
              <a:path w="6381750" h="533400">
                <a:moveTo>
                  <a:pt x="38100" y="0"/>
                </a:moveTo>
                <a:lnTo>
                  <a:pt x="6305548" y="0"/>
                </a:lnTo>
                <a:cubicBezTo>
                  <a:pt x="6347633" y="0"/>
                  <a:pt x="6381750" y="34117"/>
                  <a:pt x="6381750" y="76202"/>
                </a:cubicBezTo>
                <a:lnTo>
                  <a:pt x="6381750" y="457198"/>
                </a:lnTo>
                <a:cubicBezTo>
                  <a:pt x="6381750" y="499283"/>
                  <a:pt x="6347633" y="533400"/>
                  <a:pt x="63055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5" name="Shape 23"/>
          <p:cNvSpPr/>
          <p:nvPr/>
        </p:nvSpPr>
        <p:spPr>
          <a:xfrm>
            <a:off x="600075" y="4391025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6" name="Text 24"/>
          <p:cNvSpPr/>
          <p:nvPr/>
        </p:nvSpPr>
        <p:spPr>
          <a:xfrm>
            <a:off x="733425" y="4543425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显著（p &lt; 0.05）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0686" y="4505325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0075" y="5038725"/>
            <a:ext cx="6381750" cy="533400"/>
          </a:xfrm>
          <a:custGeom>
            <a:avLst/>
            <a:gdLst/>
            <a:ahLst/>
            <a:cxnLst/>
            <a:rect l="l" t="t" r="r" b="b"/>
            <a:pathLst>
              <a:path w="6381750" h="533400">
                <a:moveTo>
                  <a:pt x="38100" y="0"/>
                </a:moveTo>
                <a:lnTo>
                  <a:pt x="6305548" y="0"/>
                </a:lnTo>
                <a:cubicBezTo>
                  <a:pt x="6347633" y="0"/>
                  <a:pt x="6381750" y="34117"/>
                  <a:pt x="6381750" y="76202"/>
                </a:cubicBezTo>
                <a:lnTo>
                  <a:pt x="6381750" y="457198"/>
                </a:lnTo>
                <a:cubicBezTo>
                  <a:pt x="6381750" y="499283"/>
                  <a:pt x="6347633" y="533400"/>
                  <a:pt x="63055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29" name="Shape 27"/>
          <p:cNvSpPr/>
          <p:nvPr/>
        </p:nvSpPr>
        <p:spPr>
          <a:xfrm>
            <a:off x="600075" y="5038725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0" name="Text 28"/>
          <p:cNvSpPr/>
          <p:nvPr/>
        </p:nvSpPr>
        <p:spPr>
          <a:xfrm>
            <a:off x="733425" y="5191125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不显著（p ≥ 0.05）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22566" y="5153025"/>
            <a:ext cx="257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30380" y="1257300"/>
            <a:ext cx="4476750" cy="2743200"/>
          </a:xfrm>
          <a:custGeom>
            <a:avLst/>
            <a:gdLst/>
            <a:ahLst/>
            <a:cxnLst/>
            <a:rect l="l" t="t" r="r" b="b"/>
            <a:pathLst>
              <a:path w="4476750" h="2743200">
                <a:moveTo>
                  <a:pt x="114309" y="0"/>
                </a:moveTo>
                <a:lnTo>
                  <a:pt x="4362441" y="0"/>
                </a:lnTo>
                <a:cubicBezTo>
                  <a:pt x="4425572" y="0"/>
                  <a:pt x="4476750" y="51178"/>
                  <a:pt x="4476750" y="114309"/>
                </a:cubicBezTo>
                <a:lnTo>
                  <a:pt x="4476750" y="2628891"/>
                </a:lnTo>
                <a:cubicBezTo>
                  <a:pt x="4476750" y="2692022"/>
                  <a:pt x="4425572" y="2743200"/>
                  <a:pt x="4362441" y="2743200"/>
                </a:cubicBezTo>
                <a:lnTo>
                  <a:pt x="114309" y="2743200"/>
                </a:lnTo>
                <a:cubicBezTo>
                  <a:pt x="51178" y="2743200"/>
                  <a:pt x="0" y="2692022"/>
                  <a:pt x="0" y="26288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4A90A4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94699" y="15240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47625"/>
                </a:moveTo>
                <a:cubicBezTo>
                  <a:pt x="71438" y="27911"/>
                  <a:pt x="55432" y="11906"/>
                  <a:pt x="35719" y="11906"/>
                </a:cubicBezTo>
                <a:cubicBezTo>
                  <a:pt x="16005" y="11906"/>
                  <a:pt x="0" y="27911"/>
                  <a:pt x="0" y="47625"/>
                </a:cubicBezTo>
                <a:cubicBezTo>
                  <a:pt x="0" y="67339"/>
                  <a:pt x="16005" y="83344"/>
                  <a:pt x="35719" y="83344"/>
                </a:cubicBezTo>
                <a:cubicBezTo>
                  <a:pt x="55432" y="83344"/>
                  <a:pt x="71438" y="67339"/>
                  <a:pt x="71438" y="47625"/>
                </a:cubicBezTo>
                <a:close/>
                <a:moveTo>
                  <a:pt x="166688" y="142875"/>
                </a:moveTo>
                <a:cubicBezTo>
                  <a:pt x="166688" y="123161"/>
                  <a:pt x="150682" y="107156"/>
                  <a:pt x="130969" y="107156"/>
                </a:cubicBezTo>
                <a:cubicBezTo>
                  <a:pt x="111255" y="107156"/>
                  <a:pt x="95250" y="123161"/>
                  <a:pt x="95250" y="142875"/>
                </a:cubicBezTo>
                <a:cubicBezTo>
                  <a:pt x="95250" y="162589"/>
                  <a:pt x="111255" y="178594"/>
                  <a:pt x="130969" y="178594"/>
                </a:cubicBezTo>
                <a:cubicBezTo>
                  <a:pt x="150682" y="178594"/>
                  <a:pt x="166688" y="162589"/>
                  <a:pt x="166688" y="142875"/>
                </a:cubicBezTo>
                <a:close/>
                <a:moveTo>
                  <a:pt x="163190" y="32221"/>
                </a:moveTo>
                <a:cubicBezTo>
                  <a:pt x="167841" y="27570"/>
                  <a:pt x="167841" y="20017"/>
                  <a:pt x="163190" y="15367"/>
                </a:cubicBezTo>
                <a:cubicBezTo>
                  <a:pt x="158539" y="10716"/>
                  <a:pt x="150986" y="10716"/>
                  <a:pt x="146335" y="15367"/>
                </a:cubicBezTo>
                <a:lnTo>
                  <a:pt x="3460" y="158242"/>
                </a:lnTo>
                <a:cubicBezTo>
                  <a:pt x="-1191" y="162892"/>
                  <a:pt x="-1191" y="170445"/>
                  <a:pt x="3460" y="175096"/>
                </a:cubicBezTo>
                <a:cubicBezTo>
                  <a:pt x="8111" y="179747"/>
                  <a:pt x="15664" y="179747"/>
                  <a:pt x="20315" y="175096"/>
                </a:cubicBezTo>
                <a:lnTo>
                  <a:pt x="163190" y="3222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4" name="Text 32"/>
          <p:cNvSpPr/>
          <p:nvPr/>
        </p:nvSpPr>
        <p:spPr>
          <a:xfrm>
            <a:off x="7797105" y="1485900"/>
            <a:ext cx="3876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显著率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16105" y="1905000"/>
            <a:ext cx="4305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97.4%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16118" y="2552700"/>
            <a:ext cx="410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304/312 条检验显著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58980" y="2971800"/>
            <a:ext cx="4019550" cy="800100"/>
          </a:xfrm>
          <a:custGeom>
            <a:avLst/>
            <a:gdLst/>
            <a:ahLst/>
            <a:cxnLst/>
            <a:rect l="l" t="t" r="r" b="b"/>
            <a:pathLst>
              <a:path w="4019550" h="800100">
                <a:moveTo>
                  <a:pt x="76202" y="0"/>
                </a:moveTo>
                <a:lnTo>
                  <a:pt x="3943348" y="0"/>
                </a:lnTo>
                <a:cubicBezTo>
                  <a:pt x="3985433" y="0"/>
                  <a:pt x="4019550" y="34117"/>
                  <a:pt x="4019550" y="76202"/>
                </a:cubicBezTo>
                <a:lnTo>
                  <a:pt x="4019550" y="723898"/>
                </a:lnTo>
                <a:cubicBezTo>
                  <a:pt x="4019550" y="765983"/>
                  <a:pt x="3985433" y="800100"/>
                  <a:pt x="39433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711380" y="3124200"/>
            <a:ext cx="3790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绝大多数设置均达到统计显著，</a:t>
            </a: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支持"偏移是系统性的、可重复的"</a:t>
            </a: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，而非偶然噪声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49430" y="4152900"/>
            <a:ext cx="4457700" cy="1257300"/>
          </a:xfrm>
          <a:custGeom>
            <a:avLst/>
            <a:gdLst/>
            <a:ahLst/>
            <a:cxnLst/>
            <a:rect l="l" t="t" r="r" b="b"/>
            <a:pathLst>
              <a:path w="4457700" h="1257300">
                <a:moveTo>
                  <a:pt x="38100" y="0"/>
                </a:moveTo>
                <a:lnTo>
                  <a:pt x="4343399" y="0"/>
                </a:lnTo>
                <a:cubicBezTo>
                  <a:pt x="4406483" y="0"/>
                  <a:pt x="4457700" y="51217"/>
                  <a:pt x="4457700" y="114301"/>
                </a:cubicBezTo>
                <a:lnTo>
                  <a:pt x="4457700" y="1142999"/>
                </a:lnTo>
                <a:cubicBezTo>
                  <a:pt x="4457700" y="1206083"/>
                  <a:pt x="4406483" y="1257300"/>
                  <a:pt x="4343399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0" name="Shape 38"/>
          <p:cNvSpPr/>
          <p:nvPr/>
        </p:nvSpPr>
        <p:spPr>
          <a:xfrm>
            <a:off x="7349430" y="41529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7582793" y="4391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45541"/>
                </a:moveTo>
                <a:cubicBezTo>
                  <a:pt x="90179" y="45541"/>
                  <a:pt x="93762" y="49124"/>
                  <a:pt x="93762" y="53578"/>
                </a:cubicBezTo>
                <a:lnTo>
                  <a:pt x="93762" y="91083"/>
                </a:lnTo>
                <a:cubicBezTo>
                  <a:pt x="93762" y="95536"/>
                  <a:pt x="90179" y="99120"/>
                  <a:pt x="85725" y="99120"/>
                </a:cubicBezTo>
                <a:cubicBezTo>
                  <a:pt x="81271" y="99120"/>
                  <a:pt x="77688" y="95536"/>
                  <a:pt x="77688" y="91083"/>
                </a:cubicBezTo>
                <a:lnTo>
                  <a:pt x="77688" y="53578"/>
                </a:lnTo>
                <a:cubicBezTo>
                  <a:pt x="77688" y="49124"/>
                  <a:pt x="81271" y="45541"/>
                  <a:pt x="85725" y="45541"/>
                </a:cubicBezTo>
                <a:close/>
                <a:moveTo>
                  <a:pt x="76784" y="117872"/>
                </a:moveTo>
                <a:cubicBezTo>
                  <a:pt x="76581" y="114553"/>
                  <a:pt x="78236" y="111396"/>
                  <a:pt x="81081" y="109675"/>
                </a:cubicBezTo>
                <a:cubicBezTo>
                  <a:pt x="83926" y="107954"/>
                  <a:pt x="87491" y="107954"/>
                  <a:pt x="90336" y="109675"/>
                </a:cubicBezTo>
                <a:cubicBezTo>
                  <a:pt x="93181" y="111396"/>
                  <a:pt x="94836" y="114553"/>
                  <a:pt x="94632" y="117872"/>
                </a:cubicBezTo>
                <a:cubicBezTo>
                  <a:pt x="94836" y="121191"/>
                  <a:pt x="93181" y="124348"/>
                  <a:pt x="90336" y="126069"/>
                </a:cubicBezTo>
                <a:cubicBezTo>
                  <a:pt x="87491" y="127790"/>
                  <a:pt x="83926" y="127790"/>
                  <a:pt x="81081" y="126069"/>
                </a:cubicBezTo>
                <a:cubicBezTo>
                  <a:pt x="78236" y="124348"/>
                  <a:pt x="76581" y="121191"/>
                  <a:pt x="76784" y="11787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2" name="Text 40"/>
          <p:cNvSpPr/>
          <p:nvPr/>
        </p:nvSpPr>
        <p:spPr>
          <a:xfrm>
            <a:off x="7778055" y="4343400"/>
            <a:ext cx="392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不显著特例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58980" y="4724400"/>
            <a:ext cx="4133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不显著条目仅集中在</a:t>
            </a:r>
            <a:r>
              <a:rPr lang="en-US" sz="1200" b="1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4组特例</a:t>
            </a: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，每组包含run-001/002两条，涉及特定模型、维度、数据集和子模型的组合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00050" y="5924550"/>
            <a:ext cx="11410950" cy="571500"/>
          </a:xfrm>
          <a:custGeom>
            <a:avLst/>
            <a:gdLst/>
            <a:ahLst/>
            <a:cxnLst/>
            <a:rect l="l" t="t" r="r" b="b"/>
            <a:pathLst>
              <a:path w="11410950" h="571500">
                <a:moveTo>
                  <a:pt x="38100" y="0"/>
                </a:moveTo>
                <a:lnTo>
                  <a:pt x="11296650" y="0"/>
                </a:lnTo>
                <a:cubicBezTo>
                  <a:pt x="11359734" y="0"/>
                  <a:pt x="11410950" y="51216"/>
                  <a:pt x="11410950" y="114300"/>
                </a:cubicBezTo>
                <a:lnTo>
                  <a:pt x="11410950" y="457200"/>
                </a:lnTo>
                <a:cubicBezTo>
                  <a:pt x="11410950" y="520284"/>
                  <a:pt x="11359734" y="571500"/>
                  <a:pt x="11296650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45" name="Shape 43"/>
          <p:cNvSpPr/>
          <p:nvPr/>
        </p:nvSpPr>
        <p:spPr>
          <a:xfrm>
            <a:off x="400050" y="59245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6" name="Shape 44"/>
          <p:cNvSpPr/>
          <p:nvPr/>
        </p:nvSpPr>
        <p:spPr>
          <a:xfrm>
            <a:off x="595313" y="6115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47" name="Text 45"/>
          <p:cNvSpPr/>
          <p:nvPr/>
        </p:nvSpPr>
        <p:spPr>
          <a:xfrm>
            <a:off x="923925" y="6076950"/>
            <a:ext cx="670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166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核心结论：</a:t>
            </a:r>
            <a:r>
              <a:rPr lang="en-US" sz="1350" dirty="0">
                <a:solidFill>
                  <a:srgbClr val="0166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除4组特例外，绝大多数设置均达到统计显著，偏移是系统性、可重复的现象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McNemar检验：二分类情形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评估两个相关样本分类器性能差异的配对检验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600700" cy="3133725"/>
          </a:xfrm>
          <a:custGeom>
            <a:avLst/>
            <a:gdLst/>
            <a:ahLst/>
            <a:cxnLst/>
            <a:rect l="l" t="t" r="r" b="b"/>
            <a:pathLst>
              <a:path w="5600700" h="3133725">
                <a:moveTo>
                  <a:pt x="38100" y="0"/>
                </a:moveTo>
                <a:lnTo>
                  <a:pt x="5486413" y="0"/>
                </a:lnTo>
                <a:cubicBezTo>
                  <a:pt x="5549532" y="0"/>
                  <a:pt x="5600700" y="51168"/>
                  <a:pt x="5600700" y="114287"/>
                </a:cubicBezTo>
                <a:lnTo>
                  <a:pt x="5600700" y="3019438"/>
                </a:lnTo>
                <a:cubicBezTo>
                  <a:pt x="5600700" y="3082557"/>
                  <a:pt x="5549532" y="3133725"/>
                  <a:pt x="5486413" y="3133725"/>
                </a:cubicBezTo>
                <a:lnTo>
                  <a:pt x="38100" y="3133725"/>
                </a:lnTo>
                <a:cubicBezTo>
                  <a:pt x="17072" y="3133725"/>
                  <a:pt x="0" y="3116653"/>
                  <a:pt x="0" y="3095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3133725"/>
          </a:xfrm>
          <a:custGeom>
            <a:avLst/>
            <a:gdLst/>
            <a:ahLst/>
            <a:cxnLst/>
            <a:rect l="l" t="t" r="r" b="b"/>
            <a:pathLst>
              <a:path w="38100" h="3133725">
                <a:moveTo>
                  <a:pt x="38100" y="0"/>
                </a:moveTo>
                <a:lnTo>
                  <a:pt x="38100" y="0"/>
                </a:lnTo>
                <a:lnTo>
                  <a:pt x="38100" y="3133725"/>
                </a:lnTo>
                <a:lnTo>
                  <a:pt x="38100" y="3133725"/>
                </a:lnTo>
                <a:cubicBezTo>
                  <a:pt x="17072" y="3133725"/>
                  <a:pt x="0" y="3116653"/>
                  <a:pt x="0" y="3095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6" name="Shape 4"/>
          <p:cNvSpPr/>
          <p:nvPr/>
        </p:nvSpPr>
        <p:spPr>
          <a:xfrm>
            <a:off x="645319" y="14859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7" name="Text 5"/>
          <p:cNvSpPr/>
          <p:nvPr/>
        </p:nvSpPr>
        <p:spPr>
          <a:xfrm>
            <a:off x="847725" y="1447800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2×2列联表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1828800"/>
            <a:ext cx="5200650" cy="1457325"/>
          </a:xfrm>
          <a:custGeom>
            <a:avLst/>
            <a:gdLst/>
            <a:ahLst/>
            <a:cxnLst/>
            <a:rect l="l" t="t" r="r" b="b"/>
            <a:pathLst>
              <a:path w="5200650" h="1457325">
                <a:moveTo>
                  <a:pt x="76204" y="0"/>
                </a:moveTo>
                <a:lnTo>
                  <a:pt x="5124446" y="0"/>
                </a:lnTo>
                <a:cubicBezTo>
                  <a:pt x="5166533" y="0"/>
                  <a:pt x="5200650" y="34117"/>
                  <a:pt x="5200650" y="76204"/>
                </a:cubicBezTo>
                <a:lnTo>
                  <a:pt x="5200650" y="1381121"/>
                </a:lnTo>
                <a:cubicBezTo>
                  <a:pt x="5200650" y="1423208"/>
                  <a:pt x="5166533" y="1457325"/>
                  <a:pt x="5124446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81200"/>
          <a:ext cx="4895850" cy="1152525"/>
        </p:xfrm>
        <a:graphic>
          <a:graphicData uri="http://schemas.openxmlformats.org/drawingml/2006/table">
            <a:tbl>
              <a:tblPr/>
              <a:tblGrid>
                <a:gridCol w="216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175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A\B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E07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E07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7"/>
          <p:cNvSpPr/>
          <p:nvPr/>
        </p:nvSpPr>
        <p:spPr>
          <a:xfrm>
            <a:off x="609600" y="3400425"/>
            <a:ext cx="5200650" cy="800100"/>
          </a:xfrm>
          <a:custGeom>
            <a:avLst/>
            <a:gdLst/>
            <a:ahLst/>
            <a:cxnLst/>
            <a:rect l="l" t="t" r="r" b="b"/>
            <a:pathLst>
              <a:path w="5200650" h="8001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723898"/>
                </a:lnTo>
                <a:cubicBezTo>
                  <a:pt x="5200650" y="765983"/>
                  <a:pt x="5166533" y="800100"/>
                  <a:pt x="51244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2000" y="3552825"/>
            <a:ext cx="4972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b, c:</a:t>
            </a: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两模型预测不一致的样本数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A9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 = b + c:</a:t>
            </a: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不一致样本总数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5763" y="4548188"/>
            <a:ext cx="5610225" cy="1266825"/>
          </a:xfrm>
          <a:custGeom>
            <a:avLst/>
            <a:gdLst/>
            <a:ahLst/>
            <a:cxnLst/>
            <a:rect l="l" t="t" r="r" b="b"/>
            <a:pathLst>
              <a:path w="5610225" h="1266825">
                <a:moveTo>
                  <a:pt x="114306" y="0"/>
                </a:moveTo>
                <a:lnTo>
                  <a:pt x="5495919" y="0"/>
                </a:lnTo>
                <a:cubicBezTo>
                  <a:pt x="5559049" y="0"/>
                  <a:pt x="5610225" y="51176"/>
                  <a:pt x="5610225" y="114306"/>
                </a:cubicBezTo>
                <a:lnTo>
                  <a:pt x="5610225" y="1152519"/>
                </a:lnTo>
                <a:cubicBezTo>
                  <a:pt x="5610225" y="1215649"/>
                  <a:pt x="5559049" y="1266825"/>
                  <a:pt x="549591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8650" y="47815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1"/>
          <p:cNvSpPr/>
          <p:nvPr/>
        </p:nvSpPr>
        <p:spPr>
          <a:xfrm>
            <a:off x="819150" y="474345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1025" y="512445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仅关注</a:t>
            </a:r>
            <a:r>
              <a:rPr lang="en-US" sz="1200" b="1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两模型预测不一致</a:t>
            </a: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的样本。若H₀成立（两模型性能相同），则不一致样本中偏向A或B的概率应各为50%。若观察到显著偏向某一方向，则拒绝H₀。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91250" y="1257300"/>
            <a:ext cx="5619750" cy="3962400"/>
          </a:xfrm>
          <a:custGeom>
            <a:avLst/>
            <a:gdLst/>
            <a:ahLst/>
            <a:cxnLst/>
            <a:rect l="l" t="t" r="r" b="b"/>
            <a:pathLst>
              <a:path w="5619750" h="3962400">
                <a:moveTo>
                  <a:pt x="114315" y="0"/>
                </a:moveTo>
                <a:lnTo>
                  <a:pt x="5505435" y="0"/>
                </a:lnTo>
                <a:cubicBezTo>
                  <a:pt x="5568569" y="0"/>
                  <a:pt x="5619750" y="51181"/>
                  <a:pt x="5619750" y="114315"/>
                </a:cubicBezTo>
                <a:lnTo>
                  <a:pt x="5619750" y="3848085"/>
                </a:lnTo>
                <a:cubicBezTo>
                  <a:pt x="5619750" y="3911219"/>
                  <a:pt x="5568569" y="3962400"/>
                  <a:pt x="5505435" y="3962400"/>
                </a:cubicBezTo>
                <a:lnTo>
                  <a:pt x="114315" y="3962400"/>
                </a:lnTo>
                <a:cubicBezTo>
                  <a:pt x="51181" y="3962400"/>
                  <a:pt x="0" y="3911219"/>
                  <a:pt x="0" y="3848085"/>
                </a:cubicBezTo>
                <a:lnTo>
                  <a:pt x="0" y="114315"/>
                </a:lnTo>
                <a:cubicBezTo>
                  <a:pt x="0" y="51181"/>
                  <a:pt x="51181" y="0"/>
                  <a:pt x="114315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4A90A4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67475" y="15240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5"/>
          <p:cNvSpPr/>
          <p:nvPr/>
        </p:nvSpPr>
        <p:spPr>
          <a:xfrm>
            <a:off x="6657975" y="1485900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检验统计量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19850" y="1905000"/>
            <a:ext cx="5162550" cy="1333500"/>
          </a:xfrm>
          <a:custGeom>
            <a:avLst/>
            <a:gdLst/>
            <a:ahLst/>
            <a:cxnLst/>
            <a:rect l="l" t="t" r="r" b="b"/>
            <a:pathLst>
              <a:path w="5162550" h="1333500">
                <a:moveTo>
                  <a:pt x="76196" y="0"/>
                </a:moveTo>
                <a:lnTo>
                  <a:pt x="5086354" y="0"/>
                </a:lnTo>
                <a:cubicBezTo>
                  <a:pt x="5128436" y="0"/>
                  <a:pt x="5162550" y="34114"/>
                  <a:pt x="5162550" y="76196"/>
                </a:cubicBezTo>
                <a:lnTo>
                  <a:pt x="5162550" y="1257304"/>
                </a:lnTo>
                <a:cubicBezTo>
                  <a:pt x="5162550" y="1299386"/>
                  <a:pt x="5128436" y="1333500"/>
                  <a:pt x="5086354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610350" y="2095500"/>
            <a:ext cx="486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当b + c &gt; 25时，使用卡方近似：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610350" y="2476500"/>
            <a:ext cx="4781550" cy="571500"/>
          </a:xfrm>
          <a:custGeom>
            <a:avLst/>
            <a:gdLst/>
            <a:ahLst/>
            <a:cxnLst/>
            <a:rect l="l" t="t" r="r" b="b"/>
            <a:pathLst>
              <a:path w="4781550" h="571500">
                <a:moveTo>
                  <a:pt x="76198" y="0"/>
                </a:moveTo>
                <a:lnTo>
                  <a:pt x="4705352" y="0"/>
                </a:lnTo>
                <a:cubicBezTo>
                  <a:pt x="4747435" y="0"/>
                  <a:pt x="4781550" y="34115"/>
                  <a:pt x="4781550" y="76198"/>
                </a:cubicBezTo>
                <a:lnTo>
                  <a:pt x="4781550" y="495302"/>
                </a:lnTo>
                <a:cubicBezTo>
                  <a:pt x="4781550" y="537385"/>
                  <a:pt x="4747435" y="571500"/>
                  <a:pt x="47053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538913" y="2476500"/>
            <a:ext cx="4924425" cy="571500"/>
          </a:xfrm>
          <a:prstGeom prst="rect">
            <a:avLst/>
          </a:prstGeom>
          <a:noFill/>
          <a:ln/>
        </p:spPr>
        <p:txBody>
          <a:bodyPr wrap="square" lIns="0" tIns="114300" rIns="0" bIns="11430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χ² = </a:t>
            </a:r>
            <a:r>
              <a:rPr lang="en-US" sz="2250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(b − c)²</a:t>
            </a: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/ (b + c)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19850" y="3390900"/>
            <a:ext cx="5162550" cy="1600200"/>
          </a:xfrm>
          <a:custGeom>
            <a:avLst/>
            <a:gdLst/>
            <a:ahLst/>
            <a:cxnLst/>
            <a:rect l="l" t="t" r="r" b="b"/>
            <a:pathLst>
              <a:path w="5162550" h="1600200">
                <a:moveTo>
                  <a:pt x="76202" y="0"/>
                </a:moveTo>
                <a:lnTo>
                  <a:pt x="5086348" y="0"/>
                </a:lnTo>
                <a:cubicBezTo>
                  <a:pt x="5128433" y="0"/>
                  <a:pt x="5162550" y="34117"/>
                  <a:pt x="5162550" y="76202"/>
                </a:cubicBezTo>
                <a:lnTo>
                  <a:pt x="5162550" y="1523998"/>
                </a:lnTo>
                <a:cubicBezTo>
                  <a:pt x="5162550" y="1566083"/>
                  <a:pt x="5128433" y="1600200"/>
                  <a:pt x="5086348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610350" y="3581400"/>
            <a:ext cx="486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当b + c ≤ 25时，使用精确二项检验：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610350" y="3962400"/>
            <a:ext cx="4781550" cy="533400"/>
          </a:xfrm>
          <a:custGeom>
            <a:avLst/>
            <a:gdLst/>
            <a:ahLst/>
            <a:cxnLst/>
            <a:rect l="l" t="t" r="r" b="b"/>
            <a:pathLst>
              <a:path w="4781550" h="533400">
                <a:moveTo>
                  <a:pt x="76202" y="0"/>
                </a:moveTo>
                <a:lnTo>
                  <a:pt x="4705348" y="0"/>
                </a:lnTo>
                <a:cubicBezTo>
                  <a:pt x="4747433" y="0"/>
                  <a:pt x="4781550" y="34117"/>
                  <a:pt x="4781550" y="76202"/>
                </a:cubicBezTo>
                <a:lnTo>
                  <a:pt x="4781550" y="457198"/>
                </a:lnTo>
                <a:cubicBezTo>
                  <a:pt x="4781550" y="499283"/>
                  <a:pt x="4747433" y="533400"/>
                  <a:pt x="47053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553200" y="3962400"/>
            <a:ext cx="4895850" cy="533400"/>
          </a:xfrm>
          <a:prstGeom prst="rect">
            <a:avLst/>
          </a:prstGeom>
          <a:noFill/>
          <a:ln/>
        </p:spPr>
        <p:txBody>
          <a:bodyPr wrap="square" lIns="0" tIns="114300" rIns="0" bIns="11430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 = 2 × P(X ≤ min(b,c))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572250" y="4572000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~ Binomial(n, 0.5)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210300" y="5372100"/>
            <a:ext cx="5600700" cy="1447800"/>
          </a:xfrm>
          <a:custGeom>
            <a:avLst/>
            <a:gdLst/>
            <a:ahLst/>
            <a:cxnLst/>
            <a:rect l="l" t="t" r="r" b="b"/>
            <a:pathLst>
              <a:path w="5600700" h="1447800">
                <a:moveTo>
                  <a:pt x="38100" y="0"/>
                </a:moveTo>
                <a:lnTo>
                  <a:pt x="5486396" y="0"/>
                </a:lnTo>
                <a:cubicBezTo>
                  <a:pt x="5549524" y="0"/>
                  <a:pt x="5600700" y="51176"/>
                  <a:pt x="5600700" y="114304"/>
                </a:cubicBezTo>
                <a:lnTo>
                  <a:pt x="5600700" y="1333496"/>
                </a:lnTo>
                <a:cubicBezTo>
                  <a:pt x="5600700" y="1396624"/>
                  <a:pt x="5549524" y="1447800"/>
                  <a:pt x="5486396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9" name="Shape 26"/>
          <p:cNvSpPr/>
          <p:nvPr/>
        </p:nvSpPr>
        <p:spPr>
          <a:xfrm>
            <a:off x="6210300" y="53721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0" name="Shape 27"/>
          <p:cNvSpPr/>
          <p:nvPr/>
        </p:nvSpPr>
        <p:spPr>
          <a:xfrm>
            <a:off x="646509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83682" y="22369"/>
                </a:moveTo>
                <a:cubicBezTo>
                  <a:pt x="87165" y="17580"/>
                  <a:pt x="86093" y="10883"/>
                  <a:pt x="81305" y="7400"/>
                </a:cubicBezTo>
                <a:cubicBezTo>
                  <a:pt x="76516" y="3918"/>
                  <a:pt x="69819" y="4989"/>
                  <a:pt x="66336" y="9778"/>
                </a:cubicBezTo>
                <a:lnTo>
                  <a:pt x="30841" y="58568"/>
                </a:lnTo>
                <a:lnTo>
                  <a:pt x="18284" y="46010"/>
                </a:lnTo>
                <a:cubicBezTo>
                  <a:pt x="14098" y="41824"/>
                  <a:pt x="7300" y="41824"/>
                  <a:pt x="3114" y="46010"/>
                </a:cubicBezTo>
                <a:cubicBezTo>
                  <a:pt x="-1072" y="50196"/>
                  <a:pt x="-1072" y="56994"/>
                  <a:pt x="3114" y="61180"/>
                </a:cubicBezTo>
                <a:lnTo>
                  <a:pt x="24545" y="82611"/>
                </a:lnTo>
                <a:cubicBezTo>
                  <a:pt x="26756" y="84821"/>
                  <a:pt x="29836" y="85959"/>
                  <a:pt x="32951" y="85725"/>
                </a:cubicBezTo>
                <a:cubicBezTo>
                  <a:pt x="36065" y="85491"/>
                  <a:pt x="38945" y="83883"/>
                  <a:pt x="40786" y="81338"/>
                </a:cubicBezTo>
                <a:lnTo>
                  <a:pt x="83649" y="22402"/>
                </a:lnTo>
                <a:close/>
                <a:moveTo>
                  <a:pt x="126545" y="67910"/>
                </a:moveTo>
                <a:cubicBezTo>
                  <a:pt x="130027" y="63122"/>
                  <a:pt x="128956" y="56424"/>
                  <a:pt x="124167" y="52942"/>
                </a:cubicBezTo>
                <a:cubicBezTo>
                  <a:pt x="119379" y="49459"/>
                  <a:pt x="112681" y="50531"/>
                  <a:pt x="109199" y="55319"/>
                </a:cubicBezTo>
                <a:lnTo>
                  <a:pt x="52272" y="133577"/>
                </a:lnTo>
                <a:lnTo>
                  <a:pt x="28999" y="110304"/>
                </a:lnTo>
                <a:cubicBezTo>
                  <a:pt x="24813" y="106118"/>
                  <a:pt x="18016" y="106118"/>
                  <a:pt x="13830" y="110304"/>
                </a:cubicBezTo>
                <a:cubicBezTo>
                  <a:pt x="9644" y="114490"/>
                  <a:pt x="9644" y="121287"/>
                  <a:pt x="13830" y="125473"/>
                </a:cubicBezTo>
                <a:lnTo>
                  <a:pt x="45977" y="157620"/>
                </a:lnTo>
                <a:cubicBezTo>
                  <a:pt x="48187" y="159830"/>
                  <a:pt x="51268" y="160969"/>
                  <a:pt x="54382" y="160734"/>
                </a:cubicBezTo>
                <a:cubicBezTo>
                  <a:pt x="57496" y="160500"/>
                  <a:pt x="60376" y="158893"/>
                  <a:pt x="62218" y="156348"/>
                </a:cubicBezTo>
                <a:lnTo>
                  <a:pt x="126511" y="6794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Text 28"/>
          <p:cNvSpPr/>
          <p:nvPr/>
        </p:nvSpPr>
        <p:spPr>
          <a:xfrm>
            <a:off x="6638925" y="5562600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决策规则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419850" y="594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3" name="Text 30"/>
          <p:cNvSpPr/>
          <p:nvPr/>
        </p:nvSpPr>
        <p:spPr>
          <a:xfrm>
            <a:off x="6386513" y="594360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838950" y="5981700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 &lt; 0.05:</a:t>
            </a: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拒绝H₀，差异显著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419850" y="6324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6" name="Text 33"/>
          <p:cNvSpPr/>
          <p:nvPr/>
        </p:nvSpPr>
        <p:spPr>
          <a:xfrm>
            <a:off x="6386513" y="632460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✗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838950" y="6362700"/>
            <a:ext cx="2352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 ≥ 0.05:</a:t>
            </a: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不拒绝H₀，差异不显著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Stuart-Maxwell检验：多分类情形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McNemar检验向K分类问题的推广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600700" cy="3448050"/>
          </a:xfrm>
          <a:custGeom>
            <a:avLst/>
            <a:gdLst/>
            <a:ahLst/>
            <a:cxnLst/>
            <a:rect l="l" t="t" r="r" b="b"/>
            <a:pathLst>
              <a:path w="5600700" h="3448050">
                <a:moveTo>
                  <a:pt x="38100" y="0"/>
                </a:moveTo>
                <a:lnTo>
                  <a:pt x="5486397" y="0"/>
                </a:lnTo>
                <a:cubicBezTo>
                  <a:pt x="5549483" y="0"/>
                  <a:pt x="5600700" y="51217"/>
                  <a:pt x="5600700" y="114303"/>
                </a:cubicBezTo>
                <a:lnTo>
                  <a:pt x="5600700" y="3333747"/>
                </a:lnTo>
                <a:cubicBezTo>
                  <a:pt x="5600700" y="3396833"/>
                  <a:pt x="5549483" y="3448050"/>
                  <a:pt x="5486397" y="3448050"/>
                </a:cubicBezTo>
                <a:lnTo>
                  <a:pt x="38100" y="3448050"/>
                </a:lnTo>
                <a:cubicBezTo>
                  <a:pt x="17058" y="3448050"/>
                  <a:pt x="0" y="3430992"/>
                  <a:pt x="0" y="3409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3448050"/>
          </a:xfrm>
          <a:custGeom>
            <a:avLst/>
            <a:gdLst/>
            <a:ahLst/>
            <a:cxnLst/>
            <a:rect l="l" t="t" r="r" b="b"/>
            <a:pathLst>
              <a:path w="38100" h="3448050">
                <a:moveTo>
                  <a:pt x="38100" y="0"/>
                </a:moveTo>
                <a:lnTo>
                  <a:pt x="38100" y="0"/>
                </a:lnTo>
                <a:lnTo>
                  <a:pt x="38100" y="3448050"/>
                </a:lnTo>
                <a:lnTo>
                  <a:pt x="38100" y="3448050"/>
                </a:lnTo>
                <a:cubicBezTo>
                  <a:pt x="17072" y="3448050"/>
                  <a:pt x="0" y="3430978"/>
                  <a:pt x="0" y="3409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6" name="Shape 4"/>
          <p:cNvSpPr/>
          <p:nvPr/>
        </p:nvSpPr>
        <p:spPr>
          <a:xfrm>
            <a:off x="645319" y="14859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7" name="Text 5"/>
          <p:cNvSpPr/>
          <p:nvPr/>
        </p:nvSpPr>
        <p:spPr>
          <a:xfrm>
            <a:off x="847725" y="1447800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K×K列联表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1828800"/>
            <a:ext cx="5200650" cy="1847850"/>
          </a:xfrm>
          <a:custGeom>
            <a:avLst/>
            <a:gdLst/>
            <a:ahLst/>
            <a:cxnLst/>
            <a:rect l="l" t="t" r="r" b="b"/>
            <a:pathLst>
              <a:path w="5200650" h="1847850">
                <a:moveTo>
                  <a:pt x="76205" y="0"/>
                </a:moveTo>
                <a:lnTo>
                  <a:pt x="5124445" y="0"/>
                </a:lnTo>
                <a:cubicBezTo>
                  <a:pt x="5166532" y="0"/>
                  <a:pt x="5200650" y="34118"/>
                  <a:pt x="5200650" y="76205"/>
                </a:cubicBezTo>
                <a:lnTo>
                  <a:pt x="5200650" y="1771645"/>
                </a:lnTo>
                <a:cubicBezTo>
                  <a:pt x="5200650" y="1813732"/>
                  <a:pt x="5166532" y="1847850"/>
                  <a:pt x="5124445" y="1847850"/>
                </a:cubicBezTo>
                <a:lnTo>
                  <a:pt x="76205" y="1847850"/>
                </a:lnTo>
                <a:cubicBezTo>
                  <a:pt x="34118" y="1847850"/>
                  <a:pt x="0" y="1813732"/>
                  <a:pt x="0" y="17716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81200"/>
          <a:ext cx="4895850" cy="1543052"/>
        </p:xfrm>
        <a:graphic>
          <a:graphicData uri="http://schemas.openxmlformats.org/drawingml/2006/table">
            <a:tbl>
              <a:tblPr/>
              <a:tblGrid>
                <a:gridCol w="145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763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A\B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...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763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n₀₀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E07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n₀₁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...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763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E07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n₁₀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n₁₁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...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763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...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...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...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...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09600" y="3790950"/>
            <a:ext cx="2543175" cy="723900"/>
          </a:xfrm>
          <a:custGeom>
            <a:avLst/>
            <a:gdLst/>
            <a:ahLst/>
            <a:cxnLst/>
            <a:rect l="l" t="t" r="r" b="b"/>
            <a:pathLst>
              <a:path w="2543175" h="723900">
                <a:moveTo>
                  <a:pt x="76198" y="0"/>
                </a:moveTo>
                <a:lnTo>
                  <a:pt x="2466977" y="0"/>
                </a:lnTo>
                <a:cubicBezTo>
                  <a:pt x="2509032" y="0"/>
                  <a:pt x="2543175" y="34143"/>
                  <a:pt x="2543175" y="76198"/>
                </a:cubicBezTo>
                <a:lnTo>
                  <a:pt x="2543175" y="647702"/>
                </a:lnTo>
                <a:cubicBezTo>
                  <a:pt x="2543175" y="689757"/>
                  <a:pt x="2509032" y="723900"/>
                  <a:pt x="24669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0563" y="390525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行和（A边际）</a:t>
            </a:r>
            <a:endParaRPr lang="en-US" sz="1600" dirty="0"/>
          </a:p>
        </p:txBody>
      </p:sp>
      <p:sp>
        <p:nvSpPr>
          <p:cNvPr id="9" name="Text 9"/>
          <p:cNvSpPr/>
          <p:nvPr/>
        </p:nvSpPr>
        <p:spPr>
          <a:xfrm>
            <a:off x="681038" y="4133850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9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rᵢ = Σⱼ nᵢⱼ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67075" y="3790950"/>
            <a:ext cx="2543175" cy="723900"/>
          </a:xfrm>
          <a:custGeom>
            <a:avLst/>
            <a:gdLst/>
            <a:ahLst/>
            <a:cxnLst/>
            <a:rect l="l" t="t" r="r" b="b"/>
            <a:pathLst>
              <a:path w="2543175" h="723900">
                <a:moveTo>
                  <a:pt x="76198" y="0"/>
                </a:moveTo>
                <a:lnTo>
                  <a:pt x="2466977" y="0"/>
                </a:lnTo>
                <a:cubicBezTo>
                  <a:pt x="2509032" y="0"/>
                  <a:pt x="2543175" y="34143"/>
                  <a:pt x="2543175" y="76198"/>
                </a:cubicBezTo>
                <a:lnTo>
                  <a:pt x="2543175" y="647702"/>
                </a:lnTo>
                <a:cubicBezTo>
                  <a:pt x="2543175" y="689757"/>
                  <a:pt x="2509032" y="723900"/>
                  <a:pt x="24669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48038" y="390525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列和（B边际）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338513" y="4133850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90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cⱼ = Σᵢ nᵢⱼ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5763" y="4862513"/>
            <a:ext cx="5610225" cy="1628775"/>
          </a:xfrm>
          <a:custGeom>
            <a:avLst/>
            <a:gdLst/>
            <a:ahLst/>
            <a:cxnLst/>
            <a:rect l="l" t="t" r="r" b="b"/>
            <a:pathLst>
              <a:path w="5610225" h="162877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514468"/>
                </a:lnTo>
                <a:cubicBezTo>
                  <a:pt x="5610225" y="1577598"/>
                  <a:pt x="5559048" y="1628775"/>
                  <a:pt x="5495918" y="1628775"/>
                </a:cubicBezTo>
                <a:lnTo>
                  <a:pt x="114307" y="1628775"/>
                </a:lnTo>
                <a:cubicBezTo>
                  <a:pt x="51177" y="1628775"/>
                  <a:pt x="0" y="1577598"/>
                  <a:pt x="0" y="15144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4838" y="5105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2067" y="76516"/>
                </a:moveTo>
                <a:cubicBezTo>
                  <a:pt x="26521" y="45374"/>
                  <a:pt x="53344" y="21431"/>
                  <a:pt x="85725" y="21431"/>
                </a:cubicBezTo>
                <a:cubicBezTo>
                  <a:pt x="103473" y="21431"/>
                  <a:pt x="119546" y="28631"/>
                  <a:pt x="131199" y="40251"/>
                </a:cubicBezTo>
                <a:cubicBezTo>
                  <a:pt x="131266" y="40318"/>
                  <a:pt x="131333" y="40385"/>
                  <a:pt x="131400" y="40451"/>
                </a:cubicBezTo>
                <a:lnTo>
                  <a:pt x="133945" y="42863"/>
                </a:lnTo>
                <a:lnTo>
                  <a:pt x="117905" y="42863"/>
                </a:lnTo>
                <a:cubicBezTo>
                  <a:pt x="111978" y="42863"/>
                  <a:pt x="107190" y="47651"/>
                  <a:pt x="107190" y="53578"/>
                </a:cubicBezTo>
                <a:cubicBezTo>
                  <a:pt x="107190" y="59505"/>
                  <a:pt x="111978" y="64294"/>
                  <a:pt x="117905" y="64294"/>
                </a:cubicBezTo>
                <a:lnTo>
                  <a:pt x="160768" y="64294"/>
                </a:lnTo>
                <a:cubicBezTo>
                  <a:pt x="166695" y="64294"/>
                  <a:pt x="171483" y="59505"/>
                  <a:pt x="171483" y="53578"/>
                </a:cubicBezTo>
                <a:lnTo>
                  <a:pt x="171483" y="10716"/>
                </a:lnTo>
                <a:cubicBezTo>
                  <a:pt x="171483" y="4789"/>
                  <a:pt x="166695" y="0"/>
                  <a:pt x="160768" y="0"/>
                </a:cubicBezTo>
                <a:cubicBezTo>
                  <a:pt x="154841" y="0"/>
                  <a:pt x="150052" y="4789"/>
                  <a:pt x="150052" y="10716"/>
                </a:cubicBezTo>
                <a:lnTo>
                  <a:pt x="150052" y="28597"/>
                </a:lnTo>
                <a:lnTo>
                  <a:pt x="146268" y="25014"/>
                </a:lnTo>
                <a:cubicBezTo>
                  <a:pt x="130764" y="9577"/>
                  <a:pt x="109333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lose/>
                <a:moveTo>
                  <a:pt x="170579" y="97948"/>
                </a:moveTo>
                <a:cubicBezTo>
                  <a:pt x="171417" y="92087"/>
                  <a:pt x="167331" y="86663"/>
                  <a:pt x="161505" y="85825"/>
                </a:cubicBezTo>
                <a:cubicBezTo>
                  <a:pt x="155678" y="84988"/>
                  <a:pt x="150220" y="89074"/>
                  <a:pt x="149383" y="94900"/>
                </a:cubicBezTo>
                <a:cubicBezTo>
                  <a:pt x="144929" y="126043"/>
                  <a:pt x="118106" y="149985"/>
                  <a:pt x="85725" y="149985"/>
                </a:cubicBezTo>
                <a:cubicBezTo>
                  <a:pt x="67977" y="149985"/>
                  <a:pt x="51904" y="142786"/>
                  <a:pt x="40251" y="131166"/>
                </a:cubicBezTo>
                <a:cubicBezTo>
                  <a:pt x="40184" y="131099"/>
                  <a:pt x="40117" y="131032"/>
                  <a:pt x="40050" y="130965"/>
                </a:cubicBezTo>
                <a:lnTo>
                  <a:pt x="37505" y="128554"/>
                </a:lnTo>
                <a:lnTo>
                  <a:pt x="53545" y="128554"/>
                </a:lnTo>
                <a:cubicBezTo>
                  <a:pt x="59472" y="128554"/>
                  <a:pt x="64260" y="123765"/>
                  <a:pt x="64260" y="117838"/>
                </a:cubicBezTo>
                <a:cubicBezTo>
                  <a:pt x="64260" y="111911"/>
                  <a:pt x="59472" y="107123"/>
                  <a:pt x="53545" y="107123"/>
                </a:cubicBezTo>
                <a:lnTo>
                  <a:pt x="10716" y="107156"/>
                </a:lnTo>
                <a:cubicBezTo>
                  <a:pt x="7869" y="107156"/>
                  <a:pt x="5123" y="108295"/>
                  <a:pt x="3114" y="110337"/>
                </a:cubicBezTo>
                <a:cubicBezTo>
                  <a:pt x="1105" y="112380"/>
                  <a:pt x="-33" y="115093"/>
                  <a:pt x="0" y="117972"/>
                </a:cubicBezTo>
                <a:lnTo>
                  <a:pt x="335" y="160500"/>
                </a:lnTo>
                <a:cubicBezTo>
                  <a:pt x="368" y="166427"/>
                  <a:pt x="5224" y="171182"/>
                  <a:pt x="11151" y="171115"/>
                </a:cubicBezTo>
                <a:cubicBezTo>
                  <a:pt x="17078" y="171048"/>
                  <a:pt x="21833" y="166226"/>
                  <a:pt x="21766" y="160299"/>
                </a:cubicBezTo>
                <a:lnTo>
                  <a:pt x="21632" y="143054"/>
                </a:lnTo>
                <a:lnTo>
                  <a:pt x="25215" y="146436"/>
                </a:lnTo>
                <a:cubicBezTo>
                  <a:pt x="40719" y="161873"/>
                  <a:pt x="62117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5"/>
          <p:cNvSpPr/>
          <p:nvPr/>
        </p:nvSpPr>
        <p:spPr>
          <a:xfrm>
            <a:off x="800100" y="5057775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差向量 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81025" y="5438775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计算行和与列和的差，取前K-1维（因约束条件 Σdᵢ = 0）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81025" y="5800725"/>
            <a:ext cx="5219700" cy="495300"/>
          </a:xfrm>
          <a:custGeom>
            <a:avLst/>
            <a:gdLst/>
            <a:ahLst/>
            <a:cxnLst/>
            <a:rect l="l" t="t" r="r" b="b"/>
            <a:pathLst>
              <a:path w="5219700" h="4953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419098"/>
                </a:lnTo>
                <a:cubicBezTo>
                  <a:pt x="5219700" y="461183"/>
                  <a:pt x="5185583" y="495300"/>
                  <a:pt x="51434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1" name="Text 18"/>
          <p:cNvSpPr/>
          <p:nvPr/>
        </p:nvSpPr>
        <p:spPr>
          <a:xfrm>
            <a:off x="533400" y="5800725"/>
            <a:ext cx="5314950" cy="495300"/>
          </a:xfrm>
          <a:prstGeom prst="rect">
            <a:avLst/>
          </a:prstGeom>
          <a:noFill/>
          <a:ln/>
        </p:spPr>
        <p:txBody>
          <a:bodyPr wrap="square" lIns="0" tIns="114300" rIns="0" bIns="11430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dᵢ = rᵢ − cᵢ, i = 1,...,K−1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91250" y="1257300"/>
            <a:ext cx="5619750" cy="3467100"/>
          </a:xfrm>
          <a:custGeom>
            <a:avLst/>
            <a:gdLst/>
            <a:ahLst/>
            <a:cxnLst/>
            <a:rect l="l" t="t" r="r" b="b"/>
            <a:pathLst>
              <a:path w="5619750" h="3467100">
                <a:moveTo>
                  <a:pt x="114310" y="0"/>
                </a:moveTo>
                <a:lnTo>
                  <a:pt x="5505440" y="0"/>
                </a:lnTo>
                <a:cubicBezTo>
                  <a:pt x="5568572" y="0"/>
                  <a:pt x="5619750" y="51178"/>
                  <a:pt x="5619750" y="114310"/>
                </a:cubicBezTo>
                <a:lnTo>
                  <a:pt x="5619750" y="3352790"/>
                </a:lnTo>
                <a:cubicBezTo>
                  <a:pt x="5619750" y="3415922"/>
                  <a:pt x="5568572" y="3467100"/>
                  <a:pt x="5505440" y="3467100"/>
                </a:cubicBezTo>
                <a:lnTo>
                  <a:pt x="114310" y="3467100"/>
                </a:lnTo>
                <a:cubicBezTo>
                  <a:pt x="51178" y="3467100"/>
                  <a:pt x="0" y="3415922"/>
                  <a:pt x="0" y="3352790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4A90A4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29375" y="14859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4" name="Text 21"/>
          <p:cNvSpPr/>
          <p:nvPr/>
        </p:nvSpPr>
        <p:spPr>
          <a:xfrm>
            <a:off x="6619875" y="1447800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检验统计量 T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381750" y="1866900"/>
            <a:ext cx="5238750" cy="2667000"/>
          </a:xfrm>
          <a:custGeom>
            <a:avLst/>
            <a:gdLst/>
            <a:ahLst/>
            <a:cxnLst/>
            <a:rect l="l" t="t" r="r" b="b"/>
            <a:pathLst>
              <a:path w="5238750" h="2667000">
                <a:moveTo>
                  <a:pt x="76196" y="0"/>
                </a:moveTo>
                <a:lnTo>
                  <a:pt x="5162554" y="0"/>
                </a:lnTo>
                <a:cubicBezTo>
                  <a:pt x="5204636" y="0"/>
                  <a:pt x="5238750" y="34114"/>
                  <a:pt x="5238750" y="76196"/>
                </a:cubicBezTo>
                <a:lnTo>
                  <a:pt x="5238750" y="2590804"/>
                </a:lnTo>
                <a:cubicBezTo>
                  <a:pt x="5238750" y="2632886"/>
                  <a:pt x="5204636" y="2667000"/>
                  <a:pt x="5162554" y="2667000"/>
                </a:cubicBezTo>
                <a:lnTo>
                  <a:pt x="76196" y="2667000"/>
                </a:lnTo>
                <a:cubicBezTo>
                  <a:pt x="34114" y="2667000"/>
                  <a:pt x="0" y="2632886"/>
                  <a:pt x="0" y="25908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534150" y="2019300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构造协方差矩阵 V（(K-1)×(K-1)）：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534150" y="2362200"/>
            <a:ext cx="4933950" cy="685800"/>
          </a:xfrm>
          <a:custGeom>
            <a:avLst/>
            <a:gdLst/>
            <a:ahLst/>
            <a:cxnLst/>
            <a:rect l="l" t="t" r="r" b="b"/>
            <a:pathLst>
              <a:path w="4933950" h="685800">
                <a:moveTo>
                  <a:pt x="76199" y="0"/>
                </a:moveTo>
                <a:lnTo>
                  <a:pt x="4857751" y="0"/>
                </a:lnTo>
                <a:cubicBezTo>
                  <a:pt x="4899834" y="0"/>
                  <a:pt x="4933950" y="34116"/>
                  <a:pt x="4933950" y="76199"/>
                </a:cubicBezTo>
                <a:lnTo>
                  <a:pt x="4933950" y="609601"/>
                </a:lnTo>
                <a:cubicBezTo>
                  <a:pt x="4933950" y="651684"/>
                  <a:pt x="4899834" y="685800"/>
                  <a:pt x="4857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648450" y="2476500"/>
            <a:ext cx="477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对角项：</a:t>
            </a:r>
            <a:r>
              <a:rPr 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Vᵢᵢ = rᵢ + cᵢ − 2nᵢᵢ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648450" y="2743200"/>
            <a:ext cx="477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非对角项：</a:t>
            </a:r>
            <a:r>
              <a:rPr 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Vᵢⱼ = −(nᵢⱼ + nⱼᵢ)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534150" y="3162300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计算统计量：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534150" y="3505200"/>
            <a:ext cx="4933950" cy="533400"/>
          </a:xfrm>
          <a:custGeom>
            <a:avLst/>
            <a:gdLst/>
            <a:ahLst/>
            <a:cxnLst/>
            <a:rect l="l" t="t" r="r" b="b"/>
            <a:pathLst>
              <a:path w="4933950" h="533400">
                <a:moveTo>
                  <a:pt x="76202" y="0"/>
                </a:moveTo>
                <a:lnTo>
                  <a:pt x="4857748" y="0"/>
                </a:lnTo>
                <a:cubicBezTo>
                  <a:pt x="4899833" y="0"/>
                  <a:pt x="4933950" y="34117"/>
                  <a:pt x="4933950" y="76202"/>
                </a:cubicBezTo>
                <a:lnTo>
                  <a:pt x="4933950" y="457198"/>
                </a:lnTo>
                <a:cubicBezTo>
                  <a:pt x="4933950" y="499283"/>
                  <a:pt x="4899833" y="533400"/>
                  <a:pt x="48577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477000" y="3505200"/>
            <a:ext cx="5048250" cy="533400"/>
          </a:xfrm>
          <a:prstGeom prst="rect">
            <a:avLst/>
          </a:prstGeom>
          <a:noFill/>
          <a:ln/>
        </p:spPr>
        <p:txBody>
          <a:bodyPr wrap="square" lIns="0" tIns="114300" rIns="0" bIns="11430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 = dᵀ · V⁻¹ · d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96050" y="4152900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 ~ χ²(K−1)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210300" y="4876800"/>
            <a:ext cx="5600700" cy="1943100"/>
          </a:xfrm>
          <a:custGeom>
            <a:avLst/>
            <a:gdLst/>
            <a:ahLst/>
            <a:cxnLst/>
            <a:rect l="l" t="t" r="r" b="b"/>
            <a:pathLst>
              <a:path w="5600700" h="1943100">
                <a:moveTo>
                  <a:pt x="38100" y="0"/>
                </a:moveTo>
                <a:lnTo>
                  <a:pt x="5486407" y="0"/>
                </a:lnTo>
                <a:cubicBezTo>
                  <a:pt x="5549487" y="0"/>
                  <a:pt x="5600700" y="51213"/>
                  <a:pt x="5600700" y="114293"/>
                </a:cubicBezTo>
                <a:lnTo>
                  <a:pt x="5600700" y="1828807"/>
                </a:lnTo>
                <a:cubicBezTo>
                  <a:pt x="5600700" y="1891887"/>
                  <a:pt x="5549487" y="1943100"/>
                  <a:pt x="5486407" y="1943100"/>
                </a:cubicBez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5" name="Shape 32"/>
          <p:cNvSpPr/>
          <p:nvPr/>
        </p:nvSpPr>
        <p:spPr>
          <a:xfrm>
            <a:off x="6210300" y="4876800"/>
            <a:ext cx="38100" cy="1943100"/>
          </a:xfrm>
          <a:custGeom>
            <a:avLst/>
            <a:gdLst/>
            <a:ahLst/>
            <a:cxnLst/>
            <a:rect l="l" t="t" r="r" b="b"/>
            <a:pathLst>
              <a:path w="38100" h="1943100">
                <a:moveTo>
                  <a:pt x="38100" y="0"/>
                </a:moveTo>
                <a:lnTo>
                  <a:pt x="38100" y="0"/>
                </a:lnTo>
                <a:lnTo>
                  <a:pt x="38100" y="1943100"/>
                </a:ln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6" name="Shape 33"/>
          <p:cNvSpPr/>
          <p:nvPr/>
        </p:nvSpPr>
        <p:spPr>
          <a:xfrm>
            <a:off x="6443663" y="5114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80367" y="32147"/>
                </a:moveTo>
                <a:cubicBezTo>
                  <a:pt x="82611" y="32147"/>
                  <a:pt x="84754" y="33084"/>
                  <a:pt x="86294" y="34759"/>
                </a:cubicBezTo>
                <a:lnTo>
                  <a:pt x="110103" y="60711"/>
                </a:lnTo>
                <a:lnTo>
                  <a:pt x="125574" y="45207"/>
                </a:lnTo>
                <a:cubicBezTo>
                  <a:pt x="128721" y="42059"/>
                  <a:pt x="133811" y="42059"/>
                  <a:pt x="136926" y="45207"/>
                </a:cubicBezTo>
                <a:lnTo>
                  <a:pt x="158357" y="66638"/>
                </a:lnTo>
                <a:cubicBezTo>
                  <a:pt x="159864" y="68145"/>
                  <a:pt x="160701" y="70187"/>
                  <a:pt x="160701" y="72330"/>
                </a:cubicBezTo>
                <a:lnTo>
                  <a:pt x="160701" y="109835"/>
                </a:lnTo>
                <a:cubicBezTo>
                  <a:pt x="160701" y="114289"/>
                  <a:pt x="157118" y="117872"/>
                  <a:pt x="152664" y="117872"/>
                </a:cubicBezTo>
                <a:lnTo>
                  <a:pt x="50866" y="117872"/>
                </a:lnTo>
                <a:cubicBezTo>
                  <a:pt x="46412" y="117872"/>
                  <a:pt x="42829" y="114289"/>
                  <a:pt x="42829" y="109835"/>
                </a:cubicBezTo>
                <a:lnTo>
                  <a:pt x="42829" y="72330"/>
                </a:lnTo>
                <a:cubicBezTo>
                  <a:pt x="42829" y="70321"/>
                  <a:pt x="43599" y="68379"/>
                  <a:pt x="44939" y="66906"/>
                </a:cubicBezTo>
                <a:lnTo>
                  <a:pt x="74407" y="34759"/>
                </a:lnTo>
                <a:cubicBezTo>
                  <a:pt x="75914" y="33084"/>
                  <a:pt x="78090" y="32147"/>
                  <a:pt x="80334" y="3214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7" name="Text 34"/>
          <p:cNvSpPr/>
          <p:nvPr/>
        </p:nvSpPr>
        <p:spPr>
          <a:xfrm>
            <a:off x="6638925" y="5067300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p-value计算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419850" y="54483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当df = 2时，有闭式解：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419850" y="5791200"/>
            <a:ext cx="5200650" cy="495300"/>
          </a:xfrm>
          <a:custGeom>
            <a:avLst/>
            <a:gdLst/>
            <a:ahLst/>
            <a:cxnLst/>
            <a:rect l="l" t="t" r="r" b="b"/>
            <a:pathLst>
              <a:path w="5200650" h="4953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419098"/>
                </a:lnTo>
                <a:cubicBezTo>
                  <a:pt x="5200650" y="461183"/>
                  <a:pt x="5166533" y="495300"/>
                  <a:pt x="51244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6372225" y="57912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114300" rIns="0" bIns="11430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 = e^(−T/2)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419850" y="64008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一般情况下使用卡方分布的右尾概率：p = P(χ² ≥ T)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检验结果总结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显著性检验的核心发现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5619750" cy="3152775"/>
          </a:xfrm>
          <a:custGeom>
            <a:avLst/>
            <a:gdLst/>
            <a:ahLst/>
            <a:cxnLst/>
            <a:rect l="l" t="t" r="r" b="b"/>
            <a:pathLst>
              <a:path w="5619750" h="3152775">
                <a:moveTo>
                  <a:pt x="152405" y="0"/>
                </a:moveTo>
                <a:lnTo>
                  <a:pt x="5467345" y="0"/>
                </a:lnTo>
                <a:cubicBezTo>
                  <a:pt x="5551516" y="0"/>
                  <a:pt x="5619750" y="68234"/>
                  <a:pt x="5619750" y="152405"/>
                </a:cubicBezTo>
                <a:lnTo>
                  <a:pt x="5619750" y="3000370"/>
                </a:lnTo>
                <a:cubicBezTo>
                  <a:pt x="5619750" y="3084541"/>
                  <a:pt x="5551516" y="3152775"/>
                  <a:pt x="5467345" y="3152775"/>
                </a:cubicBezTo>
                <a:lnTo>
                  <a:pt x="152405" y="3152775"/>
                </a:lnTo>
                <a:cubicBezTo>
                  <a:pt x="68234" y="3152775"/>
                  <a:pt x="0" y="3084541"/>
                  <a:pt x="0" y="3000370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A63E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485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9625" y="16478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39471" y="37281"/>
                </a:moveTo>
                <a:cubicBezTo>
                  <a:pt x="145275" y="29301"/>
                  <a:pt x="143489" y="18138"/>
                  <a:pt x="135508" y="12334"/>
                </a:cubicBezTo>
                <a:cubicBezTo>
                  <a:pt x="127527" y="6530"/>
                  <a:pt x="116365" y="8316"/>
                  <a:pt x="110561" y="16297"/>
                </a:cubicBezTo>
                <a:lnTo>
                  <a:pt x="51402" y="97613"/>
                </a:lnTo>
                <a:lnTo>
                  <a:pt x="30473" y="76684"/>
                </a:lnTo>
                <a:cubicBezTo>
                  <a:pt x="23496" y="69707"/>
                  <a:pt x="12167" y="69707"/>
                  <a:pt x="5190" y="76684"/>
                </a:cubicBezTo>
                <a:cubicBezTo>
                  <a:pt x="-1786" y="83660"/>
                  <a:pt x="-1786" y="94990"/>
                  <a:pt x="5190" y="101966"/>
                </a:cubicBezTo>
                <a:lnTo>
                  <a:pt x="40909" y="137685"/>
                </a:lnTo>
                <a:cubicBezTo>
                  <a:pt x="44593" y="141368"/>
                  <a:pt x="49727" y="143266"/>
                  <a:pt x="54918" y="142875"/>
                </a:cubicBezTo>
                <a:cubicBezTo>
                  <a:pt x="60108" y="142484"/>
                  <a:pt x="64908" y="139805"/>
                  <a:pt x="67977" y="135564"/>
                </a:cubicBezTo>
                <a:lnTo>
                  <a:pt x="139415" y="37337"/>
                </a:lnTo>
                <a:close/>
                <a:moveTo>
                  <a:pt x="210908" y="113184"/>
                </a:moveTo>
                <a:cubicBezTo>
                  <a:pt x="216712" y="105203"/>
                  <a:pt x="214926" y="94041"/>
                  <a:pt x="206946" y="88236"/>
                </a:cubicBezTo>
                <a:cubicBezTo>
                  <a:pt x="198965" y="82432"/>
                  <a:pt x="187802" y="84218"/>
                  <a:pt x="181998" y="92199"/>
                </a:cubicBezTo>
                <a:lnTo>
                  <a:pt x="87120" y="222628"/>
                </a:lnTo>
                <a:lnTo>
                  <a:pt x="48332" y="183840"/>
                </a:lnTo>
                <a:cubicBezTo>
                  <a:pt x="41356" y="176864"/>
                  <a:pt x="30026" y="176864"/>
                  <a:pt x="23050" y="183840"/>
                </a:cubicBezTo>
                <a:cubicBezTo>
                  <a:pt x="16073" y="190816"/>
                  <a:pt x="16073" y="202146"/>
                  <a:pt x="23050" y="209122"/>
                </a:cubicBezTo>
                <a:lnTo>
                  <a:pt x="76628" y="262700"/>
                </a:lnTo>
                <a:cubicBezTo>
                  <a:pt x="80311" y="266384"/>
                  <a:pt x="85446" y="268281"/>
                  <a:pt x="90636" y="267891"/>
                </a:cubicBezTo>
                <a:cubicBezTo>
                  <a:pt x="95827" y="267500"/>
                  <a:pt x="100626" y="264821"/>
                  <a:pt x="103696" y="260579"/>
                </a:cubicBezTo>
                <a:lnTo>
                  <a:pt x="210852" y="1132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504950"/>
            <a:ext cx="1695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高显著率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0975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304/312 条检验显著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725" y="22479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97.4%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1975" y="289560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总体显著率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3314700"/>
            <a:ext cx="5162550" cy="866775"/>
          </a:xfrm>
          <a:custGeom>
            <a:avLst/>
            <a:gdLst/>
            <a:ahLst/>
            <a:cxnLst/>
            <a:rect l="l" t="t" r="r" b="b"/>
            <a:pathLst>
              <a:path w="5162550" h="866775">
                <a:moveTo>
                  <a:pt x="76198" y="0"/>
                </a:moveTo>
                <a:lnTo>
                  <a:pt x="5086352" y="0"/>
                </a:lnTo>
                <a:cubicBezTo>
                  <a:pt x="5128435" y="0"/>
                  <a:pt x="5162550" y="34115"/>
                  <a:pt x="5162550" y="76198"/>
                </a:cubicBezTo>
                <a:lnTo>
                  <a:pt x="5162550" y="790577"/>
                </a:lnTo>
                <a:cubicBezTo>
                  <a:pt x="5162550" y="832660"/>
                  <a:pt x="5128435" y="866775"/>
                  <a:pt x="5086352" y="866775"/>
                </a:cubicBezTo>
                <a:lnTo>
                  <a:pt x="76198" y="866775"/>
                </a:lnTo>
                <a:cubicBezTo>
                  <a:pt x="34143" y="866775"/>
                  <a:pt x="0" y="832632"/>
                  <a:pt x="0" y="7905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467100"/>
            <a:ext cx="49434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绝大多数设置均达到统计显著，</a:t>
            </a: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支持"偏移是系统性的、可重复的"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4557713"/>
            <a:ext cx="5600700" cy="1866900"/>
          </a:xfrm>
          <a:custGeom>
            <a:avLst/>
            <a:gdLst/>
            <a:ahLst/>
            <a:cxnLst/>
            <a:rect l="l" t="t" r="r" b="b"/>
            <a:pathLst>
              <a:path w="5600700" h="1866900">
                <a:moveTo>
                  <a:pt x="38100" y="0"/>
                </a:moveTo>
                <a:lnTo>
                  <a:pt x="5486408" y="0"/>
                </a:lnTo>
                <a:cubicBezTo>
                  <a:pt x="5549530" y="0"/>
                  <a:pt x="5600700" y="51170"/>
                  <a:pt x="5600700" y="114292"/>
                </a:cubicBezTo>
                <a:lnTo>
                  <a:pt x="5600700" y="1752608"/>
                </a:lnTo>
                <a:cubicBezTo>
                  <a:pt x="5600700" y="1815730"/>
                  <a:pt x="5549530" y="1866900"/>
                  <a:pt x="5486408" y="1866900"/>
                </a:cubicBez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4557713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3810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5" name="Shape 13"/>
          <p:cNvSpPr/>
          <p:nvPr/>
        </p:nvSpPr>
        <p:spPr>
          <a:xfrm>
            <a:off x="633413" y="47863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6" name="Text 14"/>
          <p:cNvSpPr/>
          <p:nvPr/>
        </p:nvSpPr>
        <p:spPr>
          <a:xfrm>
            <a:off x="847725" y="4748213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不显著特例分布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" y="51673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8" name="Text 16"/>
          <p:cNvSpPr/>
          <p:nvPr/>
        </p:nvSpPr>
        <p:spPr>
          <a:xfrm>
            <a:off x="576263" y="516731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8700" y="5205413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仅集中在</a:t>
            </a:r>
            <a:r>
              <a:rPr lang="en-US" sz="1200" b="1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4组特例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" y="55483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76263" y="554831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8700" y="5586413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每组包含</a:t>
            </a:r>
            <a:r>
              <a:rPr lang="en-US" sz="1200" b="1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run-001/002</a:t>
            </a: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9600" y="59293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76263" y="592931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8700" y="5967413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涉及特定模型/维度/数据集组合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6013" y="1262063"/>
            <a:ext cx="5610225" cy="3781425"/>
          </a:xfrm>
          <a:custGeom>
            <a:avLst/>
            <a:gdLst/>
            <a:ahLst/>
            <a:cxnLst/>
            <a:rect l="l" t="t" r="r" b="b"/>
            <a:pathLst>
              <a:path w="5610225" h="3781425">
                <a:moveTo>
                  <a:pt x="114312" y="0"/>
                </a:moveTo>
                <a:lnTo>
                  <a:pt x="5495913" y="0"/>
                </a:lnTo>
                <a:cubicBezTo>
                  <a:pt x="5559046" y="0"/>
                  <a:pt x="5610225" y="51179"/>
                  <a:pt x="5610225" y="114312"/>
                </a:cubicBezTo>
                <a:lnTo>
                  <a:pt x="5610225" y="3667113"/>
                </a:lnTo>
                <a:cubicBezTo>
                  <a:pt x="5610225" y="3730246"/>
                  <a:pt x="5559046" y="3781425"/>
                  <a:pt x="5495913" y="3781425"/>
                </a:cubicBezTo>
                <a:lnTo>
                  <a:pt x="114312" y="3781425"/>
                </a:lnTo>
                <a:cubicBezTo>
                  <a:pt x="51179" y="3781425"/>
                  <a:pt x="0" y="3730246"/>
                  <a:pt x="0" y="3667113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15088" y="1495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53578"/>
                </a:moveTo>
                <a:cubicBezTo>
                  <a:pt x="27716" y="53578"/>
                  <a:pt x="35719" y="45576"/>
                  <a:pt x="35719" y="35719"/>
                </a:cubicBezTo>
                <a:cubicBezTo>
                  <a:pt x="35719" y="25862"/>
                  <a:pt x="27716" y="17859"/>
                  <a:pt x="17859" y="17859"/>
                </a:cubicBezTo>
                <a:cubicBezTo>
                  <a:pt x="8003" y="17859"/>
                  <a:pt x="0" y="25862"/>
                  <a:pt x="0" y="35719"/>
                </a:cubicBezTo>
                <a:cubicBezTo>
                  <a:pt x="0" y="45576"/>
                  <a:pt x="8003" y="53578"/>
                  <a:pt x="17859" y="53578"/>
                </a:cubicBez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17859" y="172641"/>
                </a:moveTo>
                <a:cubicBezTo>
                  <a:pt x="27716" y="172641"/>
                  <a:pt x="35719" y="164638"/>
                  <a:pt x="35719" y="154781"/>
                </a:cubicBezTo>
                <a:cubicBezTo>
                  <a:pt x="35719" y="144924"/>
                  <a:pt x="27716" y="136922"/>
                  <a:pt x="17859" y="136922"/>
                </a:cubicBezTo>
                <a:cubicBezTo>
                  <a:pt x="8003" y="136922"/>
                  <a:pt x="0" y="144924"/>
                  <a:pt x="0" y="154781"/>
                </a:cubicBezTo>
                <a:cubicBezTo>
                  <a:pt x="0" y="164638"/>
                  <a:pt x="8003" y="172641"/>
                  <a:pt x="17859" y="172641"/>
                </a:cubicBezTo>
                <a:close/>
                <a:moveTo>
                  <a:pt x="35719" y="95250"/>
                </a:moveTo>
                <a:cubicBezTo>
                  <a:pt x="35719" y="85393"/>
                  <a:pt x="27716" y="77391"/>
                  <a:pt x="17859" y="77391"/>
                </a:cubicBezTo>
                <a:cubicBezTo>
                  <a:pt x="8003" y="77391"/>
                  <a:pt x="0" y="85393"/>
                  <a:pt x="0" y="95250"/>
                </a:cubicBezTo>
                <a:cubicBezTo>
                  <a:pt x="0" y="105107"/>
                  <a:pt x="8003" y="113109"/>
                  <a:pt x="17859" y="113109"/>
                </a:cubicBezTo>
                <a:cubicBezTo>
                  <a:pt x="27716" y="113109"/>
                  <a:pt x="35719" y="105107"/>
                  <a:pt x="35719" y="952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14573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4组不显著特例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10325" y="1876425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0" name="Shape 28"/>
          <p:cNvSpPr/>
          <p:nvPr/>
        </p:nvSpPr>
        <p:spPr>
          <a:xfrm>
            <a:off x="6410325" y="18764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1" name="Text 29"/>
          <p:cNvSpPr/>
          <p:nvPr/>
        </p:nvSpPr>
        <p:spPr>
          <a:xfrm>
            <a:off x="6543675" y="1990725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qwen-3b / energy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768905" y="1990725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 = 0.896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43675" y="2257425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imdb_sklearn / 子模型 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0325" y="2638425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5" name="Shape 33"/>
          <p:cNvSpPr/>
          <p:nvPr/>
        </p:nvSpPr>
        <p:spPr>
          <a:xfrm>
            <a:off x="6410325" y="26384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6" name="Text 34"/>
          <p:cNvSpPr/>
          <p:nvPr/>
        </p:nvSpPr>
        <p:spPr>
          <a:xfrm>
            <a:off x="6543675" y="2752725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qwen-3b / execution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768905" y="2752725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 = 0.249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43675" y="3019425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imdb / 子模型 J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10325" y="3400425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40" name="Shape 38"/>
          <p:cNvSpPr/>
          <p:nvPr/>
        </p:nvSpPr>
        <p:spPr>
          <a:xfrm>
            <a:off x="6410325" y="34004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1" name="Text 39"/>
          <p:cNvSpPr/>
          <p:nvPr/>
        </p:nvSpPr>
        <p:spPr>
          <a:xfrm>
            <a:off x="6543675" y="351472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qwen-3b / information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768905" y="3514725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 = 0.827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43675" y="3781425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sst2 / 子模型 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10325" y="4162425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45" name="Shape 43"/>
          <p:cNvSpPr/>
          <p:nvPr/>
        </p:nvSpPr>
        <p:spPr>
          <a:xfrm>
            <a:off x="6410325" y="41624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6" name="Text 44"/>
          <p:cNvSpPr/>
          <p:nvPr/>
        </p:nvSpPr>
        <p:spPr>
          <a:xfrm>
            <a:off x="6543675" y="427672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qwen-7b / information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768905" y="4276725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 = 0.137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43675" y="4543425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news / 子模型 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1250" y="5200650"/>
            <a:ext cx="5619750" cy="1600200"/>
          </a:xfrm>
          <a:custGeom>
            <a:avLst/>
            <a:gdLst/>
            <a:ahLst/>
            <a:cxnLst/>
            <a:rect l="l" t="t" r="r" b="b"/>
            <a:pathLst>
              <a:path w="5619750" h="1600200">
                <a:moveTo>
                  <a:pt x="114302" y="0"/>
                </a:moveTo>
                <a:lnTo>
                  <a:pt x="5505448" y="0"/>
                </a:lnTo>
                <a:cubicBezTo>
                  <a:pt x="5568533" y="0"/>
                  <a:pt x="5619750" y="51217"/>
                  <a:pt x="5619750" y="114302"/>
                </a:cubicBezTo>
                <a:lnTo>
                  <a:pt x="5619750" y="1485898"/>
                </a:lnTo>
                <a:cubicBezTo>
                  <a:pt x="5619750" y="1548983"/>
                  <a:pt x="5568533" y="1600200"/>
                  <a:pt x="5505448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6429375" y="5429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1" name="Text 49"/>
          <p:cNvSpPr/>
          <p:nvPr/>
        </p:nvSpPr>
        <p:spPr>
          <a:xfrm>
            <a:off x="6619875" y="5391150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核心结论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91275" y="58102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3" name="Text 51"/>
          <p:cNvSpPr/>
          <p:nvPr/>
        </p:nvSpPr>
        <p:spPr>
          <a:xfrm>
            <a:off x="6686550" y="57721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系统性偏移：</a:t>
            </a: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绝大多数设置均达到统计显著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91275" y="6115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5" name="Text 53"/>
          <p:cNvSpPr/>
          <p:nvPr/>
        </p:nvSpPr>
        <p:spPr>
          <a:xfrm>
            <a:off x="6686550" y="607695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可重复性：</a:t>
            </a: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偏移不是偶然噪声，而是稳定现象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91275" y="64198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7" name="Text 55"/>
          <p:cNvSpPr/>
          <p:nvPr/>
        </p:nvSpPr>
        <p:spPr>
          <a:xfrm>
            <a:off x="6686550" y="63817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特例有限：</a:t>
            </a: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不显著情况集中在特定组合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6o4dutmdlxkq/chapter3_bg.pn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07A5F">
                  <a:alpha val="95000"/>
                </a:srgbClr>
              </a:gs>
              <a:gs pos="50000">
                <a:srgbClr val="1E3A5F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640681"/>
            <a:ext cx="2019300" cy="533400"/>
          </a:xfrm>
          <a:custGeom>
            <a:avLst/>
            <a:gdLst/>
            <a:ahLst/>
            <a:cxnLst/>
            <a:rect l="l" t="t" r="r" b="b"/>
            <a:pathLst>
              <a:path w="2019300" h="533400">
                <a:moveTo>
                  <a:pt x="114302" y="0"/>
                </a:moveTo>
                <a:lnTo>
                  <a:pt x="1904998" y="0"/>
                </a:lnTo>
                <a:cubicBezTo>
                  <a:pt x="1968083" y="0"/>
                  <a:pt x="2019300" y="51217"/>
                  <a:pt x="2019300" y="114302"/>
                </a:cubicBezTo>
                <a:lnTo>
                  <a:pt x="2019300" y="419098"/>
                </a:lnTo>
                <a:cubicBezTo>
                  <a:pt x="2019300" y="482183"/>
                  <a:pt x="1968083" y="533400"/>
                  <a:pt x="19049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754981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90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78881"/>
            <a:ext cx="67437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效应量分析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564731"/>
            <a:ext cx="65436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偏移大小与数据量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模型规模的关系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64919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295400" y="4950619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Effect Size Analysis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效应量指标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三种衡量偏移大小的指标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3686175" cy="4419600"/>
          </a:xfrm>
          <a:custGeom>
            <a:avLst/>
            <a:gdLst/>
            <a:ahLst/>
            <a:cxnLst/>
            <a:rect l="l" t="t" r="r" b="b"/>
            <a:pathLst>
              <a:path w="3686175" h="44196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4267214"/>
                </a:lnTo>
                <a:cubicBezTo>
                  <a:pt x="3686175" y="4351374"/>
                  <a:pt x="3617949" y="4419600"/>
                  <a:pt x="3533789" y="4419600"/>
                </a:cubicBezTo>
                <a:lnTo>
                  <a:pt x="152386" y="4419600"/>
                </a:lnTo>
                <a:cubicBezTo>
                  <a:pt x="68226" y="4419600"/>
                  <a:pt x="0" y="4351374"/>
                  <a:pt x="0" y="42672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4A90A4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485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1766" y="16478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558" y="246515"/>
                </a:moveTo>
                <a:cubicBezTo>
                  <a:pt x="3070" y="258682"/>
                  <a:pt x="13841" y="267891"/>
                  <a:pt x="26789" y="267891"/>
                </a:cubicBezTo>
                <a:lnTo>
                  <a:pt x="223242" y="267891"/>
                </a:lnTo>
                <a:cubicBezTo>
                  <a:pt x="238032" y="267891"/>
                  <a:pt x="250031" y="255891"/>
                  <a:pt x="250031" y="241102"/>
                </a:cubicBezTo>
                <a:lnTo>
                  <a:pt x="250031" y="187523"/>
                </a:lnTo>
                <a:cubicBezTo>
                  <a:pt x="250031" y="172734"/>
                  <a:pt x="238032" y="160734"/>
                  <a:pt x="223242" y="160734"/>
                </a:cubicBezTo>
                <a:lnTo>
                  <a:pt x="196453" y="160734"/>
                </a:lnTo>
                <a:lnTo>
                  <a:pt x="196453" y="200918"/>
                </a:lnTo>
                <a:cubicBezTo>
                  <a:pt x="196453" y="208341"/>
                  <a:pt x="190481" y="214313"/>
                  <a:pt x="183059" y="214313"/>
                </a:cubicBezTo>
                <a:cubicBezTo>
                  <a:pt x="175636" y="214313"/>
                  <a:pt x="169664" y="208341"/>
                  <a:pt x="169664" y="200918"/>
                </a:cubicBezTo>
                <a:lnTo>
                  <a:pt x="169664" y="160734"/>
                </a:lnTo>
                <a:lnTo>
                  <a:pt x="133945" y="160734"/>
                </a:lnTo>
                <a:lnTo>
                  <a:pt x="133945" y="200918"/>
                </a:lnTo>
                <a:cubicBezTo>
                  <a:pt x="133945" y="208341"/>
                  <a:pt x="127974" y="214313"/>
                  <a:pt x="120551" y="214313"/>
                </a:cubicBezTo>
                <a:cubicBezTo>
                  <a:pt x="113128" y="214313"/>
                  <a:pt x="107156" y="208341"/>
                  <a:pt x="107156" y="200918"/>
                </a:cubicBezTo>
                <a:lnTo>
                  <a:pt x="107156" y="160734"/>
                </a:lnTo>
                <a:lnTo>
                  <a:pt x="66973" y="160734"/>
                </a:lnTo>
                <a:cubicBezTo>
                  <a:pt x="59550" y="160734"/>
                  <a:pt x="53578" y="154763"/>
                  <a:pt x="53578" y="147340"/>
                </a:cubicBezTo>
                <a:cubicBezTo>
                  <a:pt x="53578" y="139917"/>
                  <a:pt x="59550" y="133945"/>
                  <a:pt x="66973" y="133945"/>
                </a:cubicBezTo>
                <a:lnTo>
                  <a:pt x="107156" y="133945"/>
                </a:lnTo>
                <a:lnTo>
                  <a:pt x="107156" y="98227"/>
                </a:lnTo>
                <a:lnTo>
                  <a:pt x="66973" y="98227"/>
                </a:lnTo>
                <a:cubicBezTo>
                  <a:pt x="59550" y="98227"/>
                  <a:pt x="53578" y="92255"/>
                  <a:pt x="53578" y="84832"/>
                </a:cubicBezTo>
                <a:cubicBezTo>
                  <a:pt x="53578" y="77409"/>
                  <a:pt x="59550" y="71438"/>
                  <a:pt x="66973" y="71438"/>
                </a:cubicBezTo>
                <a:lnTo>
                  <a:pt x="107156" y="71438"/>
                </a:lnTo>
                <a:lnTo>
                  <a:pt x="107156" y="44648"/>
                </a:lnTo>
                <a:cubicBezTo>
                  <a:pt x="107156" y="29859"/>
                  <a:pt x="95157" y="17859"/>
                  <a:pt x="80367" y="17859"/>
                </a:cubicBezTo>
                <a:lnTo>
                  <a:pt x="26789" y="17859"/>
                </a:lnTo>
                <a:cubicBezTo>
                  <a:pt x="11999" y="17859"/>
                  <a:pt x="0" y="29859"/>
                  <a:pt x="0" y="44648"/>
                </a:cubicBezTo>
                <a:lnTo>
                  <a:pt x="0" y="241102"/>
                </a:lnTo>
                <a:cubicBezTo>
                  <a:pt x="0" y="242943"/>
                  <a:pt x="167" y="244785"/>
                  <a:pt x="558" y="24651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638300"/>
            <a:ext cx="1362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Cramer's V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2286000"/>
            <a:ext cx="3228975" cy="1257300"/>
          </a:xfrm>
          <a:custGeom>
            <a:avLst/>
            <a:gdLst/>
            <a:ahLst/>
            <a:cxnLst/>
            <a:rect l="l" t="t" r="r" b="b"/>
            <a:pathLst>
              <a:path w="3228975" h="1257300">
                <a:moveTo>
                  <a:pt x="76205" y="0"/>
                </a:moveTo>
                <a:lnTo>
                  <a:pt x="3152770" y="0"/>
                </a:lnTo>
                <a:cubicBezTo>
                  <a:pt x="3194857" y="0"/>
                  <a:pt x="3228975" y="34118"/>
                  <a:pt x="3228975" y="76205"/>
                </a:cubicBezTo>
                <a:lnTo>
                  <a:pt x="3228975" y="1181095"/>
                </a:lnTo>
                <a:cubicBezTo>
                  <a:pt x="3228975" y="1223182"/>
                  <a:pt x="3194857" y="1257300"/>
                  <a:pt x="3152770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438400"/>
            <a:ext cx="3000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基于McNemar/Stuart-Maxwell统计量归一化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971800"/>
            <a:ext cx="2924175" cy="419100"/>
          </a:xfrm>
          <a:custGeom>
            <a:avLst/>
            <a:gdLst/>
            <a:ahLst/>
            <a:cxnLst/>
            <a:rect l="l" t="t" r="r" b="b"/>
            <a:pathLst>
              <a:path w="2924175" h="419100">
                <a:moveTo>
                  <a:pt x="76201" y="0"/>
                </a:moveTo>
                <a:lnTo>
                  <a:pt x="2847974" y="0"/>
                </a:lnTo>
                <a:cubicBezTo>
                  <a:pt x="2890059" y="0"/>
                  <a:pt x="2924175" y="34116"/>
                  <a:pt x="2924175" y="76201"/>
                </a:cubicBezTo>
                <a:lnTo>
                  <a:pt x="2924175" y="342899"/>
                </a:lnTo>
                <a:cubicBezTo>
                  <a:pt x="2924175" y="384984"/>
                  <a:pt x="2890059" y="419100"/>
                  <a:pt x="28479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14375" y="2971800"/>
            <a:ext cx="3019425" cy="419100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 = √(χ² / n)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3695700"/>
            <a:ext cx="3228975" cy="1752600"/>
          </a:xfrm>
          <a:custGeom>
            <a:avLst/>
            <a:gdLst/>
            <a:ahLst/>
            <a:cxnLst/>
            <a:rect l="l" t="t" r="r" b="b"/>
            <a:pathLst>
              <a:path w="3228975" h="1752600">
                <a:moveTo>
                  <a:pt x="76203" y="0"/>
                </a:moveTo>
                <a:lnTo>
                  <a:pt x="3152772" y="0"/>
                </a:lnTo>
                <a:cubicBezTo>
                  <a:pt x="3194858" y="0"/>
                  <a:pt x="3228975" y="34117"/>
                  <a:pt x="3228975" y="76203"/>
                </a:cubicBezTo>
                <a:lnTo>
                  <a:pt x="3228975" y="1676397"/>
                </a:lnTo>
                <a:cubicBezTo>
                  <a:pt x="3228975" y="1718483"/>
                  <a:pt x="3194858" y="1752600"/>
                  <a:pt x="3152772" y="1752600"/>
                </a:cubicBezTo>
                <a:lnTo>
                  <a:pt x="76203" y="1752600"/>
                </a:lnTo>
                <a:cubicBezTo>
                  <a:pt x="34117" y="1752600"/>
                  <a:pt x="0" y="1718483"/>
                  <a:pt x="0" y="16763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3848100"/>
            <a:ext cx="3000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意义：</a:t>
            </a: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衡量分类变量间关联强度的标准化指标，取值0-1，值越大表示偏移效应越强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54401" y="1257300"/>
            <a:ext cx="3686175" cy="4419600"/>
          </a:xfrm>
          <a:custGeom>
            <a:avLst/>
            <a:gdLst/>
            <a:ahLst/>
            <a:cxnLst/>
            <a:rect l="l" t="t" r="r" b="b"/>
            <a:pathLst>
              <a:path w="3686175" h="44196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4267214"/>
                </a:lnTo>
                <a:cubicBezTo>
                  <a:pt x="3686175" y="4351374"/>
                  <a:pt x="3617949" y="4419600"/>
                  <a:pt x="3533789" y="4419600"/>
                </a:cubicBezTo>
                <a:lnTo>
                  <a:pt x="152386" y="4419600"/>
                </a:lnTo>
                <a:cubicBezTo>
                  <a:pt x="68226" y="4419600"/>
                  <a:pt x="0" y="4351374"/>
                  <a:pt x="0" y="42672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0A4"/>
              </a:gs>
              <a:gs pos="100000">
                <a:srgbClr val="1E3A5F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3001" y="1485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647307" y="1647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226926"/>
                </a:moveTo>
                <a:lnTo>
                  <a:pt x="226926" y="280504"/>
                </a:lnTo>
                <a:cubicBezTo>
                  <a:pt x="221791" y="285638"/>
                  <a:pt x="214145" y="287145"/>
                  <a:pt x="207448" y="284355"/>
                </a:cubicBezTo>
                <a:cubicBezTo>
                  <a:pt x="200751" y="281564"/>
                  <a:pt x="196453" y="275090"/>
                  <a:pt x="196453" y="267891"/>
                </a:cubicBezTo>
                <a:lnTo>
                  <a:pt x="196453" y="232172"/>
                </a:lnTo>
                <a:lnTo>
                  <a:pt x="17859" y="232172"/>
                </a:lnTo>
                <a:cubicBezTo>
                  <a:pt x="7981" y="232172"/>
                  <a:pt x="0" y="224191"/>
                  <a:pt x="0" y="214313"/>
                </a:cubicBezTo>
                <a:cubicBezTo>
                  <a:pt x="0" y="204434"/>
                  <a:pt x="7981" y="196453"/>
                  <a:pt x="17859" y="196453"/>
                </a:cubicBezTo>
                <a:lnTo>
                  <a:pt x="196453" y="196453"/>
                </a:lnTo>
                <a:lnTo>
                  <a:pt x="196453" y="160734"/>
                </a:lnTo>
                <a:cubicBezTo>
                  <a:pt x="196453" y="153535"/>
                  <a:pt x="200806" y="147005"/>
                  <a:pt x="207504" y="144214"/>
                </a:cubicBezTo>
                <a:cubicBezTo>
                  <a:pt x="214201" y="141424"/>
                  <a:pt x="221847" y="142987"/>
                  <a:pt x="226981" y="148065"/>
                </a:cubicBezTo>
                <a:lnTo>
                  <a:pt x="280560" y="201644"/>
                </a:lnTo>
                <a:cubicBezTo>
                  <a:pt x="287536" y="208620"/>
                  <a:pt x="287536" y="219949"/>
                  <a:pt x="280560" y="226926"/>
                </a:cubicBezTo>
                <a:close/>
                <a:moveTo>
                  <a:pt x="5246" y="84051"/>
                </a:moveTo>
                <a:cubicBezTo>
                  <a:pt x="-1730" y="77074"/>
                  <a:pt x="-1730" y="65745"/>
                  <a:pt x="5246" y="58769"/>
                </a:cubicBezTo>
                <a:lnTo>
                  <a:pt x="58824" y="5190"/>
                </a:lnTo>
                <a:cubicBezTo>
                  <a:pt x="63959" y="56"/>
                  <a:pt x="71605" y="-1451"/>
                  <a:pt x="78302" y="1339"/>
                </a:cubicBezTo>
                <a:cubicBezTo>
                  <a:pt x="84999" y="4130"/>
                  <a:pt x="89297" y="10660"/>
                  <a:pt x="89297" y="17859"/>
                </a:cubicBezTo>
                <a:lnTo>
                  <a:pt x="89297" y="53578"/>
                </a:lnTo>
                <a:lnTo>
                  <a:pt x="267891" y="53578"/>
                </a:lnTo>
                <a:cubicBezTo>
                  <a:pt x="277769" y="53578"/>
                  <a:pt x="285750" y="61559"/>
                  <a:pt x="285750" y="71438"/>
                </a:cubicBezTo>
                <a:cubicBezTo>
                  <a:pt x="285750" y="81316"/>
                  <a:pt x="277769" y="89297"/>
                  <a:pt x="267891" y="89297"/>
                </a:cubicBezTo>
                <a:lnTo>
                  <a:pt x="89297" y="89297"/>
                </a:lnTo>
                <a:lnTo>
                  <a:pt x="89297" y="125016"/>
                </a:lnTo>
                <a:cubicBezTo>
                  <a:pt x="89297" y="132215"/>
                  <a:pt x="84944" y="138745"/>
                  <a:pt x="78246" y="141536"/>
                </a:cubicBezTo>
                <a:cubicBezTo>
                  <a:pt x="71549" y="144326"/>
                  <a:pt x="63903" y="142763"/>
                  <a:pt x="58769" y="137685"/>
                </a:cubicBezTo>
                <a:lnTo>
                  <a:pt x="5190" y="841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245001" y="1638300"/>
            <a:ext cx="41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TV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83001" y="2286000"/>
            <a:ext cx="3228975" cy="1028700"/>
          </a:xfrm>
          <a:custGeom>
            <a:avLst/>
            <a:gdLst/>
            <a:ahLst/>
            <a:cxnLst/>
            <a:rect l="l" t="t" r="r" b="b"/>
            <a:pathLst>
              <a:path w="3228975" h="1028700">
                <a:moveTo>
                  <a:pt x="76196" y="0"/>
                </a:moveTo>
                <a:lnTo>
                  <a:pt x="3152779" y="0"/>
                </a:lnTo>
                <a:cubicBezTo>
                  <a:pt x="3194861" y="0"/>
                  <a:pt x="3228975" y="34114"/>
                  <a:pt x="3228975" y="76196"/>
                </a:cubicBezTo>
                <a:lnTo>
                  <a:pt x="3228975" y="952504"/>
                </a:lnTo>
                <a:cubicBezTo>
                  <a:pt x="3228975" y="994586"/>
                  <a:pt x="3194861" y="1028700"/>
                  <a:pt x="315277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635401" y="2438400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边际分布的Total Variation距离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35401" y="2743200"/>
            <a:ext cx="2924175" cy="419100"/>
          </a:xfrm>
          <a:custGeom>
            <a:avLst/>
            <a:gdLst/>
            <a:ahLst/>
            <a:cxnLst/>
            <a:rect l="l" t="t" r="r" b="b"/>
            <a:pathLst>
              <a:path w="2924175" h="419100">
                <a:moveTo>
                  <a:pt x="76201" y="0"/>
                </a:moveTo>
                <a:lnTo>
                  <a:pt x="2847974" y="0"/>
                </a:lnTo>
                <a:cubicBezTo>
                  <a:pt x="2890059" y="0"/>
                  <a:pt x="2924175" y="34116"/>
                  <a:pt x="2924175" y="76201"/>
                </a:cubicBezTo>
                <a:lnTo>
                  <a:pt x="2924175" y="342899"/>
                </a:lnTo>
                <a:cubicBezTo>
                  <a:pt x="2924175" y="384984"/>
                  <a:pt x="2890059" y="419100"/>
                  <a:pt x="28479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87776" y="2743200"/>
            <a:ext cx="3019425" cy="419100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TV = ½Σ|P(A)−P(B)|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83001" y="3467100"/>
            <a:ext cx="3228975" cy="1981200"/>
          </a:xfrm>
          <a:custGeom>
            <a:avLst/>
            <a:gdLst/>
            <a:ahLst/>
            <a:cxnLst/>
            <a:rect l="l" t="t" r="r" b="b"/>
            <a:pathLst>
              <a:path w="3228975" h="1981200">
                <a:moveTo>
                  <a:pt x="76197" y="0"/>
                </a:moveTo>
                <a:lnTo>
                  <a:pt x="3152778" y="0"/>
                </a:lnTo>
                <a:cubicBezTo>
                  <a:pt x="3194860" y="0"/>
                  <a:pt x="3228975" y="34115"/>
                  <a:pt x="3228975" y="76197"/>
                </a:cubicBezTo>
                <a:lnTo>
                  <a:pt x="3228975" y="1905003"/>
                </a:lnTo>
                <a:cubicBezTo>
                  <a:pt x="3228975" y="1947085"/>
                  <a:pt x="3194860" y="1981200"/>
                  <a:pt x="3152778" y="1981200"/>
                </a:cubicBezTo>
                <a:lnTo>
                  <a:pt x="76197" y="1981200"/>
                </a:lnTo>
                <a:cubicBezTo>
                  <a:pt x="34115" y="1981200"/>
                  <a:pt x="0" y="1947085"/>
                  <a:pt x="0" y="19050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635401" y="3619500"/>
            <a:ext cx="3000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意义：</a:t>
            </a: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直接度量两个概率分布的差异程度，反映模型输出分布的变化幅度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7950" y="1257300"/>
            <a:ext cx="3686175" cy="4419600"/>
          </a:xfrm>
          <a:custGeom>
            <a:avLst/>
            <a:gdLst/>
            <a:ahLst/>
            <a:cxnLst/>
            <a:rect l="l" t="t" r="r" b="b"/>
            <a:pathLst>
              <a:path w="3686175" h="44196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4267214"/>
                </a:lnTo>
                <a:cubicBezTo>
                  <a:pt x="3686175" y="4351374"/>
                  <a:pt x="3617949" y="4419600"/>
                  <a:pt x="3533789" y="4419600"/>
                </a:cubicBezTo>
                <a:lnTo>
                  <a:pt x="152386" y="4419600"/>
                </a:lnTo>
                <a:cubicBezTo>
                  <a:pt x="68226" y="4419600"/>
                  <a:pt x="0" y="4351374"/>
                  <a:pt x="0" y="42672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gradFill flip="none" rotWithShape="1">
            <a:gsLst>
              <a:gs pos="0">
                <a:srgbClr val="E07A5F"/>
              </a:gs>
              <a:gs pos="100000">
                <a:srgbClr val="1E3A5F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56550" y="1485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520857" y="1647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53578"/>
                </a:moveTo>
                <a:cubicBezTo>
                  <a:pt x="35719" y="43700"/>
                  <a:pt x="43700" y="35719"/>
                  <a:pt x="53578" y="35719"/>
                </a:cubicBezTo>
                <a:lnTo>
                  <a:pt x="142875" y="35719"/>
                </a:lnTo>
                <a:cubicBezTo>
                  <a:pt x="152753" y="35719"/>
                  <a:pt x="160734" y="43700"/>
                  <a:pt x="160734" y="53578"/>
                </a:cubicBezTo>
                <a:lnTo>
                  <a:pt x="160734" y="214313"/>
                </a:lnTo>
                <a:lnTo>
                  <a:pt x="214313" y="214313"/>
                </a:lnTo>
                <a:lnTo>
                  <a:pt x="214313" y="142875"/>
                </a:lnTo>
                <a:cubicBezTo>
                  <a:pt x="214313" y="132997"/>
                  <a:pt x="222293" y="125016"/>
                  <a:pt x="232172" y="125016"/>
                </a:cubicBezTo>
                <a:lnTo>
                  <a:pt x="267891" y="125016"/>
                </a:lnTo>
                <a:cubicBezTo>
                  <a:pt x="277769" y="125016"/>
                  <a:pt x="285750" y="132997"/>
                  <a:pt x="285750" y="142875"/>
                </a:cubicBezTo>
                <a:cubicBezTo>
                  <a:pt x="285750" y="152753"/>
                  <a:pt x="277769" y="160734"/>
                  <a:pt x="267891" y="160734"/>
                </a:cubicBezTo>
                <a:lnTo>
                  <a:pt x="250031" y="160734"/>
                </a:lnTo>
                <a:lnTo>
                  <a:pt x="250031" y="232172"/>
                </a:lnTo>
                <a:cubicBezTo>
                  <a:pt x="250031" y="242050"/>
                  <a:pt x="242050" y="250031"/>
                  <a:pt x="232172" y="250031"/>
                </a:cubicBezTo>
                <a:lnTo>
                  <a:pt x="142875" y="250031"/>
                </a:lnTo>
                <a:cubicBezTo>
                  <a:pt x="132997" y="250031"/>
                  <a:pt x="125016" y="242050"/>
                  <a:pt x="125016" y="232172"/>
                </a:cubicBezTo>
                <a:lnTo>
                  <a:pt x="125016" y="71438"/>
                </a:lnTo>
                <a:lnTo>
                  <a:pt x="71438" y="71438"/>
                </a:lnTo>
                <a:lnTo>
                  <a:pt x="71438" y="142875"/>
                </a:lnTo>
                <a:cubicBezTo>
                  <a:pt x="71438" y="152753"/>
                  <a:pt x="63457" y="160734"/>
                  <a:pt x="53578" y="160734"/>
                </a:cubicBezTo>
                <a:lnTo>
                  <a:pt x="17859" y="160734"/>
                </a:lnTo>
                <a:cubicBezTo>
                  <a:pt x="7981" y="160734"/>
                  <a:pt x="0" y="152753"/>
                  <a:pt x="0" y="142875"/>
                </a:cubicBezTo>
                <a:cubicBezTo>
                  <a:pt x="0" y="132997"/>
                  <a:pt x="7981" y="125016"/>
                  <a:pt x="17859" y="125016"/>
                </a:cubicBezTo>
                <a:lnTo>
                  <a:pt x="35719" y="125016"/>
                </a:lnTo>
                <a:lnTo>
                  <a:pt x="35719" y="5357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118550" y="1638300"/>
            <a:ext cx="361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56550" y="2286000"/>
            <a:ext cx="3228975" cy="1028700"/>
          </a:xfrm>
          <a:custGeom>
            <a:avLst/>
            <a:gdLst/>
            <a:ahLst/>
            <a:cxnLst/>
            <a:rect l="l" t="t" r="r" b="b"/>
            <a:pathLst>
              <a:path w="3228975" h="1028700">
                <a:moveTo>
                  <a:pt x="76196" y="0"/>
                </a:moveTo>
                <a:lnTo>
                  <a:pt x="3152779" y="0"/>
                </a:lnTo>
                <a:cubicBezTo>
                  <a:pt x="3194861" y="0"/>
                  <a:pt x="3228975" y="34114"/>
                  <a:pt x="3228975" y="76196"/>
                </a:cubicBezTo>
                <a:lnTo>
                  <a:pt x="3228975" y="952504"/>
                </a:lnTo>
                <a:cubicBezTo>
                  <a:pt x="3228975" y="994586"/>
                  <a:pt x="3194861" y="1028700"/>
                  <a:pt x="315277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508950" y="2438400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边际分布的Jensen-Shannon散度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08950" y="2743200"/>
            <a:ext cx="2924175" cy="419100"/>
          </a:xfrm>
          <a:custGeom>
            <a:avLst/>
            <a:gdLst/>
            <a:ahLst/>
            <a:cxnLst/>
            <a:rect l="l" t="t" r="r" b="b"/>
            <a:pathLst>
              <a:path w="2924175" h="419100">
                <a:moveTo>
                  <a:pt x="76201" y="0"/>
                </a:moveTo>
                <a:lnTo>
                  <a:pt x="2847974" y="0"/>
                </a:lnTo>
                <a:cubicBezTo>
                  <a:pt x="2890059" y="0"/>
                  <a:pt x="2924175" y="34116"/>
                  <a:pt x="2924175" y="76201"/>
                </a:cubicBezTo>
                <a:lnTo>
                  <a:pt x="2924175" y="342899"/>
                </a:lnTo>
                <a:cubicBezTo>
                  <a:pt x="2924175" y="384984"/>
                  <a:pt x="2890059" y="419100"/>
                  <a:pt x="28479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466088" y="2743200"/>
            <a:ext cx="3009900" cy="419100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 = ½KL(P||M) + ½KL(Q||M)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56550" y="3467100"/>
            <a:ext cx="3228975" cy="1981200"/>
          </a:xfrm>
          <a:custGeom>
            <a:avLst/>
            <a:gdLst/>
            <a:ahLst/>
            <a:cxnLst/>
            <a:rect l="l" t="t" r="r" b="b"/>
            <a:pathLst>
              <a:path w="3228975" h="1981200">
                <a:moveTo>
                  <a:pt x="76197" y="0"/>
                </a:moveTo>
                <a:lnTo>
                  <a:pt x="3152778" y="0"/>
                </a:lnTo>
                <a:cubicBezTo>
                  <a:pt x="3194860" y="0"/>
                  <a:pt x="3228975" y="34115"/>
                  <a:pt x="3228975" y="76197"/>
                </a:cubicBezTo>
                <a:lnTo>
                  <a:pt x="3228975" y="1905003"/>
                </a:lnTo>
                <a:cubicBezTo>
                  <a:pt x="3228975" y="1947085"/>
                  <a:pt x="3194860" y="1981200"/>
                  <a:pt x="3152778" y="1981200"/>
                </a:cubicBezTo>
                <a:lnTo>
                  <a:pt x="76197" y="1981200"/>
                </a:lnTo>
                <a:cubicBezTo>
                  <a:pt x="34115" y="1981200"/>
                  <a:pt x="0" y="1947085"/>
                  <a:pt x="0" y="19050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508950" y="3619500"/>
            <a:ext cx="3000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意义：</a:t>
            </a: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对称化的KL散度，平滑且总是有界，适合比较概率分布的相似性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00050" y="5829300"/>
            <a:ext cx="11410950" cy="647700"/>
          </a:xfrm>
          <a:custGeom>
            <a:avLst/>
            <a:gdLst/>
            <a:ahLst/>
            <a:cxnLst/>
            <a:rect l="l" t="t" r="r" b="b"/>
            <a:pathLst>
              <a:path w="11410950" h="647700">
                <a:moveTo>
                  <a:pt x="38100" y="0"/>
                </a:moveTo>
                <a:lnTo>
                  <a:pt x="11296650" y="0"/>
                </a:lnTo>
                <a:cubicBezTo>
                  <a:pt x="11359776" y="0"/>
                  <a:pt x="11410950" y="51174"/>
                  <a:pt x="11410950" y="114300"/>
                </a:cubicBezTo>
                <a:lnTo>
                  <a:pt x="11410950" y="533400"/>
                </a:lnTo>
                <a:cubicBezTo>
                  <a:pt x="11410950" y="596526"/>
                  <a:pt x="11359776" y="647700"/>
                  <a:pt x="11296650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5" name="Shape 33"/>
          <p:cNvSpPr/>
          <p:nvPr/>
        </p:nvSpPr>
        <p:spPr>
          <a:xfrm>
            <a:off x="400050" y="58293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6" name="Shape 34"/>
          <p:cNvSpPr/>
          <p:nvPr/>
        </p:nvSpPr>
        <p:spPr>
          <a:xfrm>
            <a:off x="633413" y="6057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37" name="Text 35"/>
          <p:cNvSpPr/>
          <p:nvPr/>
        </p:nvSpPr>
        <p:spPr>
          <a:xfrm>
            <a:off x="962025" y="6019800"/>
            <a:ext cx="889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指标选择：</a:t>
            </a:r>
            <a:r>
              <a:rPr lang="en-US" sz="135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三种指标从不同角度刻画偏移大小，Cramer's V侧重统计显著性标准化，TV和JS侧重分布差异的直接度量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维度层面：效应与训练样本规模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effect与训练样本规模并非单调关系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6811267" cy="4910137"/>
          </a:xfrm>
          <a:custGeom>
            <a:avLst/>
            <a:gdLst/>
            <a:ahLst/>
            <a:cxnLst/>
            <a:rect l="l" t="t" r="r" b="b"/>
            <a:pathLst>
              <a:path w="6791325" h="5210175">
                <a:moveTo>
                  <a:pt x="114311" y="0"/>
                </a:moveTo>
                <a:lnTo>
                  <a:pt x="6677014" y="0"/>
                </a:lnTo>
                <a:cubicBezTo>
                  <a:pt x="6740146" y="0"/>
                  <a:pt x="6791325" y="51179"/>
                  <a:pt x="6791325" y="114311"/>
                </a:cubicBezTo>
                <a:lnTo>
                  <a:pt x="6791325" y="5095864"/>
                </a:lnTo>
                <a:cubicBezTo>
                  <a:pt x="6791325" y="5158996"/>
                  <a:pt x="6740146" y="5210175"/>
                  <a:pt x="6677014" y="5210175"/>
                </a:cubicBezTo>
                <a:lnTo>
                  <a:pt x="114311" y="5210175"/>
                </a:lnTo>
                <a:cubicBezTo>
                  <a:pt x="51179" y="5210175"/>
                  <a:pt x="0" y="5158996"/>
                  <a:pt x="0" y="5095864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0525" y="1266825"/>
          <a:ext cx="6781800" cy="2657475"/>
        </p:xfrm>
        <a:graphic>
          <a:graphicData uri="http://schemas.openxmlformats.org/drawingml/2006/table">
            <a:tbl>
              <a:tblPr/>
              <a:tblGrid>
                <a:gridCol w="16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1495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训练样本/类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CramersV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TV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energy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2,050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E07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0.137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0.045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information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23,233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4A90A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0.123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0.040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decision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12,159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E07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0.150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0.047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execution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7,378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4A90A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0.129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0.044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30380" y="1257300"/>
            <a:ext cx="4476750" cy="2209800"/>
          </a:xfrm>
          <a:custGeom>
            <a:avLst/>
            <a:gdLst/>
            <a:ahLst/>
            <a:cxnLst/>
            <a:rect l="l" t="t" r="r" b="b"/>
            <a:pathLst>
              <a:path w="4476750" h="2209800">
                <a:moveTo>
                  <a:pt x="114291" y="0"/>
                </a:moveTo>
                <a:lnTo>
                  <a:pt x="4362459" y="0"/>
                </a:lnTo>
                <a:cubicBezTo>
                  <a:pt x="4425538" y="0"/>
                  <a:pt x="4476750" y="51212"/>
                  <a:pt x="4476750" y="114291"/>
                </a:cubicBezTo>
                <a:lnTo>
                  <a:pt x="4476750" y="2095509"/>
                </a:lnTo>
                <a:cubicBezTo>
                  <a:pt x="4476750" y="2158630"/>
                  <a:pt x="4425580" y="2209800"/>
                  <a:pt x="4362459" y="2209800"/>
                </a:cubicBezTo>
                <a:lnTo>
                  <a:pt x="114291" y="2209800"/>
                </a:lnTo>
                <a:cubicBezTo>
                  <a:pt x="51170" y="2209800"/>
                  <a:pt x="0" y="2158630"/>
                  <a:pt x="0" y="2095509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4A90A4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44693" y="1485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5"/>
          <p:cNvSpPr/>
          <p:nvPr/>
        </p:nvSpPr>
        <p:spPr>
          <a:xfrm>
            <a:off x="7759005" y="1447800"/>
            <a:ext cx="395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关键发现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520880" y="1866900"/>
            <a:ext cx="4095750" cy="1409700"/>
          </a:xfrm>
          <a:custGeom>
            <a:avLst/>
            <a:gdLst/>
            <a:ahLst/>
            <a:cxnLst/>
            <a:rect l="l" t="t" r="r" b="b"/>
            <a:pathLst>
              <a:path w="4095750" h="1409700">
                <a:moveTo>
                  <a:pt x="76194" y="0"/>
                </a:moveTo>
                <a:lnTo>
                  <a:pt x="4019556" y="0"/>
                </a:lnTo>
                <a:cubicBezTo>
                  <a:pt x="4061608" y="0"/>
                  <a:pt x="4095750" y="34142"/>
                  <a:pt x="4095750" y="76194"/>
                </a:cubicBezTo>
                <a:lnTo>
                  <a:pt x="4095750" y="1333506"/>
                </a:lnTo>
                <a:cubicBezTo>
                  <a:pt x="4095750" y="1375587"/>
                  <a:pt x="4061637" y="1409700"/>
                  <a:pt x="401955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673280" y="2019300"/>
            <a:ext cx="3867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information样本最多</a:t>
            </a: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（23,233/类），但平均偏移反而</a:t>
            </a: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较小</a:t>
            </a: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（CramersV = 0.123）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73280" y="2628900"/>
            <a:ext cx="3867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7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decision样本中等</a:t>
            </a: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（12,159/类），但平均偏移</a:t>
            </a: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最大</a:t>
            </a: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（CramersV = 0.150）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49430" y="3619500"/>
            <a:ext cx="4457700" cy="1600200"/>
          </a:xfrm>
          <a:custGeom>
            <a:avLst/>
            <a:gdLst/>
            <a:ahLst/>
            <a:cxnLst/>
            <a:rect l="l" t="t" r="r" b="b"/>
            <a:pathLst>
              <a:path w="4457700" h="1600200">
                <a:moveTo>
                  <a:pt x="38100" y="0"/>
                </a:moveTo>
                <a:lnTo>
                  <a:pt x="4343398" y="0"/>
                </a:lnTo>
                <a:cubicBezTo>
                  <a:pt x="4406483" y="0"/>
                  <a:pt x="4457700" y="51217"/>
                  <a:pt x="4457700" y="114302"/>
                </a:cubicBezTo>
                <a:lnTo>
                  <a:pt x="4457700" y="1485898"/>
                </a:lnTo>
                <a:cubicBezTo>
                  <a:pt x="4457700" y="1548983"/>
                  <a:pt x="4406483" y="1600200"/>
                  <a:pt x="434339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Shape 10"/>
          <p:cNvSpPr/>
          <p:nvPr/>
        </p:nvSpPr>
        <p:spPr>
          <a:xfrm>
            <a:off x="7349430" y="36195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Shape 11"/>
          <p:cNvSpPr/>
          <p:nvPr/>
        </p:nvSpPr>
        <p:spPr>
          <a:xfrm>
            <a:off x="7604224" y="38576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2"/>
          <p:cNvSpPr/>
          <p:nvPr/>
        </p:nvSpPr>
        <p:spPr>
          <a:xfrm>
            <a:off x="7778055" y="3810000"/>
            <a:ext cx="392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启示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87555" y="4229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5" name="Text 14"/>
          <p:cNvSpPr/>
          <p:nvPr/>
        </p:nvSpPr>
        <p:spPr>
          <a:xfrm>
            <a:off x="7825680" y="419100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样本量之外</a:t>
            </a: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，数据质量同样重要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587555" y="4533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9" name="Text 16"/>
          <p:cNvSpPr/>
          <p:nvPr/>
        </p:nvSpPr>
        <p:spPr>
          <a:xfrm>
            <a:off x="7825680" y="449580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维度与任务的匹配度</a:t>
            </a: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影响偏移大小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587555" y="4838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21" name="Text 18"/>
          <p:cNvSpPr/>
          <p:nvPr/>
        </p:nvSpPr>
        <p:spPr>
          <a:xfrm>
            <a:off x="7825680" y="48006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模型对该维度的</a:t>
            </a:r>
            <a:r>
              <a:rPr lang="en-US" sz="1200" b="1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"可表达性"</a:t>
            </a: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是关键因素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349430" y="5372100"/>
            <a:ext cx="4457700" cy="800100"/>
          </a:xfrm>
          <a:custGeom>
            <a:avLst/>
            <a:gdLst/>
            <a:ahLst/>
            <a:cxnLst/>
            <a:rect l="l" t="t" r="r" b="b"/>
            <a:pathLst>
              <a:path w="4457700" h="800100">
                <a:moveTo>
                  <a:pt x="38100" y="0"/>
                </a:moveTo>
                <a:lnTo>
                  <a:pt x="4343398" y="0"/>
                </a:lnTo>
                <a:cubicBezTo>
                  <a:pt x="4406483" y="0"/>
                  <a:pt x="4457700" y="51217"/>
                  <a:pt x="4457700" y="114302"/>
                </a:cubicBezTo>
                <a:lnTo>
                  <a:pt x="4457700" y="685798"/>
                </a:lnTo>
                <a:cubicBezTo>
                  <a:pt x="4457700" y="748883"/>
                  <a:pt x="4406483" y="800100"/>
                  <a:pt x="43433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23" name="Shape 20"/>
          <p:cNvSpPr/>
          <p:nvPr/>
        </p:nvSpPr>
        <p:spPr>
          <a:xfrm>
            <a:off x="7349430" y="53721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4" name="Shape 21"/>
          <p:cNvSpPr/>
          <p:nvPr/>
        </p:nvSpPr>
        <p:spPr>
          <a:xfrm>
            <a:off x="7539930" y="5572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894B00"/>
          </a:solidFill>
          <a:ln/>
        </p:spPr>
      </p:sp>
      <p:sp>
        <p:nvSpPr>
          <p:cNvPr id="25" name="Text 22"/>
          <p:cNvSpPr/>
          <p:nvPr/>
        </p:nvSpPr>
        <p:spPr>
          <a:xfrm>
            <a:off x="7768530" y="5524500"/>
            <a:ext cx="396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894B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非单调关系：</a:t>
            </a:r>
            <a:r>
              <a:rPr lang="en-US" sz="1200" dirty="0">
                <a:solidFill>
                  <a:srgbClr val="894B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在这组实验中，effect与训练样本规模</a:t>
            </a:r>
            <a:r>
              <a:rPr lang="en-US" sz="1200" b="1" dirty="0">
                <a:solidFill>
                  <a:srgbClr val="894B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并非单调关系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模型规模：qwen-3b vs qwen-7b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更大参数量的模型是否偏移更小？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5610225" cy="5210175"/>
          </a:xfrm>
          <a:custGeom>
            <a:avLst/>
            <a:gdLst/>
            <a:ahLst/>
            <a:cxnLst/>
            <a:rect l="l" t="t" r="r" b="b"/>
            <a:pathLst>
              <a:path w="5610225" h="5210175">
                <a:moveTo>
                  <a:pt x="114311" y="0"/>
                </a:moveTo>
                <a:lnTo>
                  <a:pt x="5495914" y="0"/>
                </a:lnTo>
                <a:cubicBezTo>
                  <a:pt x="5559046" y="0"/>
                  <a:pt x="5610225" y="51179"/>
                  <a:pt x="5610225" y="114311"/>
                </a:cubicBezTo>
                <a:lnTo>
                  <a:pt x="5610225" y="5095864"/>
                </a:lnTo>
                <a:cubicBezTo>
                  <a:pt x="5610225" y="5158996"/>
                  <a:pt x="5559046" y="5210175"/>
                  <a:pt x="5495914" y="5210175"/>
                </a:cubicBezTo>
                <a:lnTo>
                  <a:pt x="114311" y="5210175"/>
                </a:lnTo>
                <a:cubicBezTo>
                  <a:pt x="51179" y="5210175"/>
                  <a:pt x="0" y="5158996"/>
                  <a:pt x="0" y="5095864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0525" y="1266825"/>
          <a:ext cx="5600701" cy="4873146"/>
        </p:xfrm>
        <a:graphic>
          <a:graphicData uri="http://schemas.openxmlformats.org/drawingml/2006/table">
            <a:tbl>
              <a:tblPr/>
              <a:tblGrid>
                <a:gridCol w="1730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7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7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606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qwen-3b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qwen-7b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变化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606">
                <a:tc gridSpan="4"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Cramer's V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60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energy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0.137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0.107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↓ 22%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60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information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0.099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0.087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↓ 12%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60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decision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0.151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0.128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↓ 15%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60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execution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0.115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0.094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↓ 18%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606">
                <a:tc gridSpan="4"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 Variation (TV)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60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energy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0.041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0.024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↓ 42%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60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information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0.025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↓ 23%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60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decision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0.043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0.030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↓ 30%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560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execution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0.032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0.021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↓ 36%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5606">
                <a:tc gridSpan="4"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qwen-7b 在四个维度的三项指标上均小于 qwen-3b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191250" y="1257300"/>
            <a:ext cx="5619750" cy="2200275"/>
          </a:xfrm>
          <a:custGeom>
            <a:avLst/>
            <a:gdLst/>
            <a:ahLst/>
            <a:cxnLst/>
            <a:rect l="l" t="t" r="r" b="b"/>
            <a:pathLst>
              <a:path w="5619750" h="2200275">
                <a:moveTo>
                  <a:pt x="114304" y="0"/>
                </a:moveTo>
                <a:lnTo>
                  <a:pt x="5505446" y="0"/>
                </a:lnTo>
                <a:cubicBezTo>
                  <a:pt x="5568574" y="0"/>
                  <a:pt x="5619750" y="51176"/>
                  <a:pt x="5619750" y="114304"/>
                </a:cubicBezTo>
                <a:lnTo>
                  <a:pt x="5619750" y="2085971"/>
                </a:lnTo>
                <a:cubicBezTo>
                  <a:pt x="5619750" y="2149099"/>
                  <a:pt x="5568574" y="2200275"/>
                  <a:pt x="5505446" y="2200275"/>
                </a:cubicBezTo>
                <a:lnTo>
                  <a:pt x="114304" y="2200275"/>
                </a:lnTo>
                <a:cubicBezTo>
                  <a:pt x="51176" y="2200275"/>
                  <a:pt x="0" y="2149099"/>
                  <a:pt x="0" y="208597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A63E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77000" y="1524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11576" y="29825"/>
                </a:moveTo>
                <a:cubicBezTo>
                  <a:pt x="116220" y="23440"/>
                  <a:pt x="114791" y="14511"/>
                  <a:pt x="108406" y="9867"/>
                </a:cubicBezTo>
                <a:cubicBezTo>
                  <a:pt x="102022" y="5224"/>
                  <a:pt x="93092" y="6653"/>
                  <a:pt x="88449" y="13037"/>
                </a:cubicBezTo>
                <a:lnTo>
                  <a:pt x="41121" y="78090"/>
                </a:lnTo>
                <a:lnTo>
                  <a:pt x="24378" y="61347"/>
                </a:lnTo>
                <a:cubicBezTo>
                  <a:pt x="18797" y="55766"/>
                  <a:pt x="9733" y="55766"/>
                  <a:pt x="4152" y="61347"/>
                </a:cubicBezTo>
                <a:cubicBezTo>
                  <a:pt x="-1429" y="66928"/>
                  <a:pt x="-1429" y="75992"/>
                  <a:pt x="4152" y="81573"/>
                </a:cubicBezTo>
                <a:lnTo>
                  <a:pt x="32727" y="110148"/>
                </a:lnTo>
                <a:cubicBezTo>
                  <a:pt x="35674" y="113094"/>
                  <a:pt x="39782" y="114613"/>
                  <a:pt x="43934" y="114300"/>
                </a:cubicBezTo>
                <a:cubicBezTo>
                  <a:pt x="48086" y="113987"/>
                  <a:pt x="51926" y="111844"/>
                  <a:pt x="54382" y="108451"/>
                </a:cubicBezTo>
                <a:lnTo>
                  <a:pt x="111532" y="29870"/>
                </a:lnTo>
                <a:close/>
                <a:moveTo>
                  <a:pt x="168726" y="90547"/>
                </a:moveTo>
                <a:cubicBezTo>
                  <a:pt x="173370" y="84162"/>
                  <a:pt x="171941" y="75233"/>
                  <a:pt x="165556" y="70589"/>
                </a:cubicBezTo>
                <a:cubicBezTo>
                  <a:pt x="159172" y="65946"/>
                  <a:pt x="150242" y="67374"/>
                  <a:pt x="145599" y="73759"/>
                </a:cubicBezTo>
                <a:lnTo>
                  <a:pt x="69696" y="178103"/>
                </a:lnTo>
                <a:lnTo>
                  <a:pt x="38666" y="147072"/>
                </a:lnTo>
                <a:cubicBezTo>
                  <a:pt x="33084" y="141491"/>
                  <a:pt x="24021" y="141491"/>
                  <a:pt x="18440" y="147072"/>
                </a:cubicBezTo>
                <a:cubicBezTo>
                  <a:pt x="12859" y="152653"/>
                  <a:pt x="12859" y="161717"/>
                  <a:pt x="18440" y="167298"/>
                </a:cubicBezTo>
                <a:lnTo>
                  <a:pt x="61302" y="210160"/>
                </a:lnTo>
                <a:cubicBezTo>
                  <a:pt x="64249" y="213107"/>
                  <a:pt x="68357" y="214625"/>
                  <a:pt x="72509" y="214313"/>
                </a:cubicBezTo>
                <a:cubicBezTo>
                  <a:pt x="76661" y="214000"/>
                  <a:pt x="80501" y="211857"/>
                  <a:pt x="82957" y="208464"/>
                </a:cubicBezTo>
                <a:lnTo>
                  <a:pt x="168682" y="905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705600" y="1485900"/>
            <a:ext cx="499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核心发现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19850" y="1943100"/>
            <a:ext cx="5162550" cy="1285875"/>
          </a:xfrm>
          <a:custGeom>
            <a:avLst/>
            <a:gdLst/>
            <a:ahLst/>
            <a:cxnLst/>
            <a:rect l="l" t="t" r="r" b="b"/>
            <a:pathLst>
              <a:path w="5162550" h="1285875">
                <a:moveTo>
                  <a:pt x="76201" y="0"/>
                </a:moveTo>
                <a:lnTo>
                  <a:pt x="5086349" y="0"/>
                </a:lnTo>
                <a:cubicBezTo>
                  <a:pt x="5128434" y="0"/>
                  <a:pt x="5162550" y="34116"/>
                  <a:pt x="5162550" y="76201"/>
                </a:cubicBezTo>
                <a:lnTo>
                  <a:pt x="5162550" y="1209674"/>
                </a:lnTo>
                <a:cubicBezTo>
                  <a:pt x="5162550" y="1251759"/>
                  <a:pt x="5128434" y="1285875"/>
                  <a:pt x="5086349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610350" y="2133600"/>
            <a:ext cx="48672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qwen-7b在四个维度的Cramer's V、TV、JS三项指标上</a:t>
            </a: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均小于</a:t>
            </a: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qwen-3b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10350" y="2805113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相同训练数据规模下，</a:t>
            </a: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更大参数量的模型更"稳"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，分布偏移更小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10300" y="3605213"/>
            <a:ext cx="5600700" cy="1676400"/>
          </a:xfrm>
          <a:custGeom>
            <a:avLst/>
            <a:gdLst/>
            <a:ahLst/>
            <a:cxnLst/>
            <a:rect l="l" t="t" r="r" b="b"/>
            <a:pathLst>
              <a:path w="5600700" h="1676400">
                <a:moveTo>
                  <a:pt x="38100" y="0"/>
                </a:moveTo>
                <a:lnTo>
                  <a:pt x="5486403" y="0"/>
                </a:lnTo>
                <a:cubicBezTo>
                  <a:pt x="5549528" y="0"/>
                  <a:pt x="5600700" y="51172"/>
                  <a:pt x="5600700" y="114297"/>
                </a:cubicBezTo>
                <a:lnTo>
                  <a:pt x="5600700" y="1562103"/>
                </a:lnTo>
                <a:cubicBezTo>
                  <a:pt x="5600700" y="1625228"/>
                  <a:pt x="5549528" y="1676400"/>
                  <a:pt x="5486403" y="1676400"/>
                </a:cubicBezTo>
                <a:lnTo>
                  <a:pt x="38100" y="1676400"/>
                </a:lnTo>
                <a:cubicBezTo>
                  <a:pt x="17058" y="1676400"/>
                  <a:pt x="0" y="1659342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Shape 10"/>
          <p:cNvSpPr/>
          <p:nvPr/>
        </p:nvSpPr>
        <p:spPr>
          <a:xfrm>
            <a:off x="6210300" y="3605213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3810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38100" y="1676400"/>
                </a:lnTo>
                <a:cubicBezTo>
                  <a:pt x="17072" y="1676400"/>
                  <a:pt x="0" y="1659328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Shape 11"/>
          <p:cNvSpPr/>
          <p:nvPr/>
        </p:nvSpPr>
        <p:spPr>
          <a:xfrm>
            <a:off x="6467475" y="383381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2"/>
          <p:cNvSpPr/>
          <p:nvPr/>
        </p:nvSpPr>
        <p:spPr>
          <a:xfrm>
            <a:off x="6657975" y="3795713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启示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38900" y="42529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4A90A4"/>
          </a:solidFill>
          <a:ln/>
        </p:spPr>
      </p:sp>
      <p:sp>
        <p:nvSpPr>
          <p:cNvPr id="17" name="Text 14"/>
          <p:cNvSpPr/>
          <p:nvPr/>
        </p:nvSpPr>
        <p:spPr>
          <a:xfrm>
            <a:off x="6724650" y="4214813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要在大模型上获得</a:t>
            </a:r>
            <a:r>
              <a:rPr lang="en-US" sz="1200" b="1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更大的可控偏移</a:t>
            </a: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，可能需要：</a:t>
            </a:r>
            <a:endParaRPr lang="en-US" sz="1600" dirty="0"/>
          </a:p>
        </p:txBody>
      </p:sp>
      <p:sp>
        <p:nvSpPr>
          <p:cNvPr id="5" name="Shape 15"/>
          <p:cNvSpPr/>
          <p:nvPr/>
        </p:nvSpPr>
        <p:spPr>
          <a:xfrm>
            <a:off x="6724650" y="46339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Text 16"/>
          <p:cNvSpPr/>
          <p:nvPr/>
        </p:nvSpPr>
        <p:spPr>
          <a:xfrm>
            <a:off x="6877050" y="4557713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更多训练数据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724650" y="49387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Text 18"/>
          <p:cNvSpPr/>
          <p:nvPr/>
        </p:nvSpPr>
        <p:spPr>
          <a:xfrm>
            <a:off x="6877050" y="4862513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更强的训练信号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91250" y="5434013"/>
            <a:ext cx="5619750" cy="647700"/>
          </a:xfrm>
          <a:custGeom>
            <a:avLst/>
            <a:gdLst/>
            <a:ahLst/>
            <a:cxnLst/>
            <a:rect l="l" t="t" r="r" b="b"/>
            <a:pathLst>
              <a:path w="5619750" h="647700">
                <a:moveTo>
                  <a:pt x="114300" y="0"/>
                </a:moveTo>
                <a:lnTo>
                  <a:pt x="5505450" y="0"/>
                </a:lnTo>
                <a:cubicBezTo>
                  <a:pt x="5568576" y="0"/>
                  <a:pt x="5619750" y="51174"/>
                  <a:pt x="5619750" y="114300"/>
                </a:cubicBezTo>
                <a:lnTo>
                  <a:pt x="5619750" y="533400"/>
                </a:lnTo>
                <a:cubicBezTo>
                  <a:pt x="5619750" y="596526"/>
                  <a:pt x="5568576" y="647700"/>
                  <a:pt x="550545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3" name="Shape 20"/>
          <p:cNvSpPr/>
          <p:nvPr/>
        </p:nvSpPr>
        <p:spPr>
          <a:xfrm>
            <a:off x="6381750" y="566261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4" name="Text 21"/>
          <p:cNvSpPr/>
          <p:nvPr/>
        </p:nvSpPr>
        <p:spPr>
          <a:xfrm>
            <a:off x="6734175" y="5624513"/>
            <a:ext cx="2924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权衡：</a:t>
            </a: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大模型稳定性 vs 可控偏移幅度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核心结论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模型微调偏移分析的三大核心发现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3686175" cy="3457575"/>
          </a:xfrm>
          <a:custGeom>
            <a:avLst/>
            <a:gdLst/>
            <a:ahLst/>
            <a:cxnLst/>
            <a:rect l="l" t="t" r="r" b="b"/>
            <a:pathLst>
              <a:path w="3686175" h="3457575">
                <a:moveTo>
                  <a:pt x="152410" y="0"/>
                </a:moveTo>
                <a:lnTo>
                  <a:pt x="3533765" y="0"/>
                </a:lnTo>
                <a:cubicBezTo>
                  <a:pt x="3617939" y="0"/>
                  <a:pt x="3686175" y="68236"/>
                  <a:pt x="3686175" y="152410"/>
                </a:cubicBezTo>
                <a:lnTo>
                  <a:pt x="3686175" y="3305165"/>
                </a:lnTo>
                <a:cubicBezTo>
                  <a:pt x="3686175" y="3389339"/>
                  <a:pt x="3617939" y="3457575"/>
                  <a:pt x="3533765" y="3457575"/>
                </a:cubicBezTo>
                <a:lnTo>
                  <a:pt x="152410" y="3457575"/>
                </a:lnTo>
                <a:cubicBezTo>
                  <a:pt x="68236" y="3457575"/>
                  <a:pt x="0" y="3389339"/>
                  <a:pt x="0" y="330516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4A90A4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8163" y="156210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145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方向性偏移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2362200"/>
            <a:ext cx="3228975" cy="866775"/>
          </a:xfrm>
          <a:custGeom>
            <a:avLst/>
            <a:gdLst/>
            <a:ahLst/>
            <a:cxnLst/>
            <a:rect l="l" t="t" r="r" b="b"/>
            <a:pathLst>
              <a:path w="3228975" h="866775">
                <a:moveTo>
                  <a:pt x="76198" y="0"/>
                </a:moveTo>
                <a:lnTo>
                  <a:pt x="3152777" y="0"/>
                </a:lnTo>
                <a:cubicBezTo>
                  <a:pt x="3194860" y="0"/>
                  <a:pt x="3228975" y="34115"/>
                  <a:pt x="3228975" y="76198"/>
                </a:cubicBezTo>
                <a:lnTo>
                  <a:pt x="3228975" y="790577"/>
                </a:lnTo>
                <a:cubicBezTo>
                  <a:pt x="3228975" y="832660"/>
                  <a:pt x="3194860" y="866775"/>
                  <a:pt x="3152777" y="866775"/>
                </a:cubicBezTo>
                <a:lnTo>
                  <a:pt x="76198" y="866775"/>
                </a:lnTo>
                <a:cubicBezTo>
                  <a:pt x="34143" y="866775"/>
                  <a:pt x="0" y="832632"/>
                  <a:pt x="0" y="7905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514600"/>
            <a:ext cx="30099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微调后出现</a:t>
            </a: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可控的方向性偏移</a:t>
            </a: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，并在跨数据集上呈现一致性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888" y="34147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863947" y="3376613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decision维度呈现最稳定的反向偏移（94.4%）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8650" y="394811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" y="3910013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通过情绪轴标量s统一度量偏移方向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54401" y="1333500"/>
            <a:ext cx="3686175" cy="3457575"/>
          </a:xfrm>
          <a:custGeom>
            <a:avLst/>
            <a:gdLst/>
            <a:ahLst/>
            <a:cxnLst/>
            <a:rect l="l" t="t" r="r" b="b"/>
            <a:pathLst>
              <a:path w="3686175" h="3457575">
                <a:moveTo>
                  <a:pt x="152410" y="0"/>
                </a:moveTo>
                <a:lnTo>
                  <a:pt x="3533765" y="0"/>
                </a:lnTo>
                <a:cubicBezTo>
                  <a:pt x="3617939" y="0"/>
                  <a:pt x="3686175" y="68236"/>
                  <a:pt x="3686175" y="152410"/>
                </a:cubicBezTo>
                <a:lnTo>
                  <a:pt x="3686175" y="3305165"/>
                </a:lnTo>
                <a:cubicBezTo>
                  <a:pt x="3686175" y="3389339"/>
                  <a:pt x="3617939" y="3457575"/>
                  <a:pt x="3533765" y="3457575"/>
                </a:cubicBezTo>
                <a:lnTo>
                  <a:pt x="152410" y="3457575"/>
                </a:lnTo>
                <a:cubicBezTo>
                  <a:pt x="68236" y="3457575"/>
                  <a:pt x="0" y="3389339"/>
                  <a:pt x="0" y="330516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0A4"/>
              </a:gs>
              <a:gs pos="100000">
                <a:srgbClr val="1E3A5F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3001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411563" y="156210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45001" y="17145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统计显著性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83001" y="2362200"/>
            <a:ext cx="3228975" cy="866775"/>
          </a:xfrm>
          <a:custGeom>
            <a:avLst/>
            <a:gdLst/>
            <a:ahLst/>
            <a:cxnLst/>
            <a:rect l="l" t="t" r="r" b="b"/>
            <a:pathLst>
              <a:path w="3228975" h="866775">
                <a:moveTo>
                  <a:pt x="76198" y="0"/>
                </a:moveTo>
                <a:lnTo>
                  <a:pt x="3152777" y="0"/>
                </a:lnTo>
                <a:cubicBezTo>
                  <a:pt x="3194860" y="0"/>
                  <a:pt x="3228975" y="34115"/>
                  <a:pt x="3228975" y="76198"/>
                </a:cubicBezTo>
                <a:lnTo>
                  <a:pt x="3228975" y="790577"/>
                </a:lnTo>
                <a:cubicBezTo>
                  <a:pt x="3228975" y="832660"/>
                  <a:pt x="3194860" y="866775"/>
                  <a:pt x="3152777" y="866775"/>
                </a:cubicBezTo>
                <a:lnTo>
                  <a:pt x="76198" y="866775"/>
                </a:lnTo>
                <a:cubicBezTo>
                  <a:pt x="34143" y="866775"/>
                  <a:pt x="0" y="832632"/>
                  <a:pt x="0" y="7905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635401" y="2514600"/>
            <a:ext cx="30099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偏移不是随机波动，而是</a:t>
            </a: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统计可靠的差异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02051" y="34147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749701" y="3376613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312条检验中304条显著（97.4%）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02051" y="371951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749701" y="3681413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McNemar/Stuart-Maxwell配对检验验证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7950" y="1333500"/>
            <a:ext cx="3686175" cy="3457575"/>
          </a:xfrm>
          <a:custGeom>
            <a:avLst/>
            <a:gdLst/>
            <a:ahLst/>
            <a:cxnLst/>
            <a:rect l="l" t="t" r="r" b="b"/>
            <a:pathLst>
              <a:path w="3686175" h="3457575">
                <a:moveTo>
                  <a:pt x="152410" y="0"/>
                </a:moveTo>
                <a:lnTo>
                  <a:pt x="3533765" y="0"/>
                </a:lnTo>
                <a:cubicBezTo>
                  <a:pt x="3617939" y="0"/>
                  <a:pt x="3686175" y="68236"/>
                  <a:pt x="3686175" y="152410"/>
                </a:cubicBezTo>
                <a:lnTo>
                  <a:pt x="3686175" y="3305165"/>
                </a:lnTo>
                <a:cubicBezTo>
                  <a:pt x="3686175" y="3389339"/>
                  <a:pt x="3617939" y="3457575"/>
                  <a:pt x="3533765" y="3457575"/>
                </a:cubicBezTo>
                <a:lnTo>
                  <a:pt x="152410" y="3457575"/>
                </a:lnTo>
                <a:cubicBezTo>
                  <a:pt x="68236" y="3457575"/>
                  <a:pt x="0" y="3389339"/>
                  <a:pt x="0" y="330516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E07A5F"/>
              </a:gs>
              <a:gs pos="100000">
                <a:srgbClr val="1E3A5F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5655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85113" y="156210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18550" y="17145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效应量影响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56550" y="2362200"/>
            <a:ext cx="3228975" cy="581025"/>
          </a:xfrm>
          <a:custGeom>
            <a:avLst/>
            <a:gdLst/>
            <a:ahLst/>
            <a:cxnLst/>
            <a:rect l="l" t="t" r="r" b="b"/>
            <a:pathLst>
              <a:path w="3228975" h="581025">
                <a:moveTo>
                  <a:pt x="76201" y="0"/>
                </a:moveTo>
                <a:lnTo>
                  <a:pt x="3152774" y="0"/>
                </a:lnTo>
                <a:cubicBezTo>
                  <a:pt x="3194830" y="0"/>
                  <a:pt x="3228975" y="34145"/>
                  <a:pt x="3228975" y="76201"/>
                </a:cubicBezTo>
                <a:lnTo>
                  <a:pt x="3228975" y="504824"/>
                </a:lnTo>
                <a:cubicBezTo>
                  <a:pt x="3228975" y="546880"/>
                  <a:pt x="3194830" y="581025"/>
                  <a:pt x="31527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508950" y="2514600"/>
            <a:ext cx="30099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偏移大小受</a:t>
            </a: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样本质量与模型规模</a:t>
            </a: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影响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75600" y="31361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623250" y="3098006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effect与样本量非单调关系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75600" y="34409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623250" y="3402806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qwen-7b偏移小于qwen-3b（更"稳"）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1000" y="5019675"/>
            <a:ext cx="11430000" cy="1457325"/>
          </a:xfrm>
          <a:custGeom>
            <a:avLst/>
            <a:gdLst/>
            <a:ahLst/>
            <a:cxnLst/>
            <a:rect l="l" t="t" r="r" b="b"/>
            <a:pathLst>
              <a:path w="11430000" h="1457325">
                <a:moveTo>
                  <a:pt x="114298" y="0"/>
                </a:moveTo>
                <a:lnTo>
                  <a:pt x="11315702" y="0"/>
                </a:lnTo>
                <a:cubicBezTo>
                  <a:pt x="11378785" y="0"/>
                  <a:pt x="11430000" y="51215"/>
                  <a:pt x="11430000" y="114298"/>
                </a:cubicBezTo>
                <a:lnTo>
                  <a:pt x="11430000" y="1343027"/>
                </a:lnTo>
                <a:cubicBezTo>
                  <a:pt x="11430000" y="1406110"/>
                  <a:pt x="11378785" y="1457325"/>
                  <a:pt x="11315702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50000">
                <a:srgbClr val="4A90A4"/>
              </a:gs>
              <a:gs pos="100000">
                <a:srgbClr val="E07A5F"/>
              </a:gs>
            </a:gsLst>
            <a:lin ang="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9600" y="536733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97719" y="5576888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07280" y="-12658"/>
                </a:moveTo>
                <a:cubicBezTo>
                  <a:pt x="204534" y="-18016"/>
                  <a:pt x="198976" y="-21431"/>
                  <a:pt x="192948" y="-21431"/>
                </a:cubicBezTo>
                <a:cubicBezTo>
                  <a:pt x="186921" y="-21431"/>
                  <a:pt x="181362" y="-18016"/>
                  <a:pt x="178616" y="-12658"/>
                </a:cubicBezTo>
                <a:lnTo>
                  <a:pt x="129324" y="83917"/>
                </a:lnTo>
                <a:lnTo>
                  <a:pt x="22235" y="100928"/>
                </a:lnTo>
                <a:cubicBezTo>
                  <a:pt x="16274" y="101865"/>
                  <a:pt x="11318" y="106085"/>
                  <a:pt x="9443" y="111844"/>
                </a:cubicBezTo>
                <a:cubicBezTo>
                  <a:pt x="7568" y="117604"/>
                  <a:pt x="9108" y="123899"/>
                  <a:pt x="13328" y="128186"/>
                </a:cubicBezTo>
                <a:lnTo>
                  <a:pt x="89944" y="204869"/>
                </a:lnTo>
                <a:lnTo>
                  <a:pt x="73067" y="311959"/>
                </a:lnTo>
                <a:cubicBezTo>
                  <a:pt x="72130" y="317919"/>
                  <a:pt x="74608" y="323947"/>
                  <a:pt x="79497" y="327496"/>
                </a:cubicBezTo>
                <a:cubicBezTo>
                  <a:pt x="84386" y="331046"/>
                  <a:pt x="90815" y="331582"/>
                  <a:pt x="96240" y="328836"/>
                </a:cubicBezTo>
                <a:lnTo>
                  <a:pt x="192948" y="279678"/>
                </a:lnTo>
                <a:lnTo>
                  <a:pt x="289590" y="328836"/>
                </a:lnTo>
                <a:cubicBezTo>
                  <a:pt x="294948" y="331582"/>
                  <a:pt x="301444" y="331046"/>
                  <a:pt x="306333" y="327496"/>
                </a:cubicBezTo>
                <a:cubicBezTo>
                  <a:pt x="311222" y="323947"/>
                  <a:pt x="313700" y="317986"/>
                  <a:pt x="312762" y="311959"/>
                </a:cubicBezTo>
                <a:lnTo>
                  <a:pt x="295818" y="204869"/>
                </a:lnTo>
                <a:lnTo>
                  <a:pt x="372435" y="128186"/>
                </a:lnTo>
                <a:cubicBezTo>
                  <a:pt x="376721" y="123899"/>
                  <a:pt x="378195" y="117604"/>
                  <a:pt x="376319" y="111844"/>
                </a:cubicBezTo>
                <a:cubicBezTo>
                  <a:pt x="374444" y="106085"/>
                  <a:pt x="369555" y="101865"/>
                  <a:pt x="363528" y="100928"/>
                </a:cubicBezTo>
                <a:lnTo>
                  <a:pt x="256505" y="83917"/>
                </a:lnTo>
                <a:lnTo>
                  <a:pt x="207280" y="-1265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600200" y="5248275"/>
            <a:ext cx="1009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总体启示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600200" y="5629275"/>
            <a:ext cx="10077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模型微调后的偏移是</a:t>
            </a: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系统性、可重复、可度量</a:t>
            </a: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的现象。理解偏移的方向性、显著性和效应量，有助于更好地控制模型行为，实现更精准的性格注入与能力调整。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1112</Words>
  <Application>Microsoft Office PowerPoint</Application>
  <PresentationFormat>宽屏</PresentationFormat>
  <Paragraphs>367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MiSans</vt:lpstr>
      <vt:lpstr>Calibri</vt:lpstr>
      <vt:lpstr>Arial</vt:lpstr>
      <vt:lpstr>Noto Sans SC</vt:lpstr>
      <vt:lpstr>微软雅黑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模型微调后的偏移分析</dc:title>
  <dc:subject>模型微调后的偏移分析</dc:subject>
  <dc:creator>Kimi</dc:creator>
  <cp:lastModifiedBy>BiaopuCloud</cp:lastModifiedBy>
  <cp:revision>2</cp:revision>
  <dcterms:created xsi:type="dcterms:W3CDTF">2026-02-02T07:40:33Z</dcterms:created>
  <dcterms:modified xsi:type="dcterms:W3CDTF">2026-02-02T07:44:30Z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{"Label":"模型微调后的偏移分析","ContentProducer":"001191110108MACG2KBH8F10000","ProduceID":"19c1c866-fe02-8436-8000-000081f1594d","ReservedCode1":"","ContentPropagator":"001191110108MACG2KBH8F20000","PropagateID":"19c1c866-fe02-8436-8000-000081f1594d","ReservedCod</vt:lpwstr>
  </property>
</Properties>
</file>